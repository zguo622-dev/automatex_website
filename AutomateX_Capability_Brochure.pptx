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BROCHURE  · 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 UK rail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 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teams.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rail domain expertise meets AI.</a:t>
            </a:r>
            <a:endParaRPr lang="en-US" sz="1800" dirty="0"/>
          </a:p>
        </p:txBody>
      </p:sp>
      <p:pic>
        <p:nvPicPr>
          <p:cNvPr id="7" name="Image 1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347472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617220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 ·  Rail-domain native  ·  Built by a chartered rail engineer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728655" y="6172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is reshaping rail engineering.
</a:t>
            </a:r>
            <a:pPr indent="0" marL="0">
              <a:buNone/>
            </a:pPr>
            <a:r>
              <a:rPr lang="en-US" sz="36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firms that act now will compound.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Tenders are asking.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846320"/>
            <a:ext cx="345429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questions in client briefs are now standard. Bluffing the answer loses the work. Evidence wins it.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68698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368698" y="429768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are buried.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68698" y="4846320"/>
            <a:ext cx="345429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senior week absorbed by admin and template-driven work. Hours that should compound the firm.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7317" y="3840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097317" y="4297680"/>
            <a:ext cx="345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is the lever.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097317" y="4846320"/>
            <a:ext cx="345429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Rework cycles bleed margin every project. Most firms track the rate. Few track the root cause.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 Deployed. In live use.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rail AI capabilities deployed across surveying, drawing take-off, assurance, tender response, and form drafting. The same architecture and rail-domain rigour applied to your X.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9" name="Image 1" descr="/sessions/sweet-upbeat-hawking/mnt/Website_by_Claude/images/case-station-survey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2926080"/>
            <a:ext cx="502920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4572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AI-empowered survey processing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22960" y="48920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national station network surveyed in weeks, with hidden defects surfaced by AI.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7,650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82296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 photos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46888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300+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46888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flights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11480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11480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09360" y="27889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2" descr="/sessions/sweet-upbeat-hawking/mnt/Website_by_Claude/images/case-instatrac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46520" y="2926080"/>
            <a:ext cx="5029200" cy="1554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4572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AI-empowered drawing take-off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92240" y="48920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linear take-off from rail drawings. Audited measurements, hours not days.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649224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13816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13816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784080" y="5669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784080" y="6080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ACTION  ·  CONTINUED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more capabilities. Same architecture. Different deployment.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1" descr="/sessions/sweet-upbeat-hawking/mnt/Website_by_Claude/images/case-golden-threa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2606040"/>
            <a:ext cx="5029200" cy="1463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4160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AI-empowered design review and verification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22960" y="44622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co-pilot for design reviews, requirements drafting, and verification traceability.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thread stays unbroken from design intent through to operational acceptance.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£300k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annual saving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46888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46888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traced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11480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11480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links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09360" y="246888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2" descr="/sessions/sweet-upbeat-hawking/mnt/Website_by_Claude/images/case-knowledge-grap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46520" y="2606040"/>
            <a:ext cx="5029200" cy="1463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4160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Tender knowledge base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92240" y="44622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rail-specific knowledge graph trained on standards, taxonomy, and project history.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9224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Drove tender response quality and efficiency. Every output cited, grounded in your domain.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9224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49224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13816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813816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evidence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784080" y="5715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9784080" y="6126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ACTION  ·  AND IN PILOT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1" descr="/sessions/sweet-upbeat-hawking/mnt/Website_by_Claude/images/case-scribtiv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1691640"/>
            <a:ext cx="5029200" cy="1463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2461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Scribtive (Pilot)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22960" y="354787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assistance for PACE-compliant rail forms.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40690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drafting with cited evidence and compliance gates. The product expression of everything else on these pages, in a tool engineers can use daily. Currently in pilot.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22960" y="5074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" y="5486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468880" y="5074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468880" y="5486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enabled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14800" y="5074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114800" y="5486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400800" y="155448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665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66560" y="21488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your X. In five minutes.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766560" y="297180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 runs a free, rail-specific AI Readiness Assessment. Twenty questions across five operational pillars. You receive a personalised report that names your strongest pillar, your two weakest, and one quick win for this week. No generic advice. No AI snake oil.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766560" y="49377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96532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4937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 / Take the Assessment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PILLARS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measure AI readiness in rail.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operational pillars that, together, describe how a rail firm absorbs AI without breaking assurance.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1889699" cy="3200400"/>
          </a:xfrm>
          <a:prstGeom prst="roundRect">
            <a:avLst>
              <a:gd name="adj" fmla="val 3871"/>
            </a:avLst>
          </a:prstGeom>
          <a:solidFill>
            <a:srgbClr val="1A1F36"/>
          </a:solidFill>
          <a:ln w="9525">
            <a:solidFill>
              <a:srgbClr val="F965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26080"/>
            <a:ext cx="1523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15239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15239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Dependency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572000"/>
            <a:ext cx="152393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resilient delivery is to senior absence and knowledge loss.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895539" y="2743200"/>
            <a:ext cx="1889699" cy="3200400"/>
          </a:xfrm>
          <a:prstGeom prst="roundRect">
            <a:avLst>
              <a:gd name="adj" fmla="val 3871"/>
            </a:avLst>
          </a:prstGeom>
          <a:solidFill>
            <a:srgbClr val="1A1F36"/>
          </a:solidFill>
          <a:ln w="9525">
            <a:solidFill>
              <a:srgbClr val="F965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8419" y="2926080"/>
            <a:ext cx="1523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078419" y="3520440"/>
            <a:ext cx="15239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078419" y="3794760"/>
            <a:ext cx="15239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Leverage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78419" y="4572000"/>
            <a:ext cx="152393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senior time becomes output, and how cleanly capability scales with the pipeline.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150998" y="2743200"/>
            <a:ext cx="1889699" cy="3200400"/>
          </a:xfrm>
          <a:prstGeom prst="roundRect">
            <a:avLst>
              <a:gd name="adj" fmla="val 3871"/>
            </a:avLst>
          </a:prstGeom>
          <a:solidFill>
            <a:srgbClr val="1A1F36"/>
          </a:solidFill>
          <a:ln w="9525">
            <a:solidFill>
              <a:srgbClr val="F9653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3878" y="2926080"/>
            <a:ext cx="1523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333878" y="3520440"/>
            <a:ext cx="15239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333878" y="3794760"/>
            <a:ext cx="15239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333878" y="4572000"/>
            <a:ext cx="152393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better each project makes the firm.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406457" y="2743200"/>
            <a:ext cx="1889699" cy="3200400"/>
          </a:xfrm>
          <a:prstGeom prst="roundRect">
            <a:avLst>
              <a:gd name="adj" fmla="val 3871"/>
            </a:avLst>
          </a:prstGeom>
          <a:solidFill>
            <a:srgbClr val="1A1F36"/>
          </a:solidFill>
          <a:ln w="9525">
            <a:solidFill>
              <a:srgbClr val="F965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337" y="2926080"/>
            <a:ext cx="1523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589337" y="3520440"/>
            <a:ext cx="15239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589337" y="3794760"/>
            <a:ext cx="15239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Approval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589337" y="4572000"/>
            <a:ext cx="152393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engineering deliverables pass first time. And whether you know why they do not.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661916" y="2743200"/>
            <a:ext cx="1889699" cy="3200400"/>
          </a:xfrm>
          <a:prstGeom prst="roundRect">
            <a:avLst>
              <a:gd name="adj" fmla="val 3871"/>
            </a:avLst>
          </a:prstGeom>
          <a:solidFill>
            <a:srgbClr val="1A1F36"/>
          </a:solidFill>
          <a:ln w="9525">
            <a:solidFill>
              <a:srgbClr val="F965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44796" y="2926080"/>
            <a:ext cx="15239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9844796" y="3520440"/>
            <a:ext cx="15239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COMPETITIVENESS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9844796" y="3794760"/>
            <a:ext cx="15239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Readiness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844796" y="4572000"/>
            <a:ext cx="152393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your tender response can evidence AI, not promise it.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teams score low on two. That is where the X is hiding, and where AutomateX goes to work.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FORWARD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ways to engage. You pick the one that fits.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sequence. Options. Each step credits forward.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3794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1-hour CPD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2960" y="4343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709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£250 with Assessment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5029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session covering the AI-in-rail landscape, real deployments, and a framework for spotting your X internally. CPD certificate included.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34840" y="2697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7ED"/>
          </a:solidFill>
          <a:ln w="25400">
            <a:solidFill>
              <a:srgbClr val="F965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28803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96532"/>
          </a:solidFill>
          <a:ln/>
        </p:spPr>
      </p:sp>
      <p:sp>
        <p:nvSpPr>
          <p:cNvPr id="17" name="Text 14"/>
          <p:cNvSpPr/>
          <p:nvPr/>
        </p:nvSpPr>
        <p:spPr>
          <a:xfrm>
            <a:off x="470916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0916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09160" y="3840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09160" y="41605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Your X Workshop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709160" y="4709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09160" y="5074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£1,500 with Assessment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09160" y="539496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Hosted, structured workshop identifying top friction points across your team. Output: a tailored Find Your X Report with options costed. Workshop fee 100% credited toward Build within 60 days.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321040" y="2697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2971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5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595360" y="3474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595360" y="37947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Engagement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595360" y="4343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Outcome-priced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595360" y="4709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Custom-scoped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595360" y="5029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AI implementation. For teams who already know their X and want to move. Outcome-priced against a defined ROI hypothesis.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weet-upbeat-hawking/mnt/Website_by_Claude/brand_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926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F9653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</a:t>
            </a:r>
            <a:endParaRPr lang="en-US" sz="1200" dirty="0"/>
          </a:p>
        </p:txBody>
      </p:sp>
      <p:pic>
        <p:nvPicPr>
          <p:cNvPr id="6" name="Image 1" descr="/sessions/sweet-upbeat-hawking/mnt/Website_by_Claude/images/Head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554480"/>
            <a:ext cx="274320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Bill Guo  FICE  CEng  MEng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6576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Engineering Director, AutomateX Ltd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6576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Asset Resilience Merit Award winner. Network Rail, TfL, HS2, and Tier 1 consulting and contractor background. Ten years on both sides of rail delivery, across more than 100 rail businesses.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0" y="3337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2023 I started using AI to scale a rail consultancy from zero to about £1m ARR by 2025, and won one of 16 tactical design partner seats on Southern Renew Enterprise. The tools are not theory. They are how I got here.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should learn to say no to the things AI can do better.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your X. Find your first move.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0080" y="5852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5-minute AI Readiness Assessment.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discovery call with Bill.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544068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F96532"/>
          </a:solidFill>
          <a:ln/>
        </p:spPr>
      </p:sp>
      <p:sp>
        <p:nvSpPr>
          <p:cNvPr id="16" name="Text 12"/>
          <p:cNvSpPr/>
          <p:nvPr/>
        </p:nvSpPr>
        <p:spPr>
          <a:xfrm>
            <a:off x="8138160" y="5440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automatex.uk / Take the Assessment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60350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A1F36"/>
          </a:solidFill>
          <a:ln w="19050">
            <a:solidFill>
              <a:srgbClr val="F9653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6035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5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calendly.com / bill-guo-automatex / discovery-chat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002975" y="6537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AutomateX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AutomateX. Capability Brochure</dc:title>
  <dc:subject>AI for UK rail engineering teams. Capability brochure.</dc:subject>
  <dc:creator>AutomateX Ltd</dc:creator>
  <cp:lastModifiedBy>AutomateX Ltd</cp:lastModifiedBy>
  <cp:revision>1</cp:revision>
  <dcterms:created xsi:type="dcterms:W3CDTF">2026-05-15T11:20:05Z</dcterms:created>
  <dcterms:modified xsi:type="dcterms:W3CDTF">2026-05-15T11:20:05Z</dcterms:modified>
</cp:coreProperties>
</file>