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83" r:id="rId2"/>
    <p:sldId id="284" r:id="rId3"/>
    <p:sldId id="285" r:id="rId4"/>
    <p:sldId id="286" r:id="rId5"/>
    <p:sldId id="287" r:id="rId6"/>
    <p:sldId id="288" r:id="rId7"/>
    <p:sldId id="289" r:id="rId8"/>
    <p:sldId id="290" r:id="rId9"/>
    <p:sldId id="291" r:id="rId10"/>
    <p:sldId id="292" r:id="rId11"/>
    <p:sldId id="293" r:id="rId12"/>
    <p:sldId id="294" r:id="rId13"/>
    <p:sldId id="295" r:id="rId14"/>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5A8F3E6-6983-47F4-97C5-C3055D885FA8}" v="198" dt="2026-04-21T19:50:42.13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3" autoAdjust="0"/>
    <p:restoredTop sz="85980" autoAdjust="0"/>
  </p:normalViewPr>
  <p:slideViewPr>
    <p:cSldViewPr snapToGrid="0" snapToObjects="1">
      <p:cViewPr varScale="1">
        <p:scale>
          <a:sx n="138" d="100"/>
          <a:sy n="138" d="100"/>
        </p:scale>
        <p:origin x="1162" y="96"/>
      </p:cViewPr>
      <p:guideLst/>
    </p:cSldViewPr>
  </p:slideViewPr>
  <p:outlineViewPr>
    <p:cViewPr>
      <p:scale>
        <a:sx n="33" d="100"/>
        <a:sy n="33" d="100"/>
      </p:scale>
      <p:origin x="0" y="0"/>
    </p:cViewPr>
  </p:outlineViewPr>
  <p:notesTextViewPr>
    <p:cViewPr>
      <p:scale>
        <a:sx n="1" d="1"/>
        <a:sy n="1" d="1"/>
      </p:scale>
      <p:origin x="0" y="0"/>
    </p:cViewPr>
  </p:notesTextViewPr>
  <p:notesViewPr>
    <p:cSldViewPr snapToGrid="0" snapToObjects="1">
      <p:cViewPr varScale="1">
        <p:scale>
          <a:sx n="97" d="100"/>
          <a:sy n="97" d="100"/>
        </p:scale>
        <p:origin x="3029" y="8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641286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rPr lang="en-GB" sz="1200" dirty="0"/>
              <a:t>OPENING HOOK — 45 seconds.</a:t>
            </a:r>
          </a:p>
          <a:p>
            <a:endParaRPr lang="en-GB" sz="1200"/>
          </a:p>
          <a:p>
            <a:r>
              <a:rPr lang="en-GB" sz="1200" dirty="0"/>
              <a:t>Don't read the stats. LET them land.</a:t>
            </a:r>
          </a:p>
          <a:p>
            <a:endParaRPr lang="en-GB" sz="1200"/>
          </a:p>
          <a:p>
            <a:r>
              <a:rPr lang="en-GB" sz="1200" dirty="0"/>
              <a:t>Start with the question on the slide: "While Britain sleeps, who keeps 20,000 miles of railway alive?"</a:t>
            </a:r>
          </a:p>
          <a:p>
            <a:endParaRPr lang="en-GB" sz="1200"/>
          </a:p>
          <a:p>
            <a:r>
              <a:rPr lang="en-GB" sz="1200" dirty="0"/>
              <a:t>Pause. Let the audience think. This isn't rhetorical — they really don't know.</a:t>
            </a:r>
          </a:p>
          <a:p>
            <a:endParaRPr lang="en-GB" sz="1200"/>
          </a:p>
          <a:p>
            <a:r>
              <a:rPr lang="en-GB" sz="1200" dirty="0"/>
              <a:t>Then walk through the four magnets with tempo:</a:t>
            </a:r>
          </a:p>
          <a:p>
            <a:r>
              <a:rPr lang="en-GB" sz="1200" dirty="0"/>
              <a:t>• 20,000 miles — longer than the entire UK motorway network</a:t>
            </a:r>
          </a:p>
          <a:p>
            <a:r>
              <a:rPr lang="en-GB" sz="1200" dirty="0"/>
              <a:t>• £1.2M per hour — what the disruption costs when a line goes down at peak</a:t>
            </a:r>
          </a:p>
          <a:p>
            <a:r>
              <a:rPr lang="en-GB" sz="1200" dirty="0"/>
              <a:t>• 113 years — the oldest live railway structures we're surveying</a:t>
            </a:r>
          </a:p>
          <a:p>
            <a:r>
              <a:rPr lang="en-GB" sz="1200" dirty="0"/>
              <a:t>• 4.8M journeys — every single day depend on assets most people never see</a:t>
            </a:r>
          </a:p>
          <a:p>
            <a:endParaRPr lang="en-GB" sz="1200"/>
          </a:p>
          <a:p>
            <a:r>
              <a:rPr lang="en-GB" sz="1200" dirty="0"/>
              <a:t>Then land the turn: "Tonight, I want to show you how we won an ICE award keeping one of those networks alive — and why the method matters for every ageing asset in Britain."</a:t>
            </a:r>
          </a:p>
          <a:p>
            <a:endParaRPr lang="en-GB" sz="1200"/>
          </a:p>
          <a:p>
            <a:r>
              <a:rPr lang="en-GB" sz="1200" dirty="0"/>
              <a:t>Transition: "So where does this battle begin…?"</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rPr lang="en-GB" sz="1200" dirty="0"/>
              <a:t>BRAINSTORM SLIDE — 60-90 seconds. Be interactive.</a:t>
            </a:r>
          </a:p>
          <a:p>
            <a:endParaRPr lang="en-GB" sz="1200" dirty="0"/>
          </a:p>
          <a:p>
            <a:r>
              <a:rPr lang="en-GB" sz="1200" dirty="0"/>
              <a:t>Point to the 2 MIN BRAINSTORM badge. Set expectations: "I'm going to ask you a question and I want real answers — not hands up, just shout them out."</a:t>
            </a:r>
          </a:p>
          <a:p>
            <a:endParaRPr lang="en-GB" sz="1200" dirty="0"/>
          </a:p>
          <a:p>
            <a:r>
              <a:rPr lang="en-GB" sz="1200" dirty="0"/>
              <a:t>Walk through the context (30 sec):</a:t>
            </a:r>
          </a:p>
          <a:p>
            <a:r>
              <a:rPr lang="en-GB" sz="1200" dirty="0"/>
              <a:t>• 134 stations across East Anglia — the real number</a:t>
            </a:r>
          </a:p>
          <a:p>
            <a:r>
              <a:rPr lang="en-GB" sz="1200" dirty="0"/>
              <a:t>• 47 surveys per year — a third of the estate rotating through detailed inspection</a:t>
            </a:r>
          </a:p>
          <a:p>
            <a:r>
              <a:rPr lang="en-GB" sz="1200" dirty="0"/>
              <a:t>• Access: parts of stations are at height, hidden behind cladding, above live platforms</a:t>
            </a:r>
          </a:p>
          <a:p>
            <a:r>
              <a:rPr lang="en-GB" sz="1200" dirty="0"/>
              <a:t>• Disruption: every closed station = lost revenue, angry passengers</a:t>
            </a:r>
          </a:p>
          <a:p>
            <a:endParaRPr lang="en-GB" sz="1200" dirty="0"/>
          </a:p>
          <a:p>
            <a:r>
              <a:rPr lang="en-GB" sz="1200" dirty="0"/>
              <a:t>Then ask the question in the speech bubble: "How would YOU inspect every inch of 134 stations — before any of it breaks?"</a:t>
            </a:r>
          </a:p>
          <a:p>
            <a:endParaRPr lang="en-GB" sz="1200" dirty="0"/>
          </a:p>
          <a:p>
            <a:r>
              <a:rPr lang="en-GB" sz="1200" dirty="0"/>
              <a:t>Let the room answer. Expect:</a:t>
            </a:r>
          </a:p>
          <a:p>
            <a:r>
              <a:rPr lang="en-GB" sz="1200" dirty="0"/>
              <a:t>• "Drones!" — yes, and...</a:t>
            </a:r>
          </a:p>
          <a:p>
            <a:r>
              <a:rPr lang="en-GB" sz="1200" dirty="0"/>
              <a:t>• "Sensors!" — yes, and...</a:t>
            </a:r>
          </a:p>
          <a:p>
            <a:r>
              <a:rPr lang="en-GB" sz="1200" dirty="0"/>
              <a:t>• "AI" — yes, and...</a:t>
            </a:r>
          </a:p>
          <a:p>
            <a:r>
              <a:rPr lang="en-GB" sz="1200" dirty="0"/>
              <a:t>• "Hire more surveyors" — good luck with that budget</a:t>
            </a:r>
          </a:p>
          <a:p>
            <a:endParaRPr lang="en-GB" sz="1200" dirty="0"/>
          </a:p>
          <a:p>
            <a:r>
              <a:rPr lang="en-GB" sz="1200" dirty="0"/>
              <a:t>Whatever they say, affirm it: "You're all thinking like the judges did." Then pivot.</a:t>
            </a:r>
          </a:p>
          <a:p>
            <a:endParaRPr lang="en-GB" sz="1200" dirty="0"/>
          </a:p>
          <a:p>
            <a:r>
              <a:rPr lang="en-GB" sz="1200" dirty="0"/>
              <a:t>Transition: "So how DID we do it? The answer won us the ICE Asset Resilience Award…"</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rPr lang="en-GB" sz="1200" dirty="0"/>
              <a:t>DATA CAPTURE REVEAL — 90 seconds.</a:t>
            </a:r>
          </a:p>
          <a:p>
            <a:endParaRPr lang="en-GB" sz="1200"/>
          </a:p>
          <a:p>
            <a:r>
              <a:rPr lang="en-GB" sz="1200" dirty="0"/>
              <a:t>Open with the answer to the brainstorm: "One surveyor. A 360° camera. A laser scanner. That's it."</a:t>
            </a:r>
          </a:p>
          <a:p>
            <a:endParaRPr lang="en-GB" sz="1200"/>
          </a:p>
          <a:p>
            <a:r>
              <a:rPr lang="en-GB" sz="1200" dirty="0"/>
              <a:t>Walk the 2x2 photo grid (left to right, top to bottom):</a:t>
            </a:r>
          </a:p>
          <a:p>
            <a:r>
              <a:rPr lang="en-GB" sz="1200" dirty="0"/>
              <a:t>• DRONE CAPTURE — for high-level and hidden critical elements we previously needed scaffolding to reach</a:t>
            </a:r>
          </a:p>
          <a:p>
            <a:r>
              <a:rPr lang="en-GB" sz="1200" dirty="0"/>
              <a:t>• LASER SCAN — millimetre-accurate 3D mesh of the asset</a:t>
            </a:r>
          </a:p>
          <a:p>
            <a:r>
              <a:rPr lang="en-GB" sz="1200" dirty="0"/>
              <a:t>• SURVEYOR AT WORK — human still in the loop, walking the ground with full context</a:t>
            </a:r>
          </a:p>
          <a:p>
            <a:r>
              <a:rPr lang="en-GB" sz="1200" dirty="0"/>
              <a:t>• POINT CLOUD — every station becomes a digital twin we can return to any time</a:t>
            </a:r>
          </a:p>
          <a:p>
            <a:endParaRPr lang="en-GB" sz="1200"/>
          </a:p>
          <a:p>
            <a:r>
              <a:rPr lang="en-GB" sz="1200" dirty="0"/>
              <a:t>Then hit the stats (bottom pills):</a:t>
            </a:r>
          </a:p>
          <a:p>
            <a:r>
              <a:rPr lang="en-GB" sz="1200" dirty="0"/>
              <a:t>• 7,650 HD photos from the full programme</a:t>
            </a:r>
          </a:p>
          <a:p>
            <a:r>
              <a:rPr lang="en-GB" sz="1200" dirty="0"/>
              <a:t>• 300+ drone flights across 14 stations</a:t>
            </a:r>
          </a:p>
          <a:p>
            <a:r>
              <a:rPr lang="en-GB" sz="1200" dirty="0"/>
              <a:t>• 1 month vs 4 months — the timeline compression</a:t>
            </a:r>
          </a:p>
          <a:p>
            <a:r>
              <a:rPr lang="en-GB" sz="1200" dirty="0"/>
              <a:t>• ZERO station closures — full service maintained throughout</a:t>
            </a:r>
          </a:p>
          <a:p>
            <a:endParaRPr lang="en-GB" sz="1200"/>
          </a:p>
          <a:p>
            <a:r>
              <a:rPr lang="en-GB" sz="1200" dirty="0"/>
              <a:t>IMPORTANT: point to the orange button. "This isn't a rendering — it's live. Anyone can open the link and fly through the point cloud right now. Try it after the session."</a:t>
            </a:r>
          </a:p>
          <a:p>
            <a:endParaRPr lang="en-GB" sz="1200"/>
          </a:p>
          <a:p>
            <a:r>
              <a:rPr lang="en-GB" sz="1200" dirty="0"/>
              <a:t>Transition: "Millions of data points captured. But data isn't decisions — yet…"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rPr lang="en-GB" sz="1200" dirty="0"/>
              <a:t>SLIDE 4 — DATA MANAGEMENT: AI AS THE EMPOWERED ENGINEER</a:t>
            </a:r>
          </a:p>
          <a:p>
            <a:endParaRPr lang="en-GB" sz="1200" dirty="0"/>
          </a:p>
          <a:p>
            <a:r>
              <a:rPr lang="en-GB" sz="1200" dirty="0"/>
              <a:t>OPENING (10 sec)</a:t>
            </a:r>
          </a:p>
          <a:p>
            <a:r>
              <a:rPr lang="en-GB" sz="1200" dirty="0"/>
              <a:t>"If slide 3 was what we capture, this is what we DO with it. Because 7,650 photos and millions of point-cloud samples — that's not a decision. That's a warehouse. You need something that reads like an engineer, not a filing clerk."</a:t>
            </a:r>
          </a:p>
          <a:p>
            <a:endParaRPr lang="en-GB" sz="1200" dirty="0"/>
          </a:p>
          <a:p>
            <a:r>
              <a:rPr lang="en-GB" sz="1200" dirty="0"/>
              <a:t>THE PROVOCATION (say it slowly, let it land)</a:t>
            </a:r>
          </a:p>
          <a:p>
            <a:r>
              <a:rPr lang="en-GB" sz="1200" dirty="0"/>
              <a:t>"Can AI be the empowered surveyor and engineer — taking on the repetitive capture, processing and retrieval, so humans make the right calls?"</a:t>
            </a:r>
          </a:p>
          <a:p>
            <a:r>
              <a:rPr lang="en-GB" sz="1200" dirty="0"/>
              <a:t>Pause here. Let them consider whether this is hype or not. Then walk them through the three images.</a:t>
            </a:r>
          </a:p>
          <a:p>
            <a:endParaRPr lang="en-GB" sz="1200" dirty="0"/>
          </a:p>
          <a:p>
            <a:r>
              <a:rPr lang="en-GB" sz="1200" dirty="0"/>
              <a:t>THE 3 IMAGES (point at each, 20–30 sec each)</a:t>
            </a:r>
          </a:p>
          <a:p>
            <a:r>
              <a:rPr lang="en-GB" sz="1200" dirty="0"/>
              <a:t>• LEFT — Knowledge RAG: "This is a knowledge graph. Nodes are assets, defects, standards. The edges are relationships AI can reason across. When the engineer asks 'show me all platform canopies with water ingress plus a history of failure' — this is what answers."</a:t>
            </a:r>
          </a:p>
          <a:p>
            <a:r>
              <a:rPr lang="en-GB" sz="1200" dirty="0"/>
              <a:t>• MIDDLE — OCR+ Toolkit: "7,650 photos, 300+ reports, decades of standards. This toolkit turns all of it into structured, searchable, AI-ready data. It's the plumbing. Not glamorous. But without it, the AI has nothing to read."</a:t>
            </a:r>
          </a:p>
          <a:p>
            <a:r>
              <a:rPr lang="en-GB" sz="1200" dirty="0"/>
              <a:t>• RIGHT — The Augmented Engineer: "This is the vision. Not AI replacing us. AI doing the 80% that's repetitive — and leaving the 20% that actually needs an engineer's judgment."</a:t>
            </a:r>
          </a:p>
          <a:p>
            <a:endParaRPr lang="en-GB" sz="1200" dirty="0"/>
          </a:p>
          <a:p>
            <a:r>
              <a:rPr lang="en-GB" sz="1200" dirty="0"/>
              <a:t>THE PIPELINE (walk through the 5 chevrons, left to right)</a:t>
            </a:r>
          </a:p>
          <a:p>
            <a:r>
              <a:rPr lang="en-GB" sz="1200" dirty="0"/>
              <a:t>"Raw capture → OCR+ toolkit → Knowledge RAG → Defect + risk ranking → Engineer approval. Five stages. The last stage — orange — is the one that matters. Every decision still has a chartered engineer's name on it. The AI doesn't approve anything. It just makes the approval tractable."</a:t>
            </a:r>
          </a:p>
          <a:p>
            <a:endParaRPr lang="en-GB" sz="1200" dirty="0"/>
          </a:p>
          <a:p>
            <a:r>
              <a:rPr lang="en-GB" sz="1200" dirty="0"/>
              <a:t>THE CLAIM (land this)</a:t>
            </a:r>
          </a:p>
          <a:p>
            <a:r>
              <a:rPr lang="en-GB" sz="1200" dirty="0"/>
              <a:t>"One regime. 134 stations. Decisions in days, not months. That's the unlock."</a:t>
            </a:r>
          </a:p>
          <a:p>
            <a:endParaRPr lang="en-GB" sz="1200" dirty="0"/>
          </a:p>
          <a:p>
            <a:r>
              <a:rPr lang="en-GB" sz="1200" dirty="0"/>
              <a:t>TRANSITION</a:t>
            </a:r>
          </a:p>
          <a:p>
            <a:r>
              <a:rPr lang="en-GB" sz="1200" dirty="0"/>
              <a:t>"So — what does this actually let us do next…?"</a:t>
            </a:r>
          </a:p>
          <a:p>
            <a:endParaRPr lang="en-GB" sz="1200" dirty="0"/>
          </a:p>
          <a:p>
            <a:r>
              <a:rPr lang="en-GB" sz="1200" dirty="0"/>
              <a:t>TIMING: 2–2.5 minutes.</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rPr lang="en-GB" sz="1200" dirty="0"/>
              <a:t>SLIDE 5 — ICE EAST OF ENGLAND MERIT AWARDS 2025 · THE JUDGES' CALL</a:t>
            </a:r>
          </a:p>
          <a:p>
            <a:endParaRPr lang="en-GB" sz="1200"/>
          </a:p>
          <a:p>
            <a:r>
              <a:rPr lang="en-GB" sz="1200" dirty="0"/>
              <a:t>OPENING (the reveal, 15 sec)</a:t>
            </a:r>
          </a:p>
          <a:p>
            <a:r>
              <a:rPr lang="en-GB" sz="1200" dirty="0"/>
              <a:t>"Before I show you what this unlocks, let me tell you what happened. In September 2025, at the University Arms Hotel in Cambridge, ICE President Professor Jim Hall handed this project the Best Project Award for Asset Resilience. The industry looked at this method — and said yes."</a:t>
            </a:r>
          </a:p>
          <a:p>
            <a:endParaRPr lang="en-GB" sz="1200"/>
          </a:p>
          <a:p>
            <a:r>
              <a:rPr lang="en-GB" sz="1200" dirty="0"/>
              <a:t>POINT AT THE CARD</a:t>
            </a:r>
          </a:p>
          <a:p>
            <a:r>
              <a:rPr lang="en-GB" sz="1200" dirty="0"/>
              <a:t>"Category: Asset Resilience. Project: Station Condition and Hidden Critical Element Survey. Client: Greater Anglia. Scope: 47 stations across Network Rail's East Anglia Area 1. Drones at 14 of them. Zero scaffolding."</a:t>
            </a:r>
          </a:p>
          <a:p>
            <a:endParaRPr lang="en-GB" sz="1200"/>
          </a:p>
          <a:p>
            <a:r>
              <a:rPr lang="en-GB" sz="1200" dirty="0"/>
              <a:t>READ THE QUOTE SLOWLY</a:t>
            </a:r>
          </a:p>
          <a:p>
            <a:r>
              <a:rPr lang="en-GB" sz="1200" dirty="0"/>
              <a:t>"The judges' rationale — this is the bit worth pausing on:" (pause, then read) "'Cutting-edge digital technology identifying structural weaknesses before they become critical — enabling predictive, not reactive, maintenance.'"</a:t>
            </a:r>
          </a:p>
          <a:p>
            <a:r>
              <a:rPr lang="en-GB" sz="1200" dirty="0"/>
              <a:t>"Predictive. Not reactive. That's the thesis of this entire talk."</a:t>
            </a:r>
          </a:p>
          <a:p>
            <a:endParaRPr lang="en-GB" sz="1200"/>
          </a:p>
          <a:p>
            <a:r>
              <a:rPr lang="en-GB" sz="1200" dirty="0"/>
              <a:t>WHY THIS MATTERS (the pivot)</a:t>
            </a:r>
          </a:p>
          <a:p>
            <a:r>
              <a:rPr lang="en-GB" sz="1200" dirty="0"/>
              <a:t>"For 150 years, rail asset management has been reactive. Something fails — we fix it. Someone spots a crack — we investigate. Even the condition surveys were reactive: we went because it was time to go."</a:t>
            </a:r>
          </a:p>
          <a:p>
            <a:r>
              <a:rPr lang="en-GB" sz="1200" dirty="0"/>
              <a:t>"What the judges recognised is that this flips. Capture everything once. Let AI watch it. Predictive becomes possible because the baseline exists."</a:t>
            </a:r>
          </a:p>
          <a:p>
            <a:endParaRPr lang="en-GB" sz="1200"/>
          </a:p>
          <a:p>
            <a:r>
              <a:rPr lang="en-GB" sz="1200" dirty="0"/>
              <a:t>THE 'WHAT NEXT?' PROMPT (ask the room)</a:t>
            </a:r>
          </a:p>
          <a:p>
            <a:r>
              <a:rPr lang="en-GB" sz="1200" dirty="0"/>
              <a:t>"Where else in your world is the work still reactive — not because it has to be, but because no one built the baseline? Bridges. Tunnels. Power lines. Heritage buildings. Highways. All of them wait for a crack. All of them could be watched."</a:t>
            </a:r>
          </a:p>
          <a:p>
            <a:endParaRPr lang="en-GB" sz="1200"/>
          </a:p>
          <a:p>
            <a:r>
              <a:rPr lang="en-GB" sz="1200" dirty="0"/>
              <a:t>TRANSITION</a:t>
            </a:r>
          </a:p>
          <a:p>
            <a:r>
              <a:rPr lang="en-GB" sz="1200" dirty="0"/>
              <a:t>"Let me show you what that baseline actually looks like…"</a:t>
            </a:r>
          </a:p>
          <a:p>
            <a:endParaRPr lang="en-GB" sz="1200"/>
          </a:p>
          <a:p>
            <a:r>
              <a:rPr lang="en-GB" sz="1200" dirty="0"/>
              <a:t>TIMING: 1.5–2 minutes. Don't rush. This is the thesis.</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rPr lang="en-GB" sz="1200" dirty="0"/>
              <a:t>SLIDE 6 — CASE STUDY OPENER</a:t>
            </a:r>
          </a:p>
          <a:p>
            <a:endParaRPr lang="en-GB" sz="1200"/>
          </a:p>
          <a:p>
            <a:r>
              <a:rPr lang="en-GB" sz="1200" dirty="0"/>
              <a:t>OPENING (set up the case study, 10 sec)</a:t>
            </a:r>
          </a:p>
          <a:p>
            <a:r>
              <a:rPr lang="en-GB" sz="1200" dirty="0"/>
              <a:t>"Let me walk you through what this actually looked like on the ground. Not the concept. The real work."</a:t>
            </a:r>
          </a:p>
          <a:p>
            <a:endParaRPr lang="en-GB" sz="1200"/>
          </a:p>
          <a:p>
            <a:r>
              <a:rPr lang="en-GB" sz="1200" dirty="0"/>
              <a:t>CONTEXT</a:t>
            </a:r>
          </a:p>
          <a:p>
            <a:r>
              <a:rPr lang="en-GB" sz="1200" dirty="0"/>
              <a:t>"This is one of the 47 stations. Every station got the same treatment: ground-level survey, drone capture of the high-level and hidden assets, laser scan for the structural envelope, 3D mesh model for off-site validation. Roughly 150 engineer-hours condensed into a few days on site."</a:t>
            </a:r>
          </a:p>
          <a:p>
            <a:endParaRPr lang="en-GB" sz="1200"/>
          </a:p>
          <a:p>
            <a:r>
              <a:rPr lang="en-GB" sz="1200" dirty="0"/>
              <a:t>POINT AT THE IMAGE</a:t>
            </a:r>
          </a:p>
          <a:p>
            <a:r>
              <a:rPr lang="en-GB" sz="1200" dirty="0"/>
              <a:t>"This is what the deploy looked like. Quick. Light touch. No scaffold trucks. No road closures. One crew, one van, one day per station. That's the operating model the industry has been waiting for."</a:t>
            </a:r>
          </a:p>
          <a:p>
            <a:endParaRPr lang="en-GB" sz="1200"/>
          </a:p>
          <a:p>
            <a:r>
              <a:rPr lang="en-GB" sz="1200" dirty="0"/>
              <a:t>TRANSITION</a:t>
            </a:r>
          </a:p>
          <a:p>
            <a:r>
              <a:rPr lang="en-GB" sz="1200" dirty="0"/>
              <a:t>"And this is what came out of it…"</a:t>
            </a:r>
          </a:p>
          <a:p>
            <a:endParaRPr lang="en-GB" sz="1200"/>
          </a:p>
          <a:p>
            <a:r>
              <a:rPr lang="en-GB" sz="1200" dirty="0"/>
              <a:t>TIMING: 30–45 sec. Brief — this slide just sets the scene.</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rPr lang="en-GB" sz="1200" dirty="0"/>
              <a:t>SLIDE 7 — THE FULL-BLEED HERO SHOT</a:t>
            </a:r>
          </a:p>
          <a:p>
            <a:endParaRPr lang="en-GB" sz="1200"/>
          </a:p>
          <a:p>
            <a:r>
              <a:rPr lang="en-GB" sz="1200" dirty="0"/>
              <a:t>OPENING (let the image breathe, 5 sec pause)</a:t>
            </a:r>
          </a:p>
          <a:p>
            <a:r>
              <a:rPr lang="en-GB" sz="1200" dirty="0"/>
              <a:t>"Take a second to look at this."</a:t>
            </a:r>
          </a:p>
          <a:p>
            <a:endParaRPr lang="en-GB" sz="1200"/>
          </a:p>
          <a:p>
            <a:r>
              <a:rPr lang="en-GB" sz="1200" dirty="0"/>
              <a:t>THE NARRATIVE</a:t>
            </a:r>
          </a:p>
          <a:p>
            <a:r>
              <a:rPr lang="en-GB" sz="1200" dirty="0"/>
              <a:t>"This is what the public never sees. The Victorian-era platform canopy, the corroded ironwork, the hidden critical elements behind the brick facade. Until the drone went up, nobody had this view in decades. Not because nobody cared — because scaffolding to get to it would have taken three weeks, closed a platform, and cost the client more than the survey itself."</a:t>
            </a:r>
          </a:p>
          <a:p>
            <a:r>
              <a:rPr lang="en-GB" sz="1200" dirty="0"/>
              <a:t>"Now we get this view on an afternoon. Repeatable. Safe. Cheap enough to do annually instead of every decade."</a:t>
            </a:r>
          </a:p>
          <a:p>
            <a:endParaRPr lang="en-GB" sz="1200"/>
          </a:p>
          <a:p>
            <a:r>
              <a:rPr lang="en-GB" sz="1200" dirty="0"/>
              <a:t>KEY POINT</a:t>
            </a:r>
          </a:p>
          <a:p>
            <a:r>
              <a:rPr lang="en-GB" sz="1200" dirty="0"/>
              <a:t>"Asset resilience starts with being able to see. This is the first time the asset owner has actually been able to see their network — all of it."</a:t>
            </a:r>
          </a:p>
          <a:p>
            <a:endParaRPr lang="en-GB" sz="1200"/>
          </a:p>
          <a:p>
            <a:r>
              <a:rPr lang="en-GB" sz="1200" dirty="0"/>
              <a:t>TRANSITION</a:t>
            </a:r>
          </a:p>
          <a:p>
            <a:r>
              <a:rPr lang="en-GB" sz="1200" dirty="0"/>
              <a:t>"And what do you do once you can see everything? You start finding things…"</a:t>
            </a:r>
          </a:p>
          <a:p>
            <a:endParaRPr lang="en-GB" sz="1200"/>
          </a:p>
          <a:p>
            <a:r>
              <a:rPr lang="en-GB" sz="1200" dirty="0"/>
              <a:t>TIMING: 30–40 sec. Let the image do most of the work.</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rPr lang="en-GB" sz="1200" dirty="0"/>
              <a:t>SLIDE 8 — WHAT AI FOUND</a:t>
            </a:r>
          </a:p>
          <a:p>
            <a:endParaRPr lang="en-GB" sz="1200"/>
          </a:p>
          <a:p>
            <a:r>
              <a:rPr lang="en-GB" sz="1200" dirty="0"/>
              <a:t>OPENING</a:t>
            </a:r>
          </a:p>
          <a:p>
            <a:r>
              <a:rPr lang="en-GB" sz="1200" dirty="0"/>
              <a:t>"Once the data is AI-ready, this is what the system surfaces. Multiple views, same asset, cross-referenced against standards."</a:t>
            </a:r>
          </a:p>
          <a:p>
            <a:endParaRPr lang="en-GB" sz="1200"/>
          </a:p>
          <a:p>
            <a:r>
              <a:rPr lang="en-GB" sz="1200" dirty="0"/>
              <a:t>POINT AT EACH IMAGE</a:t>
            </a:r>
          </a:p>
          <a:p>
            <a:r>
              <a:rPr lang="en-GB" sz="1200" dirty="0"/>
              <a:t>"Each of these is something the AI flagged — then the engineer validated. The AI didn't diagnose. It noticed. The engineer decided what to do about it."</a:t>
            </a:r>
          </a:p>
          <a:p>
            <a:r>
              <a:rPr lang="en-GB" sz="1200" dirty="0"/>
              <a:t>"This is what 'augmented' means in practice. Not AI replacing judgment. AI doing triage at a scale a human team couldn't match — and handing the 5% that actually matters to a chartered engineer."</a:t>
            </a:r>
          </a:p>
          <a:p>
            <a:endParaRPr lang="en-GB" sz="1200"/>
          </a:p>
          <a:p>
            <a:r>
              <a:rPr lang="en-GB" sz="1200" dirty="0"/>
              <a:t>THE SCALE POINT</a:t>
            </a:r>
          </a:p>
          <a:p>
            <a:r>
              <a:rPr lang="en-GB" sz="1200" dirty="0"/>
              <a:t>"Across 47 stations, we found [N] defects meeting criticality threshold. A manual survey regime would have missed most of the low-visibility ones because nobody would have climbed to check. That's the asset-resilience delta."</a:t>
            </a:r>
          </a:p>
          <a:p>
            <a:endParaRPr lang="en-GB" sz="1200"/>
          </a:p>
          <a:p>
            <a:r>
              <a:rPr lang="en-GB" sz="1200" dirty="0"/>
              <a:t>TRANSITION</a:t>
            </a:r>
          </a:p>
          <a:p>
            <a:r>
              <a:rPr lang="en-GB" sz="1200" dirty="0"/>
              <a:t>"So what do you do with all that intelligence?…"</a:t>
            </a:r>
          </a:p>
          <a:p>
            <a:endParaRPr lang="en-GB" sz="1200"/>
          </a:p>
          <a:p>
            <a:r>
              <a:rPr lang="en-GB" sz="1200" dirty="0"/>
              <a:t>TIMING: 45 sec.</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rPr lang="en-GB" sz="1200" dirty="0"/>
              <a:t>SLIDE 9 — THE 4-UP GRID (PATTERN RECOGNITION)</a:t>
            </a:r>
          </a:p>
          <a:p>
            <a:endParaRPr lang="en-GB" sz="1200" dirty="0"/>
          </a:p>
          <a:p>
            <a:r>
              <a:rPr lang="en-GB" sz="1200" dirty="0"/>
              <a:t>OPENING</a:t>
            </a:r>
          </a:p>
          <a:p>
            <a:r>
              <a:rPr lang="en-GB" sz="1200" dirty="0"/>
              <a:t>"Four examples — but think of this as a sample of thousands. Each tile is a different defect class, from a different station, caught by the same pipeline."</a:t>
            </a:r>
          </a:p>
          <a:p>
            <a:endParaRPr lang="en-GB" sz="1200" dirty="0"/>
          </a:p>
          <a:p>
            <a:r>
              <a:rPr lang="en-GB" sz="1200" dirty="0"/>
              <a:t>THE POINT ABOUT PATTERNS</a:t>
            </a:r>
          </a:p>
          <a:p>
            <a:r>
              <a:rPr lang="en-GB" sz="1200" dirty="0"/>
              <a:t>"Individually, each of these is just 'a defect at a station'. Collectively — and this is what the knowledge graph does — patterns emerge. 'Stations on the same geological substrate show the same failure mode.' 'Canopies fabricated in the same 1970s batch show the same corrosion pattern.' The AI doesn't just find defects. It finds defect clusters."</a:t>
            </a:r>
          </a:p>
          <a:p>
            <a:endParaRPr lang="en-GB" sz="1200" dirty="0"/>
          </a:p>
          <a:p>
            <a:r>
              <a:rPr lang="en-GB" sz="1200" dirty="0"/>
              <a:t>WHY THE CLIENT CARES</a:t>
            </a:r>
          </a:p>
          <a:p>
            <a:r>
              <a:rPr lang="en-GB" sz="1200" dirty="0"/>
              <a:t>"For an asset owner, that turns a surprise-driven budget into a plannable one. You're no longer waiting for the next failure to tell you where to look. The pipeline tells you before anything fails."</a:t>
            </a:r>
          </a:p>
          <a:p>
            <a:endParaRPr lang="en-GB" sz="1200" dirty="0"/>
          </a:p>
          <a:p>
            <a:r>
              <a:rPr lang="en-GB" sz="1200" dirty="0"/>
              <a:t>TRANSITION</a:t>
            </a:r>
          </a:p>
          <a:p>
            <a:r>
              <a:rPr lang="en-GB" sz="1200" dirty="0"/>
              <a:t>"This works at station scale. But it doesn't stop at stations…"</a:t>
            </a:r>
          </a:p>
          <a:p>
            <a:endParaRPr lang="en-GB" sz="1200" dirty="0"/>
          </a:p>
          <a:p>
            <a:r>
              <a:rPr lang="en-GB" sz="1200" dirty="0"/>
              <a:t>TIMING: 45 sec.</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rPr lang="en-GB" sz="1200" dirty="0"/>
              <a:t>SLIDE 10 — PORTABILITY: THREE MORE DOMAINS</a:t>
            </a:r>
          </a:p>
          <a:p>
            <a:endParaRPr lang="en-GB" sz="1200" dirty="0"/>
          </a:p>
          <a:p>
            <a:r>
              <a:rPr lang="en-GB" sz="1200" dirty="0"/>
              <a:t>OPENING</a:t>
            </a:r>
          </a:p>
          <a:p>
            <a:r>
              <a:rPr lang="en-GB" sz="1200" dirty="0"/>
              <a:t>"I told you earlier this pattern was portable. Here are three places it's already being applied — or ready to be."</a:t>
            </a:r>
          </a:p>
          <a:p>
            <a:endParaRPr lang="en-GB" sz="1200" dirty="0"/>
          </a:p>
          <a:p>
            <a:r>
              <a:rPr lang="en-GB" sz="1200" dirty="0"/>
              <a:t>WALK THROUGH EACH CARD (15–20 sec each)</a:t>
            </a:r>
          </a:p>
          <a:p>
            <a:r>
              <a:rPr lang="en-GB" sz="1200" dirty="0"/>
              <a:t>"These aren't hypothetical. Every one of these sectors has the same shape of problem as Greater Anglia had: ageing built assets, hard-to-reach components, episodic surveys, reactive budgets, and no cheap way to baseline the whole estate."</a:t>
            </a:r>
          </a:p>
          <a:p>
            <a:r>
              <a:rPr lang="en-GB" sz="1200" dirty="0"/>
              <a:t>"Drones + laser + OCR + Knowledge RAG works wherever you have that shape. Bridges. Tunnels. Highways. Water infrastructure. Heritage. Power distribution. Port infrastructure. Dams."</a:t>
            </a:r>
          </a:p>
          <a:p>
            <a:endParaRPr lang="en-GB" sz="1200" dirty="0"/>
          </a:p>
          <a:p>
            <a:r>
              <a:rPr lang="en-GB" sz="1200" dirty="0"/>
              <a:t>THE CLAIM</a:t>
            </a:r>
          </a:p>
          <a:p>
            <a:r>
              <a:rPr lang="en-GB" sz="1200" dirty="0"/>
              <a:t>"The method isn't specific to rail. Rail is just where we proved it. The judges at ICE weren't awarding a rail project — they were awarding a method."</a:t>
            </a:r>
          </a:p>
          <a:p>
            <a:endParaRPr lang="en-GB" sz="1200" dirty="0"/>
          </a:p>
          <a:p>
            <a:r>
              <a:rPr lang="en-GB" sz="1200" dirty="0"/>
              <a:t>TRANSITION</a:t>
            </a:r>
          </a:p>
          <a:p>
            <a:r>
              <a:rPr lang="en-GB" sz="1200" dirty="0"/>
              <a:t>"And here's the before-and-after that made the business case…"</a:t>
            </a:r>
          </a:p>
          <a:p>
            <a:endParaRPr lang="en-GB" sz="1200" dirty="0"/>
          </a:p>
          <a:p>
            <a:r>
              <a:rPr lang="en-GB" sz="1200" dirty="0"/>
              <a:t>TIMING: 60 sec.</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rPr lang="en-GB" sz="1200" dirty="0"/>
              <a:t>SLIDE 11 — BEFORE &amp; AFTER</a:t>
            </a:r>
          </a:p>
          <a:p>
            <a:endParaRPr lang="en-GB" sz="1200" dirty="0"/>
          </a:p>
          <a:p>
            <a:r>
              <a:rPr lang="en-GB" sz="1200" dirty="0"/>
              <a:t>OPENING</a:t>
            </a:r>
          </a:p>
          <a:p>
            <a:r>
              <a:rPr lang="en-GB" sz="1200" dirty="0"/>
              <a:t>"The old way, versus the new way. Same station. Same scope. Radically different operating model."</a:t>
            </a:r>
          </a:p>
          <a:p>
            <a:endParaRPr lang="en-GB" sz="1200" dirty="0"/>
          </a:p>
          <a:p>
            <a:r>
              <a:rPr lang="en-GB" sz="1200" dirty="0"/>
              <a:t>POINT AT THE LEFT IMAGE (the old way)</a:t>
            </a:r>
          </a:p>
          <a:p>
            <a:r>
              <a:rPr lang="en-GB" sz="1200" dirty="0"/>
              <a:t>"Scaffolding around a platform canopy. Three weeks up, three weeks down. Platform closed. Passengers diverted. Survey team on site for the full duration. Costs in the tens of thousands — before anyone inspects anything."</a:t>
            </a:r>
          </a:p>
          <a:p>
            <a:endParaRPr lang="en-GB" sz="1200" dirty="0"/>
          </a:p>
          <a:p>
            <a:r>
              <a:rPr lang="en-GB" sz="1200" dirty="0"/>
              <a:t>POINT AT THE RIGHT IMAGE (the new way)</a:t>
            </a:r>
          </a:p>
          <a:p>
            <a:r>
              <a:rPr lang="en-GB" sz="1200" dirty="0"/>
              <a:t>"One drone crew. One van. Half a day. No scaffolding. No closure. Survey quality higher — because the drone gets angles a surveyor with a ladder can't."</a:t>
            </a:r>
          </a:p>
          <a:p>
            <a:endParaRPr lang="en-GB" sz="1200" dirty="0"/>
          </a:p>
          <a:p>
            <a:r>
              <a:rPr lang="en-GB" sz="1200" dirty="0"/>
              <a:t>THE POINT</a:t>
            </a:r>
          </a:p>
          <a:p>
            <a:r>
              <a:rPr lang="en-GB" sz="1200" dirty="0"/>
              <a:t>"This is the operating-cost delta that makes the business case. Predictive maintenance isn't valuable if the inspection regime is so expensive you can only afford it every decade. Make the inspection cheap and frequent, and prediction becomes viable."</a:t>
            </a:r>
          </a:p>
          <a:p>
            <a:endParaRPr lang="en-GB" sz="1200" dirty="0"/>
          </a:p>
          <a:p>
            <a:r>
              <a:rPr lang="en-GB" sz="1200" dirty="0"/>
              <a:t>TRANSITION</a:t>
            </a:r>
          </a:p>
          <a:p>
            <a:r>
              <a:rPr lang="en-GB" sz="1200" dirty="0"/>
              <a:t>"And the timing of all this is not an accident. Policy has caught up…"</a:t>
            </a:r>
          </a:p>
          <a:p>
            <a:endParaRPr lang="en-GB" sz="1200" dirty="0"/>
          </a:p>
          <a:p>
            <a:r>
              <a:rPr lang="en-GB" sz="1200" dirty="0"/>
              <a:t>TIMING: 45 sec.</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rPr lang="en-GB" sz="1200" dirty="0"/>
              <a:t>SLIDE 12 — THE POLICY TAILWIND</a:t>
            </a:r>
          </a:p>
          <a:p>
            <a:endParaRPr lang="en-GB" sz="1200"/>
          </a:p>
          <a:p>
            <a:r>
              <a:rPr lang="en-GB" sz="1200" dirty="0"/>
              <a:t>OPENING (this is the 'why now' slide)</a:t>
            </a:r>
          </a:p>
          <a:p>
            <a:r>
              <a:rPr lang="en-GB" sz="1200" dirty="0"/>
              <a:t>"Everything I've shown you, the policy world has also been arriving at — in parallel. Three documents in the last 12 months. Read them in order, and it's hard to miss the pattern."</a:t>
            </a:r>
          </a:p>
          <a:p>
            <a:endParaRPr lang="en-GB" sz="1200"/>
          </a:p>
          <a:p>
            <a:r>
              <a:rPr lang="en-GB" sz="1200" dirty="0"/>
              <a:t>POINT AT EACH COLUMN</a:t>
            </a:r>
          </a:p>
          <a:p>
            <a:r>
              <a:rPr lang="en-GB" sz="1200" dirty="0"/>
              <a:t>"LEFT — DfT Transport AI Action Plan. Government explicitly calling for AI to be embedded in transport asset management."</a:t>
            </a:r>
          </a:p>
          <a:p>
            <a:r>
              <a:rPr lang="en-GB" sz="1200" dirty="0"/>
              <a:t>"MIDDLE — DfT Transport Data Action Plan. Data as infrastructure, not a by-product. The architecture we just walked through? That's what this policy says we should be building."</a:t>
            </a:r>
          </a:p>
          <a:p>
            <a:r>
              <a:rPr lang="en-GB" sz="1200" dirty="0"/>
              <a:t>"RIGHT — GB Sovereign AI. £500m of public backing for AI infrastructure. April 2026. The money is there."</a:t>
            </a:r>
          </a:p>
          <a:p>
            <a:endParaRPr lang="en-GB" sz="1200"/>
          </a:p>
          <a:p>
            <a:r>
              <a:rPr lang="en-GB" sz="1200" dirty="0"/>
              <a:t>THE LAND (say it clearly)</a:t>
            </a:r>
          </a:p>
          <a:p>
            <a:r>
              <a:rPr lang="en-GB" sz="1200" dirty="0"/>
              <a:t>"Government has named the runway. We just built the plane."</a:t>
            </a:r>
          </a:p>
          <a:p>
            <a:r>
              <a:rPr lang="en-GB" sz="1200" dirty="0"/>
              <a:t>"This is not a research pitch. The method is proven. The award validates it. Policy calls for it. Funding backs it. Everything is pointing the same direction."</a:t>
            </a:r>
          </a:p>
          <a:p>
            <a:endParaRPr lang="en-GB" sz="1200"/>
          </a:p>
          <a:p>
            <a:r>
              <a:rPr lang="en-GB" sz="1200" dirty="0"/>
              <a:t>TRANSITION</a:t>
            </a:r>
          </a:p>
          <a:p>
            <a:r>
              <a:rPr lang="en-GB" sz="1200" dirty="0"/>
              <a:t>"So — what are we actually waiting for?"</a:t>
            </a:r>
          </a:p>
          <a:p>
            <a:endParaRPr lang="en-GB" sz="1200"/>
          </a:p>
          <a:p>
            <a:r>
              <a:rPr lang="en-GB" sz="1200" dirty="0"/>
              <a:t>TIMING: 90 sec. This is where you earn the ask.</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rPr lang="en-GB" sz="1200" dirty="0"/>
              <a:t>SLIDE 13 — CLOSING · BILL GUO</a:t>
            </a:r>
          </a:p>
          <a:p>
            <a:endParaRPr lang="en-GB" sz="1200"/>
          </a:p>
          <a:p>
            <a:r>
              <a:rPr lang="en-GB" sz="1200" dirty="0"/>
              <a:t>OPENING (warm, direct, low-key)</a:t>
            </a:r>
          </a:p>
          <a:p>
            <a:r>
              <a:rPr lang="en-GB" sz="1200" dirty="0"/>
              <a:t>"That's the story. From one railway at night, to a method that won the ICE Award, to a policy environment asking for exactly this kind of work."</a:t>
            </a:r>
          </a:p>
          <a:p>
            <a:endParaRPr lang="en-GB" sz="1200"/>
          </a:p>
          <a:p>
            <a:r>
              <a:rPr lang="en-GB" sz="1200" dirty="0"/>
              <a:t>THE ASK (keep it simple and human)</a:t>
            </a:r>
          </a:p>
          <a:p>
            <a:r>
              <a:rPr lang="en-GB" sz="1200" dirty="0"/>
              <a:t>"I'm Bill Guo. If any of this resonates with what you're working on — a bridge network, a station portfolio, a heritage estate, a highway agency — let's talk. I'm happy to chat after the session, or find me on LinkedIn."</a:t>
            </a:r>
          </a:p>
          <a:p>
            <a:r>
              <a:rPr lang="en-GB" sz="1200" dirty="0"/>
              <a:t>"I'm especially interested in two kinds of conversations:"</a:t>
            </a:r>
          </a:p>
          <a:p>
            <a:r>
              <a:rPr lang="en-GB" sz="1200" dirty="0"/>
              <a:t>"One — asset owners with ageing estates who haven't yet built the baseline. That's where the step-change is biggest."</a:t>
            </a:r>
          </a:p>
          <a:p>
            <a:r>
              <a:rPr lang="en-GB" sz="1200" dirty="0"/>
              <a:t>"Two — engineers and surveyors who want to help build this out. We can't take this from 47 stations to 4,700 without more hands."</a:t>
            </a:r>
          </a:p>
          <a:p>
            <a:endParaRPr lang="en-GB" sz="1200"/>
          </a:p>
          <a:p>
            <a:r>
              <a:rPr lang="en-GB" sz="1200" dirty="0"/>
              <a:t>THE CLOSE (pause, look at the room)</a:t>
            </a:r>
          </a:p>
          <a:p>
            <a:r>
              <a:rPr lang="en-GB" sz="1200" dirty="0"/>
              <a:t>"Thanks for your time. Questions — happy to take them now."</a:t>
            </a:r>
          </a:p>
          <a:p>
            <a:endParaRPr lang="en-GB" sz="1200"/>
          </a:p>
          <a:p>
            <a:r>
              <a:rPr lang="en-GB" sz="1200" dirty="0"/>
              <a:t>TIMING: 45 sec — then hand over to Q&amp;A.</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3.jpe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7.jpeg"/><Relationship Id="rId5" Type="http://schemas.openxmlformats.org/officeDocument/2006/relationships/image" Target="../media/image6.jpeg"/><Relationship Id="rId4" Type="http://schemas.openxmlformats.org/officeDocument/2006/relationships/image" Target="../media/image5.jpeg"/></Relationships>
</file>

<file path=ppt/slides/_rels/slide4.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11.jpeg"/><Relationship Id="rId4" Type="http://schemas.openxmlformats.org/officeDocument/2006/relationships/image" Target="../media/image10.jpeg"/></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17.jpeg"/><Relationship Id="rId4" Type="http://schemas.openxmlformats.org/officeDocument/2006/relationships/image" Target="../media/image16.jpeg"/></Relationships>
</file>

<file path=ppt/slides/_rels/slide9.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21.jpeg"/><Relationship Id="rId5" Type="http://schemas.openxmlformats.org/officeDocument/2006/relationships/image" Target="../media/image20.jpeg"/><Relationship Id="rId4" Type="http://schemas.openxmlformats.org/officeDocument/2006/relationships/image" Target="../media/image19.jpeg"/></Relationships>
</file>

<file path=ppt/slides/_rels/slide10.xml.rels><?xml version="1.0" encoding="UTF-8" standalone="yes"?>
<Relationships xmlns="http://schemas.openxmlformats.org/package/2006/relationships"><Relationship Id="rId8" Type="http://schemas.openxmlformats.org/officeDocument/2006/relationships/hyperlink" Target="https://www.gov.uk/government/news/ai-firms-pioneering-drug-discovery-cheaper-supercomputing-and-more-get-first-backing-through-uks-sovereign-ai" TargetMode="External"/><Relationship Id="rId3" Type="http://schemas.openxmlformats.org/officeDocument/2006/relationships/image" Target="../media/image22.png"/><Relationship Id="rId7" Type="http://schemas.openxmlformats.org/officeDocument/2006/relationships/hyperlink" Target="https://assets.publishing.service.gov.uk/media/69ccee61eafd66b876458b39/dft-transport-data-action-plan.pdf" TargetMode="External"/><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hyperlink" Target="https://assets.publishing.service.gov.uk/media/68519a48510376e43ffdb344/transport-ai-action-plan.pdf" TargetMode="External"/><Relationship Id="rId5" Type="http://schemas.openxmlformats.org/officeDocument/2006/relationships/image" Target="../media/image24.png"/><Relationship Id="rId4" Type="http://schemas.openxmlformats.org/officeDocument/2006/relationships/image" Target="../media/image23.png"/></Relationships>
</file>

<file path=ppt/slides/_rels/slide1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openxmlformats.org/officeDocument/2006/relationships/hyperlink" Target="https://assets.publishing.service.gov.uk/media/68519a48510376e43ffdb344/transport-ai-action-plan.pdf" TargetMode="External"/><Relationship Id="rId4" Type="http://schemas.openxmlformats.org/officeDocument/2006/relationships/image" Target="../media/image26.png"/></Relationships>
</file>

<file path=ppt/slides/_rels/slide12.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3.xml"/><Relationship Id="rId1" Type="http://schemas.openxmlformats.org/officeDocument/2006/relationships/slideLayout" Target="../slideLayouts/slideLayout1.xml"/><Relationship Id="rId5" Type="http://schemas.openxmlformats.org/officeDocument/2006/relationships/image" Target="../media/image30.png"/><Relationship Id="rId4" Type="http://schemas.openxmlformats.org/officeDocument/2006/relationships/image" Target="../media/image29.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4613B4A9-1C7C-4729-A016-AB42D397946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B8A8829F-17BB-B544-3F2C-32FF60868D1B}"/>
              </a:ext>
            </a:extLst>
          </p:cNvPr>
          <p:cNvPicPr>
            <a:picLocks noGrp="1" noRot="1" noChangeAspect="1" noMove="1" noResize="1" noEditPoints="1" noAdjustHandles="1" noChangeArrowheads="1" noChangeShapeType="1" noCrop="1"/>
          </p:cNvPicPr>
          <p:nvPr/>
        </p:nvPicPr>
        <p:blipFill>
          <a:blip r:embed="rId3"/>
          <a:srcRect r="3566"/>
          <a:stretch>
            <a:fillRect/>
          </a:stretch>
        </p:blipFill>
        <p:spPr>
          <a:xfrm>
            <a:off x="246987" y="10"/>
            <a:ext cx="8897013" cy="5143490"/>
          </a:xfrm>
          <a:custGeom>
            <a:avLst/>
            <a:gdLst/>
            <a:ahLst/>
            <a:cxnLst/>
            <a:rect l="l" t="t" r="r" b="b"/>
            <a:pathLst>
              <a:path w="11862684" h="6858000">
                <a:moveTo>
                  <a:pt x="1047342" y="0"/>
                </a:moveTo>
                <a:lnTo>
                  <a:pt x="4590463" y="0"/>
                </a:lnTo>
                <a:lnTo>
                  <a:pt x="5499874" y="0"/>
                </a:lnTo>
                <a:lnTo>
                  <a:pt x="5723425" y="0"/>
                </a:lnTo>
                <a:lnTo>
                  <a:pt x="7580390" y="0"/>
                </a:lnTo>
                <a:lnTo>
                  <a:pt x="7747884" y="0"/>
                </a:lnTo>
                <a:lnTo>
                  <a:pt x="7824084" y="0"/>
                </a:lnTo>
                <a:lnTo>
                  <a:pt x="11862684" y="0"/>
                </a:lnTo>
                <a:lnTo>
                  <a:pt x="11862684" y="6858000"/>
                </a:lnTo>
                <a:lnTo>
                  <a:pt x="7824084" y="6858000"/>
                </a:lnTo>
                <a:lnTo>
                  <a:pt x="7747884" y="6858000"/>
                </a:lnTo>
                <a:lnTo>
                  <a:pt x="7580390" y="6858000"/>
                </a:lnTo>
                <a:lnTo>
                  <a:pt x="5723425" y="6858000"/>
                </a:lnTo>
                <a:lnTo>
                  <a:pt x="5499874" y="6858000"/>
                </a:lnTo>
                <a:lnTo>
                  <a:pt x="4590463" y="6858000"/>
                </a:lnTo>
                <a:lnTo>
                  <a:pt x="1654188" y="6858000"/>
                </a:lnTo>
                <a:cubicBezTo>
                  <a:pt x="1530404" y="6786859"/>
                  <a:pt x="1412658" y="6701489"/>
                  <a:pt x="1279816" y="6658805"/>
                </a:cubicBezTo>
                <a:cubicBezTo>
                  <a:pt x="1189242" y="6630349"/>
                  <a:pt x="1101686" y="6580550"/>
                  <a:pt x="1116783" y="6431153"/>
                </a:cubicBezTo>
                <a:cubicBezTo>
                  <a:pt x="1119802" y="6388469"/>
                  <a:pt x="1095648" y="6356456"/>
                  <a:pt x="1059419" y="6367127"/>
                </a:cubicBezTo>
                <a:cubicBezTo>
                  <a:pt x="989979" y="6388469"/>
                  <a:pt x="956768" y="6327999"/>
                  <a:pt x="917520" y="6281757"/>
                </a:cubicBezTo>
                <a:cubicBezTo>
                  <a:pt x="848079" y="6199945"/>
                  <a:pt x="781658" y="6114575"/>
                  <a:pt x="669950" y="6100347"/>
                </a:cubicBezTo>
                <a:cubicBezTo>
                  <a:pt x="691084" y="6036320"/>
                  <a:pt x="727312" y="6043434"/>
                  <a:pt x="760524" y="6057663"/>
                </a:cubicBezTo>
                <a:cubicBezTo>
                  <a:pt x="848079" y="6093234"/>
                  <a:pt x="935634" y="6132361"/>
                  <a:pt x="1023188" y="6167932"/>
                </a:cubicBezTo>
                <a:cubicBezTo>
                  <a:pt x="1080552" y="6189274"/>
                  <a:pt x="1137916" y="6221287"/>
                  <a:pt x="1213395" y="6196388"/>
                </a:cubicBezTo>
                <a:cubicBezTo>
                  <a:pt x="1146974" y="6068335"/>
                  <a:pt x="1035266" y="6043434"/>
                  <a:pt x="944692" y="6004307"/>
                </a:cubicBezTo>
                <a:cubicBezTo>
                  <a:pt x="832982" y="5954508"/>
                  <a:pt x="766562" y="5862025"/>
                  <a:pt x="685045" y="5755314"/>
                </a:cubicBezTo>
                <a:cubicBezTo>
                  <a:pt x="766562" y="5726858"/>
                  <a:pt x="817887" y="5805112"/>
                  <a:pt x="884310" y="5801555"/>
                </a:cubicBezTo>
                <a:cubicBezTo>
                  <a:pt x="887328" y="5790884"/>
                  <a:pt x="893366" y="5769542"/>
                  <a:pt x="893366" y="5769542"/>
                </a:cubicBezTo>
                <a:cubicBezTo>
                  <a:pt x="784676" y="5712629"/>
                  <a:pt x="736372" y="5605917"/>
                  <a:pt x="718256" y="5474306"/>
                </a:cubicBezTo>
                <a:cubicBezTo>
                  <a:pt x="712218" y="5406721"/>
                  <a:pt x="672970" y="5385379"/>
                  <a:pt x="633720" y="5353367"/>
                </a:cubicBezTo>
                <a:cubicBezTo>
                  <a:pt x="500878" y="5243097"/>
                  <a:pt x="358980" y="5143500"/>
                  <a:pt x="247270" y="4994104"/>
                </a:cubicBezTo>
                <a:cubicBezTo>
                  <a:pt x="377094" y="5011889"/>
                  <a:pt x="479744" y="5111487"/>
                  <a:pt x="615606" y="5154171"/>
                </a:cubicBezTo>
                <a:cubicBezTo>
                  <a:pt x="506917" y="4990547"/>
                  <a:pt x="365016" y="4905177"/>
                  <a:pt x="235194" y="4805580"/>
                </a:cubicBezTo>
                <a:cubicBezTo>
                  <a:pt x="174810" y="4759339"/>
                  <a:pt x="120468" y="4702425"/>
                  <a:pt x="51026" y="4677526"/>
                </a:cubicBezTo>
                <a:cubicBezTo>
                  <a:pt x="26873" y="4670412"/>
                  <a:pt x="-15396" y="4652628"/>
                  <a:pt x="5740" y="4602828"/>
                </a:cubicBezTo>
                <a:cubicBezTo>
                  <a:pt x="23854" y="4560144"/>
                  <a:pt x="57065" y="4574373"/>
                  <a:pt x="87257" y="4585042"/>
                </a:cubicBezTo>
                <a:cubicBezTo>
                  <a:pt x="159715" y="4613499"/>
                  <a:pt x="238213" y="4613499"/>
                  <a:pt x="337844" y="4613499"/>
                </a:cubicBezTo>
                <a:cubicBezTo>
                  <a:pt x="253310" y="4478331"/>
                  <a:pt x="99332" y="4521016"/>
                  <a:pt x="26873" y="4378734"/>
                </a:cubicBezTo>
                <a:cubicBezTo>
                  <a:pt x="117448" y="4353835"/>
                  <a:pt x="186888" y="4403633"/>
                  <a:pt x="259346" y="4414305"/>
                </a:cubicBezTo>
                <a:cubicBezTo>
                  <a:pt x="325769" y="4424975"/>
                  <a:pt x="340863" y="4400076"/>
                  <a:pt x="325769" y="4321821"/>
                </a:cubicBezTo>
                <a:cubicBezTo>
                  <a:pt x="301616" y="4200882"/>
                  <a:pt x="337844" y="4140411"/>
                  <a:pt x="434458" y="4172424"/>
                </a:cubicBezTo>
                <a:cubicBezTo>
                  <a:pt x="525031" y="4204438"/>
                  <a:pt x="534089" y="4158196"/>
                  <a:pt x="509936" y="4090612"/>
                </a:cubicBezTo>
                <a:cubicBezTo>
                  <a:pt x="473706" y="3991015"/>
                  <a:pt x="512954" y="3912759"/>
                  <a:pt x="540128" y="3827390"/>
                </a:cubicBezTo>
                <a:cubicBezTo>
                  <a:pt x="582395" y="3699337"/>
                  <a:pt x="564281" y="3635309"/>
                  <a:pt x="476725" y="3539269"/>
                </a:cubicBezTo>
                <a:cubicBezTo>
                  <a:pt x="425400" y="3485914"/>
                  <a:pt x="374074" y="3439672"/>
                  <a:pt x="301616" y="3393429"/>
                </a:cubicBezTo>
                <a:cubicBezTo>
                  <a:pt x="467668" y="3368530"/>
                  <a:pt x="295577" y="3283162"/>
                  <a:pt x="352940" y="3229805"/>
                </a:cubicBezTo>
                <a:cubicBezTo>
                  <a:pt x="470686" y="3208463"/>
                  <a:pt x="564281" y="3379202"/>
                  <a:pt x="724294" y="3329402"/>
                </a:cubicBezTo>
                <a:cubicBezTo>
                  <a:pt x="531070" y="3183563"/>
                  <a:pt x="313691" y="3137322"/>
                  <a:pt x="171792" y="2941684"/>
                </a:cubicBezTo>
                <a:cubicBezTo>
                  <a:pt x="205002" y="2899000"/>
                  <a:pt x="238213" y="2941684"/>
                  <a:pt x="265385" y="2923898"/>
                </a:cubicBezTo>
                <a:cubicBezTo>
                  <a:pt x="265385" y="2913227"/>
                  <a:pt x="582395" y="2980812"/>
                  <a:pt x="600510" y="2703362"/>
                </a:cubicBezTo>
                <a:cubicBezTo>
                  <a:pt x="606548" y="2703362"/>
                  <a:pt x="612587" y="2703362"/>
                  <a:pt x="618624" y="2692689"/>
                </a:cubicBezTo>
                <a:cubicBezTo>
                  <a:pt x="651834" y="2653563"/>
                  <a:pt x="621644" y="2561080"/>
                  <a:pt x="675988" y="2553965"/>
                </a:cubicBezTo>
                <a:cubicBezTo>
                  <a:pt x="736372" y="2546851"/>
                  <a:pt x="793735" y="2514837"/>
                  <a:pt x="857136" y="2532623"/>
                </a:cubicBezTo>
                <a:cubicBezTo>
                  <a:pt x="905443" y="2546851"/>
                  <a:pt x="956768" y="2564636"/>
                  <a:pt x="1008094" y="2564636"/>
                </a:cubicBezTo>
                <a:cubicBezTo>
                  <a:pt x="1062438" y="2564636"/>
                  <a:pt x="1137916" y="2685576"/>
                  <a:pt x="1171128" y="2525509"/>
                </a:cubicBezTo>
                <a:cubicBezTo>
                  <a:pt x="1171128" y="2518395"/>
                  <a:pt x="1264720" y="2536181"/>
                  <a:pt x="1316045" y="2543294"/>
                </a:cubicBezTo>
                <a:cubicBezTo>
                  <a:pt x="1358314" y="2550408"/>
                  <a:pt x="1409640" y="2582422"/>
                  <a:pt x="1439830" y="2518395"/>
                </a:cubicBezTo>
                <a:cubicBezTo>
                  <a:pt x="1454926" y="2479267"/>
                  <a:pt x="1382466" y="2408126"/>
                  <a:pt x="1319065" y="2401012"/>
                </a:cubicBezTo>
                <a:cubicBezTo>
                  <a:pt x="1261702" y="2393898"/>
                  <a:pt x="1204338" y="2386784"/>
                  <a:pt x="1149994" y="2401012"/>
                </a:cubicBezTo>
                <a:cubicBezTo>
                  <a:pt x="1083572" y="2418796"/>
                  <a:pt x="1047342" y="2390340"/>
                  <a:pt x="1029227" y="2326314"/>
                </a:cubicBezTo>
                <a:cubicBezTo>
                  <a:pt x="1008094" y="2258731"/>
                  <a:pt x="968844" y="2223159"/>
                  <a:pt x="914500" y="2191146"/>
                </a:cubicBezTo>
                <a:cubicBezTo>
                  <a:pt x="781658" y="2112891"/>
                  <a:pt x="654854" y="2020407"/>
                  <a:pt x="509936" y="1974165"/>
                </a:cubicBezTo>
                <a:cubicBezTo>
                  <a:pt x="482764" y="1967051"/>
                  <a:pt x="449553" y="1952823"/>
                  <a:pt x="437476" y="1892353"/>
                </a:cubicBezTo>
                <a:cubicBezTo>
                  <a:pt x="829964" y="1984836"/>
                  <a:pt x="1186222" y="2223159"/>
                  <a:pt x="1590788" y="2208931"/>
                </a:cubicBezTo>
                <a:cubicBezTo>
                  <a:pt x="1482098" y="2134233"/>
                  <a:pt x="1352276" y="2130676"/>
                  <a:pt x="1234528" y="2077320"/>
                </a:cubicBezTo>
                <a:cubicBezTo>
                  <a:pt x="1319065" y="2038192"/>
                  <a:pt x="1397562" y="2080877"/>
                  <a:pt x="1476060" y="2102219"/>
                </a:cubicBezTo>
                <a:cubicBezTo>
                  <a:pt x="1542482" y="2120004"/>
                  <a:pt x="1602864" y="2123562"/>
                  <a:pt x="1608902" y="2013292"/>
                </a:cubicBezTo>
                <a:cubicBezTo>
                  <a:pt x="1608902" y="2002622"/>
                  <a:pt x="1608902" y="1995507"/>
                  <a:pt x="1608902" y="1984836"/>
                </a:cubicBezTo>
                <a:cubicBezTo>
                  <a:pt x="1584749" y="1938595"/>
                  <a:pt x="1551538" y="1917252"/>
                  <a:pt x="1509271" y="1903025"/>
                </a:cubicBezTo>
                <a:cubicBezTo>
                  <a:pt x="1485118" y="1895910"/>
                  <a:pt x="1451907" y="1881683"/>
                  <a:pt x="1451907" y="1849668"/>
                </a:cubicBezTo>
                <a:cubicBezTo>
                  <a:pt x="1454926" y="1728729"/>
                  <a:pt x="1373409" y="1693158"/>
                  <a:pt x="1294912" y="1657587"/>
                </a:cubicBezTo>
                <a:cubicBezTo>
                  <a:pt x="1337180" y="1597117"/>
                  <a:pt x="1373409" y="1639802"/>
                  <a:pt x="1406620" y="1636245"/>
                </a:cubicBezTo>
                <a:cubicBezTo>
                  <a:pt x="1427754" y="1632688"/>
                  <a:pt x="1448887" y="1629132"/>
                  <a:pt x="1448887" y="1597117"/>
                </a:cubicBezTo>
                <a:cubicBezTo>
                  <a:pt x="1448887" y="1572219"/>
                  <a:pt x="1439830" y="1540204"/>
                  <a:pt x="1418696" y="1540204"/>
                </a:cubicBezTo>
                <a:cubicBezTo>
                  <a:pt x="1285854" y="1536647"/>
                  <a:pt x="1210375" y="1365909"/>
                  <a:pt x="1071494" y="1365909"/>
                </a:cubicBezTo>
                <a:cubicBezTo>
                  <a:pt x="986960" y="1365909"/>
                  <a:pt x="1113764" y="1269868"/>
                  <a:pt x="1044324" y="1230741"/>
                </a:cubicBezTo>
                <a:cubicBezTo>
                  <a:pt x="1029227" y="1220069"/>
                  <a:pt x="1086591" y="1205842"/>
                  <a:pt x="1110744" y="1209399"/>
                </a:cubicBezTo>
                <a:cubicBezTo>
                  <a:pt x="1134897" y="1212955"/>
                  <a:pt x="1156032" y="1237855"/>
                  <a:pt x="1186222" y="1220069"/>
                </a:cubicBezTo>
                <a:cubicBezTo>
                  <a:pt x="1201318" y="1156043"/>
                  <a:pt x="1162069" y="1131144"/>
                  <a:pt x="1125840" y="1113358"/>
                </a:cubicBezTo>
                <a:cubicBezTo>
                  <a:pt x="1047342" y="1070674"/>
                  <a:pt x="968844" y="1020875"/>
                  <a:pt x="881290" y="1006647"/>
                </a:cubicBezTo>
                <a:cubicBezTo>
                  <a:pt x="851099" y="1003089"/>
                  <a:pt x="832982" y="985305"/>
                  <a:pt x="836002" y="949734"/>
                </a:cubicBezTo>
                <a:cubicBezTo>
                  <a:pt x="842040" y="903491"/>
                  <a:pt x="872232" y="917720"/>
                  <a:pt x="896385" y="921277"/>
                </a:cubicBezTo>
                <a:cubicBezTo>
                  <a:pt x="911482" y="924835"/>
                  <a:pt x="926577" y="935506"/>
                  <a:pt x="941672" y="910606"/>
                </a:cubicBezTo>
                <a:cubicBezTo>
                  <a:pt x="588434" y="658055"/>
                  <a:pt x="401247" y="672284"/>
                  <a:pt x="5740" y="465975"/>
                </a:cubicBezTo>
                <a:cubicBezTo>
                  <a:pt x="93294" y="426847"/>
                  <a:pt x="156696" y="455303"/>
                  <a:pt x="217079" y="462417"/>
                </a:cubicBezTo>
                <a:cubicBezTo>
                  <a:pt x="368036" y="480203"/>
                  <a:pt x="274442" y="512216"/>
                  <a:pt x="425400" y="533558"/>
                </a:cubicBezTo>
                <a:cubicBezTo>
                  <a:pt x="497860" y="544229"/>
                  <a:pt x="564281" y="579800"/>
                  <a:pt x="645798" y="522887"/>
                </a:cubicBezTo>
                <a:cubicBezTo>
                  <a:pt x="700142" y="483759"/>
                  <a:pt x="787696" y="526444"/>
                  <a:pt x="854118" y="558458"/>
                </a:cubicBezTo>
                <a:cubicBezTo>
                  <a:pt x="908462" y="586915"/>
                  <a:pt x="962806" y="594028"/>
                  <a:pt x="1035266" y="558458"/>
                </a:cubicBezTo>
                <a:cubicBezTo>
                  <a:pt x="968844" y="537116"/>
                  <a:pt x="917520" y="519330"/>
                  <a:pt x="866193" y="505101"/>
                </a:cubicBezTo>
                <a:cubicBezTo>
                  <a:pt x="823926" y="494431"/>
                  <a:pt x="799772" y="469532"/>
                  <a:pt x="802792" y="416176"/>
                </a:cubicBezTo>
                <a:cubicBezTo>
                  <a:pt x="802792" y="387720"/>
                  <a:pt x="793735" y="348592"/>
                  <a:pt x="823926" y="334364"/>
                </a:cubicBezTo>
                <a:cubicBezTo>
                  <a:pt x="848079" y="320135"/>
                  <a:pt x="881290" y="334364"/>
                  <a:pt x="893366" y="359262"/>
                </a:cubicBezTo>
                <a:cubicBezTo>
                  <a:pt x="908462" y="405504"/>
                  <a:pt x="923557" y="448189"/>
                  <a:pt x="974883" y="451747"/>
                </a:cubicBezTo>
                <a:cubicBezTo>
                  <a:pt x="1044324" y="458860"/>
                  <a:pt x="1005074" y="430405"/>
                  <a:pt x="992998" y="394834"/>
                </a:cubicBezTo>
                <a:cubicBezTo>
                  <a:pt x="980921" y="355706"/>
                  <a:pt x="1017152" y="345034"/>
                  <a:pt x="1041304" y="352148"/>
                </a:cubicBezTo>
                <a:cubicBezTo>
                  <a:pt x="1131878" y="384162"/>
                  <a:pt x="1225472" y="327250"/>
                  <a:pt x="1319065" y="373491"/>
                </a:cubicBezTo>
                <a:cubicBezTo>
                  <a:pt x="1294912" y="259665"/>
                  <a:pt x="1243586" y="209867"/>
                  <a:pt x="1134897" y="192082"/>
                </a:cubicBezTo>
                <a:cubicBezTo>
                  <a:pt x="1095648" y="188525"/>
                  <a:pt x="1053380" y="195638"/>
                  <a:pt x="1017152" y="163625"/>
                </a:cubicBezTo>
                <a:cubicBezTo>
                  <a:pt x="996016" y="145839"/>
                  <a:pt x="974883" y="124497"/>
                  <a:pt x="989979" y="88927"/>
                </a:cubicBezTo>
                <a:cubicBezTo>
                  <a:pt x="999036" y="64027"/>
                  <a:pt x="1023188" y="64027"/>
                  <a:pt x="1044324" y="71141"/>
                </a:cubicBezTo>
                <a:cubicBezTo>
                  <a:pt x="1131878" y="110269"/>
                  <a:pt x="1225472" y="120941"/>
                  <a:pt x="1316045" y="135168"/>
                </a:cubicBezTo>
                <a:cubicBezTo>
                  <a:pt x="1331142" y="138725"/>
                  <a:pt x="1346237" y="145839"/>
                  <a:pt x="1361334" y="110269"/>
                </a:cubicBezTo>
                <a:cubicBezTo>
                  <a:pt x="1255664" y="78255"/>
                  <a:pt x="1153012" y="35571"/>
                  <a:pt x="1047342" y="0"/>
                </a:cubicBezTo>
                <a:close/>
              </a:path>
            </a:pathLst>
          </a:custGeom>
        </p:spPr>
      </p:pic>
      <p:sp>
        <p:nvSpPr>
          <p:cNvPr id="59" name="QuestionBand">
            <a:extLst>
              <a:ext uri="{FF2B5EF4-FFF2-40B4-BE49-F238E27FC236}">
                <a16:creationId xmlns:a16="http://schemas.microsoft.com/office/drawing/2014/main" id="{135D24A5-A5A3-4D2E-B31E-33567BA12FEE}"/>
              </a:ext>
            </a:extLst>
          </p:cNvPr>
          <p:cNvSpPr/>
          <p:nvPr/>
        </p:nvSpPr>
        <p:spPr>
          <a:xfrm>
            <a:off x="0" y="4064000"/>
            <a:ext cx="5334000" cy="1079500"/>
          </a:xfrm>
          <a:prstGeom prst="rect">
            <a:avLst/>
          </a:prstGeom>
          <a:solidFill>
            <a:srgbClr val="0A1628">
              <a:alpha val="75000"/>
            </a:srgbClr>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60" name="QuestionAccent">
            <a:extLst>
              <a:ext uri="{FF2B5EF4-FFF2-40B4-BE49-F238E27FC236}">
                <a16:creationId xmlns:a16="http://schemas.microsoft.com/office/drawing/2014/main" id="{ED6B17F0-B601-4967-89F9-9C6366B7356D}"/>
              </a:ext>
            </a:extLst>
          </p:cNvPr>
          <p:cNvSpPr/>
          <p:nvPr/>
        </p:nvSpPr>
        <p:spPr>
          <a:xfrm>
            <a:off x="0" y="4064000"/>
            <a:ext cx="1016000" cy="38100"/>
          </a:xfrm>
          <a:prstGeom prst="rect">
            <a:avLst/>
          </a:prstGeom>
          <a:solidFill>
            <a:srgbClr val="FFB84D"/>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61" name="Eyebrow">
            <a:extLst>
              <a:ext uri="{FF2B5EF4-FFF2-40B4-BE49-F238E27FC236}">
                <a16:creationId xmlns:a16="http://schemas.microsoft.com/office/drawing/2014/main" id="{E1200CAC-FDFF-46D7-97D7-C70F0C316A95}"/>
              </a:ext>
            </a:extLst>
          </p:cNvPr>
          <p:cNvSpPr txBox="1"/>
          <p:nvPr/>
        </p:nvSpPr>
        <p:spPr>
          <a:xfrm>
            <a:off x="304800" y="4191000"/>
            <a:ext cx="4826000" cy="203200"/>
          </a:xfrm>
          <a:prstGeom prst="rect">
            <a:avLst/>
          </a:prstGeom>
          <a:noFill/>
        </p:spPr>
        <p:txBody>
          <a:bodyPr vertOverflow="overflow" vert="horz" wrap="square" rtlCol="0" anchor="t">
            <a:spAutoFit/>
          </a:bodyPr>
          <a:lstStyle/>
          <a:p>
            <a:pPr algn="l"/>
            <a:r>
              <a:rPr lang="en-GB" sz="900" b="1">
                <a:solidFill>
                  <a:srgbClr val="FFB84D"/>
                </a:solidFill>
                <a:latin typeface="Calibri"/>
                <a:ea typeface="Calibri"/>
                <a:cs typeface="Calibri"/>
              </a:rPr>
              <a:t>THE UNSEEN BATTLE</a:t>
            </a:r>
          </a:p>
        </p:txBody>
      </p:sp>
      <p:sp>
        <p:nvSpPr>
          <p:cNvPr id="62" name="LeadQuestion">
            <a:extLst>
              <a:ext uri="{FF2B5EF4-FFF2-40B4-BE49-F238E27FC236}">
                <a16:creationId xmlns:a16="http://schemas.microsoft.com/office/drawing/2014/main" id="{B60365DF-183C-4EFC-8761-C059A28B739E}"/>
              </a:ext>
            </a:extLst>
          </p:cNvPr>
          <p:cNvSpPr txBox="1"/>
          <p:nvPr/>
        </p:nvSpPr>
        <p:spPr>
          <a:xfrm>
            <a:off x="304800" y="4445000"/>
            <a:ext cx="4953000" cy="584200"/>
          </a:xfrm>
          <a:prstGeom prst="rect">
            <a:avLst/>
          </a:prstGeom>
          <a:noFill/>
        </p:spPr>
        <p:txBody>
          <a:bodyPr vertOverflow="overflow" vert="horz" wrap="square" rtlCol="0" anchor="t">
            <a:spAutoFit/>
          </a:bodyPr>
          <a:lstStyle/>
          <a:p>
            <a:pPr algn="l"/>
            <a:r>
              <a:rPr lang="en-GB" b="1">
                <a:solidFill>
                  <a:srgbClr val="FFFFFF"/>
                </a:solidFill>
                <a:latin typeface="Calibri"/>
                <a:ea typeface="Calibri"/>
                <a:cs typeface="Calibri"/>
              </a:rPr>
              <a:t>While Britain sleeps, who keeps 20,000 miles of railway alive?</a:t>
            </a:r>
          </a:p>
        </p:txBody>
      </p:sp>
      <p:sp>
        <p:nvSpPr>
          <p:cNvPr id="63" name="Pill_1">
            <a:extLst>
              <a:ext uri="{FF2B5EF4-FFF2-40B4-BE49-F238E27FC236}">
                <a16:creationId xmlns:a16="http://schemas.microsoft.com/office/drawing/2014/main" id="{46220B14-0D5C-4C37-911D-F010985383C2}"/>
              </a:ext>
            </a:extLst>
          </p:cNvPr>
          <p:cNvSpPr/>
          <p:nvPr/>
        </p:nvSpPr>
        <p:spPr>
          <a:xfrm>
            <a:off x="6414643" y="2215411"/>
            <a:ext cx="2540000" cy="508000"/>
          </a:xfrm>
          <a:prstGeom prst="roundRect">
            <a:avLst/>
          </a:prstGeom>
          <a:solidFill>
            <a:srgbClr val="0A1628">
              <a:alpha val="84706"/>
              <a:alpha val="100000"/>
            </a:srgbClr>
          </a:solidFill>
          <a:ln w="9525" cap="flat" cmpd="sng" algn="ctr">
            <a:solidFill>
              <a:srgbClr val="FFB84D"/>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64" name="PillNum_1">
            <a:extLst>
              <a:ext uri="{FF2B5EF4-FFF2-40B4-BE49-F238E27FC236}">
                <a16:creationId xmlns:a16="http://schemas.microsoft.com/office/drawing/2014/main" id="{487ABE88-441D-4CE5-88A0-68597D69328E}"/>
              </a:ext>
            </a:extLst>
          </p:cNvPr>
          <p:cNvSpPr txBox="1"/>
          <p:nvPr/>
        </p:nvSpPr>
        <p:spPr>
          <a:xfrm>
            <a:off x="6541643" y="2291611"/>
            <a:ext cx="965200" cy="355600"/>
          </a:xfrm>
          <a:prstGeom prst="rect">
            <a:avLst/>
          </a:prstGeom>
          <a:noFill/>
        </p:spPr>
        <p:txBody>
          <a:bodyPr vertOverflow="overflow" vert="horz" wrap="square" rtlCol="0" anchor="ctr" anchorCtr="0">
            <a:spAutoFit/>
          </a:bodyPr>
          <a:lstStyle/>
          <a:p>
            <a:pPr algn="l"/>
            <a:r>
              <a:rPr lang="en-GB" sz="1700" b="1">
                <a:solidFill>
                  <a:srgbClr val="FFFFFF"/>
                </a:solidFill>
                <a:latin typeface="Calibri"/>
                <a:ea typeface="Calibri"/>
                <a:cs typeface="Calibri"/>
              </a:rPr>
              <a:t>20,000</a:t>
            </a:r>
          </a:p>
        </p:txBody>
      </p:sp>
      <p:sp>
        <p:nvSpPr>
          <p:cNvPr id="65" name="PillUnit_1">
            <a:extLst>
              <a:ext uri="{FF2B5EF4-FFF2-40B4-BE49-F238E27FC236}">
                <a16:creationId xmlns:a16="http://schemas.microsoft.com/office/drawing/2014/main" id="{048AD153-7C02-49C5-8D6F-F82269D4E0EA}"/>
              </a:ext>
            </a:extLst>
          </p:cNvPr>
          <p:cNvSpPr txBox="1"/>
          <p:nvPr/>
        </p:nvSpPr>
        <p:spPr>
          <a:xfrm>
            <a:off x="7532243" y="2342411"/>
            <a:ext cx="508000" cy="152400"/>
          </a:xfrm>
          <a:prstGeom prst="rect">
            <a:avLst/>
          </a:prstGeom>
          <a:noFill/>
        </p:spPr>
        <p:txBody>
          <a:bodyPr vertOverflow="overflow" vert="horz" wrap="square" rtlCol="0" anchor="t">
            <a:spAutoFit/>
          </a:bodyPr>
          <a:lstStyle/>
          <a:p>
            <a:pPr algn="l"/>
            <a:r>
              <a:rPr lang="en-GB" sz="800" b="1">
                <a:solidFill>
                  <a:srgbClr val="FFB84D"/>
                </a:solidFill>
                <a:latin typeface="Calibri"/>
                <a:ea typeface="Calibri"/>
                <a:cs typeface="Calibri"/>
              </a:rPr>
              <a:t>miles</a:t>
            </a:r>
          </a:p>
        </p:txBody>
      </p:sp>
      <p:sp>
        <p:nvSpPr>
          <p:cNvPr id="66" name="PillCap_1">
            <a:extLst>
              <a:ext uri="{FF2B5EF4-FFF2-40B4-BE49-F238E27FC236}">
                <a16:creationId xmlns:a16="http://schemas.microsoft.com/office/drawing/2014/main" id="{0CDA149E-954A-4402-87CD-20FBF692EF1D}"/>
              </a:ext>
            </a:extLst>
          </p:cNvPr>
          <p:cNvSpPr txBox="1"/>
          <p:nvPr/>
        </p:nvSpPr>
        <p:spPr>
          <a:xfrm>
            <a:off x="7532243" y="2494811"/>
            <a:ext cx="1333500" cy="177800"/>
          </a:xfrm>
          <a:prstGeom prst="rect">
            <a:avLst/>
          </a:prstGeom>
          <a:noFill/>
        </p:spPr>
        <p:txBody>
          <a:bodyPr vertOverflow="overflow" vert="horz" wrap="square" rtlCol="0" anchor="t">
            <a:spAutoFit/>
          </a:bodyPr>
          <a:lstStyle/>
          <a:p>
            <a:pPr algn="l"/>
            <a:r>
              <a:rPr lang="en-GB" sz="800" dirty="0">
                <a:solidFill>
                  <a:srgbClr val="E8EEF5"/>
                </a:solidFill>
                <a:latin typeface="Calibri"/>
                <a:ea typeface="Calibri"/>
                <a:cs typeface="Calibri"/>
              </a:rPr>
              <a:t>of track maintained</a:t>
            </a:r>
          </a:p>
        </p:txBody>
      </p:sp>
      <p:sp>
        <p:nvSpPr>
          <p:cNvPr id="67" name="Pill_2">
            <a:extLst>
              <a:ext uri="{FF2B5EF4-FFF2-40B4-BE49-F238E27FC236}">
                <a16:creationId xmlns:a16="http://schemas.microsoft.com/office/drawing/2014/main" id="{47F2BEB5-D9F7-4250-ABAA-102A04C73CEB}"/>
              </a:ext>
            </a:extLst>
          </p:cNvPr>
          <p:cNvSpPr/>
          <p:nvPr/>
        </p:nvSpPr>
        <p:spPr>
          <a:xfrm>
            <a:off x="6411214" y="2802860"/>
            <a:ext cx="2540000" cy="508000"/>
          </a:xfrm>
          <a:prstGeom prst="roundRect">
            <a:avLst/>
          </a:prstGeom>
          <a:solidFill>
            <a:srgbClr val="0A1628">
              <a:alpha val="84706"/>
              <a:alpha val="100000"/>
            </a:srgbClr>
          </a:solidFill>
          <a:ln w="9525" cap="flat" cmpd="sng" algn="ctr">
            <a:solidFill>
              <a:srgbClr val="FFB84D"/>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68" name="PillNum_2">
            <a:extLst>
              <a:ext uri="{FF2B5EF4-FFF2-40B4-BE49-F238E27FC236}">
                <a16:creationId xmlns:a16="http://schemas.microsoft.com/office/drawing/2014/main" id="{ACEE3B78-2312-437E-BD0C-2F543B4EF8F6}"/>
              </a:ext>
            </a:extLst>
          </p:cNvPr>
          <p:cNvSpPr txBox="1"/>
          <p:nvPr/>
        </p:nvSpPr>
        <p:spPr>
          <a:xfrm>
            <a:off x="6538214" y="2879060"/>
            <a:ext cx="965200" cy="355600"/>
          </a:xfrm>
          <a:prstGeom prst="rect">
            <a:avLst/>
          </a:prstGeom>
          <a:noFill/>
        </p:spPr>
        <p:txBody>
          <a:bodyPr vertOverflow="overflow" vert="horz" wrap="square" rtlCol="0" anchor="ctr" anchorCtr="0">
            <a:spAutoFit/>
          </a:bodyPr>
          <a:lstStyle/>
          <a:p>
            <a:pPr algn="l"/>
            <a:r>
              <a:rPr lang="en-GB" sz="1700" b="1" dirty="0">
                <a:solidFill>
                  <a:srgbClr val="FFFFFF"/>
                </a:solidFill>
                <a:latin typeface="Calibri"/>
                <a:ea typeface="Calibri"/>
                <a:cs typeface="Calibri"/>
              </a:rPr>
              <a:t>£1.2M</a:t>
            </a:r>
          </a:p>
        </p:txBody>
      </p:sp>
      <p:sp>
        <p:nvSpPr>
          <p:cNvPr id="69" name="PillUnit_2">
            <a:extLst>
              <a:ext uri="{FF2B5EF4-FFF2-40B4-BE49-F238E27FC236}">
                <a16:creationId xmlns:a16="http://schemas.microsoft.com/office/drawing/2014/main" id="{F832C998-6B0A-471B-8D4F-7989DFD425DE}"/>
              </a:ext>
            </a:extLst>
          </p:cNvPr>
          <p:cNvSpPr txBox="1"/>
          <p:nvPr/>
        </p:nvSpPr>
        <p:spPr>
          <a:xfrm>
            <a:off x="7528814" y="2929860"/>
            <a:ext cx="508000" cy="152400"/>
          </a:xfrm>
          <a:prstGeom prst="rect">
            <a:avLst/>
          </a:prstGeom>
          <a:noFill/>
        </p:spPr>
        <p:txBody>
          <a:bodyPr vertOverflow="overflow" vert="horz" wrap="square" rtlCol="0" anchor="t">
            <a:spAutoFit/>
          </a:bodyPr>
          <a:lstStyle/>
          <a:p>
            <a:pPr algn="l"/>
            <a:r>
              <a:rPr lang="en-GB" sz="800" b="1">
                <a:solidFill>
                  <a:srgbClr val="FFB84D"/>
                </a:solidFill>
                <a:latin typeface="Calibri"/>
                <a:ea typeface="Calibri"/>
                <a:cs typeface="Calibri"/>
              </a:rPr>
              <a:t>/hour</a:t>
            </a:r>
          </a:p>
        </p:txBody>
      </p:sp>
      <p:sp>
        <p:nvSpPr>
          <p:cNvPr id="70" name="PillCap_2">
            <a:extLst>
              <a:ext uri="{FF2B5EF4-FFF2-40B4-BE49-F238E27FC236}">
                <a16:creationId xmlns:a16="http://schemas.microsoft.com/office/drawing/2014/main" id="{D2B05919-1E2C-4DD5-A90A-3CC54784B949}"/>
              </a:ext>
            </a:extLst>
          </p:cNvPr>
          <p:cNvSpPr txBox="1"/>
          <p:nvPr/>
        </p:nvSpPr>
        <p:spPr>
          <a:xfrm>
            <a:off x="7528814" y="3082260"/>
            <a:ext cx="1333500" cy="177800"/>
          </a:xfrm>
          <a:prstGeom prst="rect">
            <a:avLst/>
          </a:prstGeom>
          <a:noFill/>
        </p:spPr>
        <p:txBody>
          <a:bodyPr vertOverflow="overflow" vert="horz" wrap="square" rtlCol="0" anchor="t">
            <a:spAutoFit/>
          </a:bodyPr>
          <a:lstStyle/>
          <a:p>
            <a:pPr algn="l"/>
            <a:r>
              <a:rPr lang="en-GB" sz="800">
                <a:solidFill>
                  <a:srgbClr val="E8EEF5"/>
                </a:solidFill>
                <a:latin typeface="Calibri"/>
                <a:ea typeface="Calibri"/>
                <a:cs typeface="Calibri"/>
              </a:rPr>
              <a:t>peak disruption cost</a:t>
            </a:r>
          </a:p>
        </p:txBody>
      </p:sp>
      <p:sp>
        <p:nvSpPr>
          <p:cNvPr id="71" name="Pill_3">
            <a:extLst>
              <a:ext uri="{FF2B5EF4-FFF2-40B4-BE49-F238E27FC236}">
                <a16:creationId xmlns:a16="http://schemas.microsoft.com/office/drawing/2014/main" id="{C873F8E9-8A44-41D2-B122-7C0FC44006EA}"/>
              </a:ext>
            </a:extLst>
          </p:cNvPr>
          <p:cNvSpPr/>
          <p:nvPr/>
        </p:nvSpPr>
        <p:spPr>
          <a:xfrm>
            <a:off x="6411214" y="3374360"/>
            <a:ext cx="2540000" cy="508000"/>
          </a:xfrm>
          <a:prstGeom prst="roundRect">
            <a:avLst/>
          </a:prstGeom>
          <a:solidFill>
            <a:srgbClr val="0A1628">
              <a:alpha val="84706"/>
              <a:alpha val="100000"/>
            </a:srgbClr>
          </a:solidFill>
          <a:ln w="9525" cap="flat" cmpd="sng" algn="ctr">
            <a:solidFill>
              <a:srgbClr val="FFB84D"/>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72" name="PillNum_3">
            <a:extLst>
              <a:ext uri="{FF2B5EF4-FFF2-40B4-BE49-F238E27FC236}">
                <a16:creationId xmlns:a16="http://schemas.microsoft.com/office/drawing/2014/main" id="{C2D06F74-7F64-4372-B7E8-3AC30A6056AC}"/>
              </a:ext>
            </a:extLst>
          </p:cNvPr>
          <p:cNvSpPr txBox="1"/>
          <p:nvPr/>
        </p:nvSpPr>
        <p:spPr>
          <a:xfrm>
            <a:off x="6538214" y="3450560"/>
            <a:ext cx="965200" cy="355600"/>
          </a:xfrm>
          <a:prstGeom prst="rect">
            <a:avLst/>
          </a:prstGeom>
          <a:noFill/>
        </p:spPr>
        <p:txBody>
          <a:bodyPr vertOverflow="overflow" vert="horz" wrap="square" rtlCol="0" anchor="ctr" anchorCtr="0">
            <a:spAutoFit/>
          </a:bodyPr>
          <a:lstStyle/>
          <a:p>
            <a:pPr algn="l"/>
            <a:r>
              <a:rPr lang="en-GB" sz="1700" b="1">
                <a:solidFill>
                  <a:srgbClr val="FFFFFF"/>
                </a:solidFill>
                <a:latin typeface="Calibri"/>
                <a:ea typeface="Calibri"/>
                <a:cs typeface="Calibri"/>
              </a:rPr>
              <a:t>113</a:t>
            </a:r>
          </a:p>
        </p:txBody>
      </p:sp>
      <p:sp>
        <p:nvSpPr>
          <p:cNvPr id="73" name="PillUnit_3">
            <a:extLst>
              <a:ext uri="{FF2B5EF4-FFF2-40B4-BE49-F238E27FC236}">
                <a16:creationId xmlns:a16="http://schemas.microsoft.com/office/drawing/2014/main" id="{5141F1F5-49B7-455B-A782-13FA9F2EA890}"/>
              </a:ext>
            </a:extLst>
          </p:cNvPr>
          <p:cNvSpPr txBox="1"/>
          <p:nvPr/>
        </p:nvSpPr>
        <p:spPr>
          <a:xfrm>
            <a:off x="7528814" y="3501360"/>
            <a:ext cx="508000" cy="152400"/>
          </a:xfrm>
          <a:prstGeom prst="rect">
            <a:avLst/>
          </a:prstGeom>
          <a:noFill/>
        </p:spPr>
        <p:txBody>
          <a:bodyPr vertOverflow="overflow" vert="horz" wrap="square" rtlCol="0" anchor="t">
            <a:spAutoFit/>
          </a:bodyPr>
          <a:lstStyle/>
          <a:p>
            <a:pPr algn="l"/>
            <a:r>
              <a:rPr lang="en-GB" sz="800" b="1">
                <a:solidFill>
                  <a:srgbClr val="FFB84D"/>
                </a:solidFill>
                <a:latin typeface="Calibri"/>
                <a:ea typeface="Calibri"/>
                <a:cs typeface="Calibri"/>
              </a:rPr>
              <a:t>yrs</a:t>
            </a:r>
          </a:p>
        </p:txBody>
      </p:sp>
      <p:sp>
        <p:nvSpPr>
          <p:cNvPr id="74" name="PillCap_3">
            <a:extLst>
              <a:ext uri="{FF2B5EF4-FFF2-40B4-BE49-F238E27FC236}">
                <a16:creationId xmlns:a16="http://schemas.microsoft.com/office/drawing/2014/main" id="{98CB30ED-86F3-4754-9C0F-BE8758A61E77}"/>
              </a:ext>
            </a:extLst>
          </p:cNvPr>
          <p:cNvSpPr txBox="1"/>
          <p:nvPr/>
        </p:nvSpPr>
        <p:spPr>
          <a:xfrm>
            <a:off x="7528814" y="3653760"/>
            <a:ext cx="1333500" cy="177800"/>
          </a:xfrm>
          <a:prstGeom prst="rect">
            <a:avLst/>
          </a:prstGeom>
          <a:noFill/>
        </p:spPr>
        <p:txBody>
          <a:bodyPr vertOverflow="overflow" vert="horz" wrap="square" rtlCol="0" anchor="t">
            <a:spAutoFit/>
          </a:bodyPr>
          <a:lstStyle/>
          <a:p>
            <a:pPr algn="l"/>
            <a:r>
              <a:rPr lang="en-GB" sz="800" dirty="0">
                <a:solidFill>
                  <a:srgbClr val="E8EEF5"/>
                </a:solidFill>
                <a:latin typeface="Calibri"/>
                <a:ea typeface="Calibri"/>
                <a:cs typeface="Calibri"/>
              </a:rPr>
              <a:t>oldest live structure</a:t>
            </a:r>
          </a:p>
        </p:txBody>
      </p:sp>
      <p:sp>
        <p:nvSpPr>
          <p:cNvPr id="75" name="Pill_4">
            <a:extLst>
              <a:ext uri="{FF2B5EF4-FFF2-40B4-BE49-F238E27FC236}">
                <a16:creationId xmlns:a16="http://schemas.microsoft.com/office/drawing/2014/main" id="{0BB97E69-7118-4F10-B99A-6D02317E15E2}"/>
              </a:ext>
            </a:extLst>
          </p:cNvPr>
          <p:cNvSpPr/>
          <p:nvPr/>
        </p:nvSpPr>
        <p:spPr>
          <a:xfrm>
            <a:off x="6411214" y="3956788"/>
            <a:ext cx="2540000" cy="508000"/>
          </a:xfrm>
          <a:prstGeom prst="roundRect">
            <a:avLst/>
          </a:prstGeom>
          <a:solidFill>
            <a:srgbClr val="0A1628">
              <a:alpha val="84706"/>
              <a:alpha val="100000"/>
            </a:srgbClr>
          </a:solidFill>
          <a:ln w="9525" cap="flat" cmpd="sng" algn="ctr">
            <a:solidFill>
              <a:srgbClr val="FFB84D"/>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76" name="PillNum_4">
            <a:extLst>
              <a:ext uri="{FF2B5EF4-FFF2-40B4-BE49-F238E27FC236}">
                <a16:creationId xmlns:a16="http://schemas.microsoft.com/office/drawing/2014/main" id="{9105C28D-E210-4A9A-9491-5B74BAA1AEA9}"/>
              </a:ext>
            </a:extLst>
          </p:cNvPr>
          <p:cNvSpPr txBox="1"/>
          <p:nvPr/>
        </p:nvSpPr>
        <p:spPr>
          <a:xfrm>
            <a:off x="6538214" y="4032988"/>
            <a:ext cx="965200" cy="355600"/>
          </a:xfrm>
          <a:prstGeom prst="rect">
            <a:avLst/>
          </a:prstGeom>
          <a:noFill/>
        </p:spPr>
        <p:txBody>
          <a:bodyPr vertOverflow="overflow" vert="horz" wrap="square" rtlCol="0" anchor="ctr" anchorCtr="0">
            <a:spAutoFit/>
          </a:bodyPr>
          <a:lstStyle/>
          <a:p>
            <a:pPr algn="l"/>
            <a:r>
              <a:rPr lang="en-GB" sz="1700" b="1" dirty="0">
                <a:solidFill>
                  <a:srgbClr val="FFFFFF"/>
                </a:solidFill>
                <a:latin typeface="Calibri"/>
                <a:ea typeface="Calibri"/>
                <a:cs typeface="Calibri"/>
              </a:rPr>
              <a:t>4.8M</a:t>
            </a:r>
          </a:p>
        </p:txBody>
      </p:sp>
      <p:sp>
        <p:nvSpPr>
          <p:cNvPr id="77" name="PillUnit_4">
            <a:extLst>
              <a:ext uri="{FF2B5EF4-FFF2-40B4-BE49-F238E27FC236}">
                <a16:creationId xmlns:a16="http://schemas.microsoft.com/office/drawing/2014/main" id="{D924E6CB-9EC9-4848-8DD7-174057C83A3D}"/>
              </a:ext>
            </a:extLst>
          </p:cNvPr>
          <p:cNvSpPr txBox="1"/>
          <p:nvPr/>
        </p:nvSpPr>
        <p:spPr>
          <a:xfrm>
            <a:off x="7528814" y="4083788"/>
            <a:ext cx="508000" cy="152400"/>
          </a:xfrm>
          <a:prstGeom prst="rect">
            <a:avLst/>
          </a:prstGeom>
          <a:noFill/>
        </p:spPr>
        <p:txBody>
          <a:bodyPr vertOverflow="overflow" vert="horz" wrap="square" rtlCol="0" anchor="t">
            <a:spAutoFit/>
          </a:bodyPr>
          <a:lstStyle/>
          <a:p>
            <a:pPr algn="l"/>
            <a:r>
              <a:rPr lang="en-GB" sz="800" b="1">
                <a:solidFill>
                  <a:srgbClr val="FFB84D"/>
                </a:solidFill>
                <a:latin typeface="Calibri"/>
                <a:ea typeface="Calibri"/>
                <a:cs typeface="Calibri"/>
              </a:rPr>
              <a:t>journeys</a:t>
            </a:r>
          </a:p>
        </p:txBody>
      </p:sp>
      <p:sp>
        <p:nvSpPr>
          <p:cNvPr id="78" name="PillCap_4">
            <a:extLst>
              <a:ext uri="{FF2B5EF4-FFF2-40B4-BE49-F238E27FC236}">
                <a16:creationId xmlns:a16="http://schemas.microsoft.com/office/drawing/2014/main" id="{8E8FC0A5-2083-4F56-B2FD-EE852C32E44C}"/>
              </a:ext>
            </a:extLst>
          </p:cNvPr>
          <p:cNvSpPr txBox="1"/>
          <p:nvPr/>
        </p:nvSpPr>
        <p:spPr>
          <a:xfrm>
            <a:off x="7528814" y="4236188"/>
            <a:ext cx="1333500" cy="215444"/>
          </a:xfrm>
          <a:prstGeom prst="rect">
            <a:avLst/>
          </a:prstGeom>
          <a:noFill/>
        </p:spPr>
        <p:txBody>
          <a:bodyPr vertOverflow="overflow" vert="horz" wrap="square" rtlCol="0" anchor="t">
            <a:spAutoFit/>
          </a:bodyPr>
          <a:lstStyle/>
          <a:p>
            <a:pPr algn="l"/>
            <a:r>
              <a:rPr lang="en-GB" sz="800" dirty="0">
                <a:solidFill>
                  <a:srgbClr val="E8EEF5"/>
                </a:solidFill>
                <a:latin typeface="Calibri"/>
                <a:ea typeface="Calibri"/>
                <a:cs typeface="Calibri"/>
              </a:rPr>
              <a:t>Carried every day</a:t>
            </a:r>
          </a:p>
        </p:txBody>
      </p:sp>
      <p:sp>
        <p:nvSpPr>
          <p:cNvPr id="80" name="HookBg">
            <a:extLst>
              <a:ext uri="{FF2B5EF4-FFF2-40B4-BE49-F238E27FC236}">
                <a16:creationId xmlns:a16="http://schemas.microsoft.com/office/drawing/2014/main" id="{0AB11B3E-D319-41C9-B19E-9ACC180C9CD5}"/>
              </a:ext>
            </a:extLst>
          </p:cNvPr>
          <p:cNvSpPr/>
          <p:nvPr/>
        </p:nvSpPr>
        <p:spPr>
          <a:xfrm>
            <a:off x="5778500" y="4762500"/>
            <a:ext cx="3276600" cy="317500"/>
          </a:xfrm>
          <a:prstGeom prst="rect">
            <a:avLst/>
          </a:prstGeom>
          <a:solidFill>
            <a:srgbClr val="0A1628">
              <a:alpha val="85000"/>
            </a:srgbClr>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79" name="TransitionHook">
            <a:extLst>
              <a:ext uri="{FF2B5EF4-FFF2-40B4-BE49-F238E27FC236}">
                <a16:creationId xmlns:a16="http://schemas.microsoft.com/office/drawing/2014/main" id="{744ADAAC-14FA-4476-A241-8D6EDF90ACB5}"/>
              </a:ext>
            </a:extLst>
          </p:cNvPr>
          <p:cNvSpPr txBox="1"/>
          <p:nvPr/>
        </p:nvSpPr>
        <p:spPr>
          <a:xfrm>
            <a:off x="5842000" y="4800600"/>
            <a:ext cx="3175000" cy="254000"/>
          </a:xfrm>
          <a:prstGeom prst="rect">
            <a:avLst/>
          </a:prstGeom>
          <a:noFill/>
        </p:spPr>
        <p:txBody>
          <a:bodyPr vertOverflow="overflow" vert="horz" wrap="square" rtlCol="0" anchor="t">
            <a:spAutoFit/>
          </a:bodyPr>
          <a:lstStyle/>
          <a:p>
            <a:pPr algn="l"/>
            <a:r>
              <a:rPr lang="en-GB" sz="1000" i="1" dirty="0">
                <a:solidFill>
                  <a:srgbClr val="FFB84D"/>
                </a:solidFill>
                <a:latin typeface="Calibri"/>
                <a:ea typeface="Calibri"/>
                <a:cs typeface="Calibri"/>
              </a:rPr>
              <a:t>So where does this battle begin…?</a:t>
            </a:r>
          </a:p>
        </p:txBody>
      </p:sp>
    </p:spTree>
    <p:extLst>
      <p:ext uri="{BB962C8B-B14F-4D97-AF65-F5344CB8AC3E}">
        <p14:creationId xmlns:p14="http://schemas.microsoft.com/office/powerpoint/2010/main" val="2574860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1217095-4DE9-D0A5-4DD3-F1A953A2136D}"/>
            </a:ext>
          </a:extLst>
        </p:cNvPr>
        <p:cNvGrpSpPr/>
        <p:nvPr/>
      </p:nvGrpSpPr>
      <p:grpSpPr>
        <a:xfrm>
          <a:off x="0" y="0"/>
          <a:ext cx="0" cy="0"/>
          <a:chOff x="0" y="0"/>
          <a:chExt cx="0" cy="0"/>
        </a:xfrm>
      </p:grpSpPr>
      <p:sp>
        <p:nvSpPr>
          <p:cNvPr id="13" name="Rectangle 12">
            <a:extLst>
              <a:ext uri="{FF2B5EF4-FFF2-40B4-BE49-F238E27FC236}">
                <a16:creationId xmlns:a16="http://schemas.microsoft.com/office/drawing/2014/main" id="{A9F529C3-C941-49FD-8C67-82F134F64BD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solidFill>
            <a:schemeClr val="tx1">
              <a:lumMod val="50000"/>
              <a:lumOff val="50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20586029-32A0-47E5-9AEC-AE3ABA6B94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57759" y="360045"/>
            <a:ext cx="8428482" cy="4423410"/>
          </a:xfrm>
          <a:prstGeom prst="rect">
            <a:avLst/>
          </a:prstGeom>
          <a:solidFill>
            <a:srgbClr val="FFFFFF"/>
          </a:solidFill>
          <a:ln w="9525">
            <a:noFill/>
          </a:ln>
          <a:effectLst>
            <a:outerShdw blurRad="63500" dist="17780" dir="5400000" algn="t" rotWithShape="0">
              <a:prstClr val="black">
                <a:alpha val="4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E73B2A10-B68A-9055-4EC0-8D11D3958948}"/>
              </a:ext>
            </a:extLst>
          </p:cNvPr>
          <p:cNvPicPr>
            <a:picLocks noChangeAspect="1"/>
          </p:cNvPicPr>
          <p:nvPr/>
        </p:nvPicPr>
        <p:blipFill>
          <a:blip r:embed="rId3"/>
          <a:srcRect l="15744" r="3495" b="2"/>
          <a:stretch>
            <a:fillRect/>
          </a:stretch>
        </p:blipFill>
        <p:spPr>
          <a:xfrm>
            <a:off x="508000" y="635000"/>
            <a:ext cx="3810000" cy="2222500"/>
          </a:xfrm>
          <a:prstGeom prst="rect">
            <a:avLst/>
          </a:prstGeom>
        </p:spPr>
      </p:pic>
      <p:pic>
        <p:nvPicPr>
          <p:cNvPr id="6148" name="Picture 4" descr="No alternative text description for this image">
            <a:extLst>
              <a:ext uri="{FF2B5EF4-FFF2-40B4-BE49-F238E27FC236}">
                <a16:creationId xmlns:a16="http://schemas.microsoft.com/office/drawing/2014/main" id="{4869396D-09E7-1FBF-9044-BDE554788FE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26000" y="635000"/>
            <a:ext cx="3810000" cy="2222500"/>
          </a:xfrm>
          <a:prstGeom prst="rect">
            <a:avLst/>
          </a:prstGeom>
          <a:noFill/>
          <a:extLst>
            <a:ext uri="{909E8E84-426E-40DD-AFC4-6F175D3DCCD1}">
              <a14:hiddenFill xmlns:a14="http://schemas.microsoft.com/office/drawing/2010/main">
                <a:solidFill>
                  <a:srgbClr val="FFFFFF"/>
                </a:solidFill>
              </a14:hiddenFill>
            </a:ext>
          </a:extLst>
        </p:spPr>
      </p:pic>
      <p:sp>
        <p:nvSpPr>
          <p:cNvPr id="47" name="Eyebrow">
            <a:extLst>
              <a:ext uri="{FF2B5EF4-FFF2-40B4-BE49-F238E27FC236}">
                <a16:creationId xmlns:a16="http://schemas.microsoft.com/office/drawing/2014/main" id="{BB1A0C93-78BD-49B3-B54E-CFD6C558CDE6}"/>
              </a:ext>
            </a:extLst>
          </p:cNvPr>
          <p:cNvSpPr txBox="1"/>
          <p:nvPr/>
        </p:nvSpPr>
        <p:spPr>
          <a:xfrm>
            <a:off x="508000" y="406400"/>
            <a:ext cx="5334000" cy="177800"/>
          </a:xfrm>
          <a:prstGeom prst="rect">
            <a:avLst/>
          </a:prstGeom>
          <a:noFill/>
        </p:spPr>
        <p:txBody>
          <a:bodyPr vertOverflow="overflow" vert="horz" wrap="square" rtlCol="0" anchor="t">
            <a:spAutoFit/>
          </a:bodyPr>
          <a:lstStyle/>
          <a:p>
            <a:pPr algn="l"/>
            <a:r>
              <a:rPr lang="en-GB" sz="900" b="1">
                <a:solidFill>
                  <a:srgbClr val="FFB84D"/>
                </a:solidFill>
                <a:latin typeface="Calibri"/>
                <a:ea typeface="Calibri"/>
                <a:cs typeface="Calibri"/>
              </a:rPr>
              <a:t>WHERE THE BATTLE BEGINS  ·  ASSET CONDITION</a:t>
            </a:r>
          </a:p>
        </p:txBody>
      </p:sp>
      <p:sp>
        <p:nvSpPr>
          <p:cNvPr id="50" name="LeftPhotoCap">
            <a:extLst>
              <a:ext uri="{FF2B5EF4-FFF2-40B4-BE49-F238E27FC236}">
                <a16:creationId xmlns:a16="http://schemas.microsoft.com/office/drawing/2014/main" id="{22E8C082-F442-4547-AEE4-ECD181504BD1}"/>
              </a:ext>
            </a:extLst>
          </p:cNvPr>
          <p:cNvSpPr txBox="1"/>
          <p:nvPr/>
        </p:nvSpPr>
        <p:spPr>
          <a:xfrm>
            <a:off x="508000" y="2870200"/>
            <a:ext cx="3810000" cy="152400"/>
          </a:xfrm>
          <a:prstGeom prst="rect">
            <a:avLst/>
          </a:prstGeom>
          <a:noFill/>
        </p:spPr>
        <p:txBody>
          <a:bodyPr vertOverflow="overflow" vert="horz" wrap="square" rtlCol="0" anchor="t">
            <a:spAutoFit/>
          </a:bodyPr>
          <a:lstStyle/>
          <a:p>
            <a:pPr algn="l"/>
            <a:r>
              <a:rPr lang="en-GB" sz="800" i="1">
                <a:solidFill>
                  <a:srgbClr val="6B7280"/>
                </a:solidFill>
                <a:latin typeface="Calibri"/>
                <a:ea typeface="Calibri"/>
                <a:cs typeface="Calibri"/>
              </a:rPr>
              <a:t>GROUND LEVEL  ·  what the worker sees</a:t>
            </a:r>
          </a:p>
        </p:txBody>
      </p:sp>
      <p:sp>
        <p:nvSpPr>
          <p:cNvPr id="51" name="RightPhotoCap">
            <a:extLst>
              <a:ext uri="{FF2B5EF4-FFF2-40B4-BE49-F238E27FC236}">
                <a16:creationId xmlns:a16="http://schemas.microsoft.com/office/drawing/2014/main" id="{DC269FD9-5867-4B7E-B187-85E927A94B97}"/>
              </a:ext>
            </a:extLst>
          </p:cNvPr>
          <p:cNvSpPr txBox="1"/>
          <p:nvPr/>
        </p:nvSpPr>
        <p:spPr>
          <a:xfrm>
            <a:off x="4826000" y="2870200"/>
            <a:ext cx="3810000" cy="152400"/>
          </a:xfrm>
          <a:prstGeom prst="rect">
            <a:avLst/>
          </a:prstGeom>
          <a:noFill/>
        </p:spPr>
        <p:txBody>
          <a:bodyPr vertOverflow="overflow" vert="horz" wrap="square" rtlCol="0" anchor="t">
            <a:spAutoFit/>
          </a:bodyPr>
          <a:lstStyle/>
          <a:p>
            <a:pPr algn="l"/>
            <a:r>
              <a:rPr lang="en-GB" sz="800" i="1">
                <a:solidFill>
                  <a:srgbClr val="6B7280"/>
                </a:solidFill>
                <a:latin typeface="Calibri"/>
                <a:ea typeface="Calibri"/>
                <a:cs typeface="Calibri"/>
              </a:rPr>
              <a:t>BIRD'S EYE  ·  what we need to cover</a:t>
            </a:r>
          </a:p>
        </p:txBody>
      </p:sp>
      <p:sp>
        <p:nvSpPr>
          <p:cNvPr id="52" name="SpeechBubble">
            <a:extLst>
              <a:ext uri="{FF2B5EF4-FFF2-40B4-BE49-F238E27FC236}">
                <a16:creationId xmlns:a16="http://schemas.microsoft.com/office/drawing/2014/main" id="{270F6E31-9338-4B8E-ACFE-E59146C45569}"/>
              </a:ext>
            </a:extLst>
          </p:cNvPr>
          <p:cNvSpPr/>
          <p:nvPr/>
        </p:nvSpPr>
        <p:spPr>
          <a:xfrm>
            <a:off x="508000" y="3098800"/>
            <a:ext cx="4064000" cy="1371600"/>
          </a:xfrm>
          <a:prstGeom prst="wedgeRectCallout">
            <a:avLst/>
          </a:prstGeom>
          <a:solidFill>
            <a:srgbClr val="0A1628"/>
          </a:solidFill>
          <a:ln w="19050" cap="flat" cmpd="sng" algn="ctr">
            <a:solidFill>
              <a:srgbClr val="FFB84D"/>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53" name="BubbleEyebrow">
            <a:extLst>
              <a:ext uri="{FF2B5EF4-FFF2-40B4-BE49-F238E27FC236}">
                <a16:creationId xmlns:a16="http://schemas.microsoft.com/office/drawing/2014/main" id="{64600297-BBE8-4EF9-ADBB-2B7B7187035A}"/>
              </a:ext>
            </a:extLst>
          </p:cNvPr>
          <p:cNvSpPr txBox="1"/>
          <p:nvPr/>
        </p:nvSpPr>
        <p:spPr>
          <a:xfrm>
            <a:off x="711200" y="3251200"/>
            <a:ext cx="3683000" cy="177800"/>
          </a:xfrm>
          <a:prstGeom prst="rect">
            <a:avLst/>
          </a:prstGeom>
          <a:noFill/>
        </p:spPr>
        <p:txBody>
          <a:bodyPr vertOverflow="overflow" vert="horz" wrap="square" rtlCol="0" anchor="t">
            <a:spAutoFit/>
          </a:bodyPr>
          <a:lstStyle/>
          <a:p>
            <a:pPr algn="l"/>
            <a:r>
              <a:rPr lang="en-GB" sz="900" b="1">
                <a:solidFill>
                  <a:srgbClr val="FFB84D"/>
                </a:solidFill>
                <a:latin typeface="Calibri"/>
                <a:ea typeface="Calibri"/>
                <a:cs typeface="Calibri"/>
              </a:rPr>
              <a:t>YOUR TURN — BRAINSTORM</a:t>
            </a:r>
          </a:p>
        </p:txBody>
      </p:sp>
      <p:sp>
        <p:nvSpPr>
          <p:cNvPr id="54" name="BubbleQuestion">
            <a:extLst>
              <a:ext uri="{FF2B5EF4-FFF2-40B4-BE49-F238E27FC236}">
                <a16:creationId xmlns:a16="http://schemas.microsoft.com/office/drawing/2014/main" id="{7BE43CD8-3CBC-4165-A6C3-A1C13862716E}"/>
              </a:ext>
            </a:extLst>
          </p:cNvPr>
          <p:cNvSpPr txBox="1"/>
          <p:nvPr/>
        </p:nvSpPr>
        <p:spPr>
          <a:xfrm>
            <a:off x="711200" y="3505200"/>
            <a:ext cx="3683000" cy="863600"/>
          </a:xfrm>
          <a:prstGeom prst="rect">
            <a:avLst/>
          </a:prstGeom>
          <a:noFill/>
        </p:spPr>
        <p:txBody>
          <a:bodyPr vertOverflow="overflow" vert="horz" wrap="square" rtlCol="0" anchor="t">
            <a:spAutoFit/>
          </a:bodyPr>
          <a:lstStyle/>
          <a:p>
            <a:pPr algn="l"/>
            <a:r>
              <a:rPr lang="en-GB" sz="1400" b="1">
                <a:solidFill>
                  <a:srgbClr val="FFFFFF"/>
                </a:solidFill>
                <a:latin typeface="Calibri"/>
                <a:ea typeface="Calibri"/>
                <a:cs typeface="Calibri"/>
              </a:rPr>
              <a:t>How would YOU inspect every inch of 134 stations — before any of it breaks?</a:t>
            </a:r>
          </a:p>
        </p:txBody>
      </p:sp>
      <p:sp>
        <p:nvSpPr>
          <p:cNvPr id="55" name="ScaleLabel">
            <a:extLst>
              <a:ext uri="{FF2B5EF4-FFF2-40B4-BE49-F238E27FC236}">
                <a16:creationId xmlns:a16="http://schemas.microsoft.com/office/drawing/2014/main" id="{82FADE3A-1266-4E1F-8D9C-04DE56FA5BE2}"/>
              </a:ext>
            </a:extLst>
          </p:cNvPr>
          <p:cNvSpPr txBox="1"/>
          <p:nvPr/>
        </p:nvSpPr>
        <p:spPr>
          <a:xfrm>
            <a:off x="4826000" y="3098800"/>
            <a:ext cx="1841500" cy="152400"/>
          </a:xfrm>
          <a:prstGeom prst="rect">
            <a:avLst/>
          </a:prstGeom>
          <a:noFill/>
        </p:spPr>
        <p:txBody>
          <a:bodyPr vertOverflow="overflow" vert="horz" wrap="square" rtlCol="0" anchor="t">
            <a:spAutoFit/>
          </a:bodyPr>
          <a:lstStyle/>
          <a:p>
            <a:pPr algn="l"/>
            <a:r>
              <a:rPr lang="en-GB" sz="800" b="1">
                <a:solidFill>
                  <a:srgbClr val="FFB84D"/>
                </a:solidFill>
                <a:latin typeface="Calibri"/>
                <a:ea typeface="Calibri"/>
                <a:cs typeface="Calibri"/>
              </a:rPr>
              <a:t>THE SCALE</a:t>
            </a:r>
          </a:p>
        </p:txBody>
      </p:sp>
      <p:sp>
        <p:nvSpPr>
          <p:cNvPr id="56" name="ChallengeLabel">
            <a:extLst>
              <a:ext uri="{FF2B5EF4-FFF2-40B4-BE49-F238E27FC236}">
                <a16:creationId xmlns:a16="http://schemas.microsoft.com/office/drawing/2014/main" id="{19154FBB-B845-4011-B433-219C58A66CB3}"/>
              </a:ext>
            </a:extLst>
          </p:cNvPr>
          <p:cNvSpPr txBox="1"/>
          <p:nvPr/>
        </p:nvSpPr>
        <p:spPr>
          <a:xfrm>
            <a:off x="6794500" y="3098800"/>
            <a:ext cx="1841500" cy="152400"/>
          </a:xfrm>
          <a:prstGeom prst="rect">
            <a:avLst/>
          </a:prstGeom>
          <a:noFill/>
        </p:spPr>
        <p:txBody>
          <a:bodyPr vertOverflow="overflow" vert="horz" wrap="square" rtlCol="0" anchor="t">
            <a:spAutoFit/>
          </a:bodyPr>
          <a:lstStyle/>
          <a:p>
            <a:pPr algn="l"/>
            <a:r>
              <a:rPr lang="en-GB" sz="800" b="1">
                <a:solidFill>
                  <a:srgbClr val="E85D5D"/>
                </a:solidFill>
                <a:latin typeface="Calibri"/>
                <a:ea typeface="Calibri"/>
                <a:cs typeface="Calibri"/>
              </a:rPr>
              <a:t>THE CHALLENGES</a:t>
            </a:r>
          </a:p>
        </p:txBody>
      </p:sp>
      <p:sp>
        <p:nvSpPr>
          <p:cNvPr id="57" name="Scale1_Pill">
            <a:extLst>
              <a:ext uri="{FF2B5EF4-FFF2-40B4-BE49-F238E27FC236}">
                <a16:creationId xmlns:a16="http://schemas.microsoft.com/office/drawing/2014/main" id="{9648C8F1-5F50-4544-9A76-B2108D8EF61F}"/>
              </a:ext>
            </a:extLst>
          </p:cNvPr>
          <p:cNvSpPr/>
          <p:nvPr/>
        </p:nvSpPr>
        <p:spPr>
          <a:xfrm>
            <a:off x="4826000" y="3276600"/>
            <a:ext cx="1841500" cy="584200"/>
          </a:xfrm>
          <a:prstGeom prst="roundRect">
            <a:avLst/>
          </a:prstGeom>
          <a:solidFill>
            <a:srgbClr val="0A1628"/>
          </a:solidFill>
          <a:ln w="12700" cap="flat" cmpd="sng" algn="ctr">
            <a:solidFill>
              <a:srgbClr val="FFB84D"/>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58" name="Scale1_Bar">
            <a:extLst>
              <a:ext uri="{FF2B5EF4-FFF2-40B4-BE49-F238E27FC236}">
                <a16:creationId xmlns:a16="http://schemas.microsoft.com/office/drawing/2014/main" id="{F173B26E-5ED1-465B-97AE-EF374F447C2C}"/>
              </a:ext>
            </a:extLst>
          </p:cNvPr>
          <p:cNvSpPr/>
          <p:nvPr/>
        </p:nvSpPr>
        <p:spPr>
          <a:xfrm>
            <a:off x="4902200" y="3340100"/>
            <a:ext cx="25400" cy="457200"/>
          </a:xfrm>
          <a:prstGeom prst="rect">
            <a:avLst/>
          </a:prstGeom>
          <a:solidFill>
            <a:srgbClr val="FFB84D"/>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59" name="Scale1_Num">
            <a:extLst>
              <a:ext uri="{FF2B5EF4-FFF2-40B4-BE49-F238E27FC236}">
                <a16:creationId xmlns:a16="http://schemas.microsoft.com/office/drawing/2014/main" id="{4E810E43-D2A8-4686-A061-08FA2D1AFE8E}"/>
              </a:ext>
            </a:extLst>
          </p:cNvPr>
          <p:cNvSpPr txBox="1"/>
          <p:nvPr/>
        </p:nvSpPr>
        <p:spPr>
          <a:xfrm>
            <a:off x="4978400" y="3314700"/>
            <a:ext cx="736600" cy="279400"/>
          </a:xfrm>
          <a:prstGeom prst="rect">
            <a:avLst/>
          </a:prstGeom>
          <a:noFill/>
        </p:spPr>
        <p:txBody>
          <a:bodyPr vertOverflow="overflow" vert="horz" wrap="square" rtlCol="0" anchor="t">
            <a:spAutoFit/>
          </a:bodyPr>
          <a:lstStyle/>
          <a:p>
            <a:pPr algn="l"/>
            <a:r>
              <a:rPr lang="en-GB" sz="1600" b="1">
                <a:solidFill>
                  <a:srgbClr val="FFFFFF"/>
                </a:solidFill>
                <a:latin typeface="Calibri"/>
                <a:ea typeface="Calibri"/>
                <a:cs typeface="Calibri"/>
              </a:rPr>
              <a:t>134</a:t>
            </a:r>
          </a:p>
        </p:txBody>
      </p:sp>
      <p:sp>
        <p:nvSpPr>
          <p:cNvPr id="60" name="Scale1_Unit">
            <a:extLst>
              <a:ext uri="{FF2B5EF4-FFF2-40B4-BE49-F238E27FC236}">
                <a16:creationId xmlns:a16="http://schemas.microsoft.com/office/drawing/2014/main" id="{40F18A34-B2BD-444E-B938-4C63E733BE19}"/>
              </a:ext>
            </a:extLst>
          </p:cNvPr>
          <p:cNvSpPr txBox="1"/>
          <p:nvPr/>
        </p:nvSpPr>
        <p:spPr>
          <a:xfrm>
            <a:off x="4978400" y="3568700"/>
            <a:ext cx="736600" cy="139700"/>
          </a:xfrm>
          <a:prstGeom prst="rect">
            <a:avLst/>
          </a:prstGeom>
          <a:noFill/>
        </p:spPr>
        <p:txBody>
          <a:bodyPr vertOverflow="overflow" vert="horz" wrap="square" rtlCol="0" anchor="t">
            <a:spAutoFit/>
          </a:bodyPr>
          <a:lstStyle/>
          <a:p>
            <a:pPr algn="l"/>
            <a:r>
              <a:rPr lang="en-GB" sz="700" b="1">
                <a:solidFill>
                  <a:srgbClr val="FFB84D"/>
                </a:solidFill>
                <a:latin typeface="Calibri"/>
                <a:ea typeface="Calibri"/>
                <a:cs typeface="Calibri"/>
              </a:rPr>
              <a:t>STATIONS</a:t>
            </a:r>
          </a:p>
        </p:txBody>
      </p:sp>
      <p:sp>
        <p:nvSpPr>
          <p:cNvPr id="61" name="Scale1_Cap">
            <a:extLst>
              <a:ext uri="{FF2B5EF4-FFF2-40B4-BE49-F238E27FC236}">
                <a16:creationId xmlns:a16="http://schemas.microsoft.com/office/drawing/2014/main" id="{309BA2EC-77BC-4794-B720-D230D840CB29}"/>
              </a:ext>
            </a:extLst>
          </p:cNvPr>
          <p:cNvSpPr txBox="1"/>
          <p:nvPr/>
        </p:nvSpPr>
        <p:spPr>
          <a:xfrm>
            <a:off x="5740400" y="3340100"/>
            <a:ext cx="850900" cy="457200"/>
          </a:xfrm>
          <a:prstGeom prst="rect">
            <a:avLst/>
          </a:prstGeom>
          <a:noFill/>
        </p:spPr>
        <p:txBody>
          <a:bodyPr vertOverflow="overflow" vert="horz" wrap="square" rtlCol="0" anchor="ctr" anchorCtr="0">
            <a:spAutoFit/>
          </a:bodyPr>
          <a:lstStyle/>
          <a:p>
            <a:pPr algn="l"/>
            <a:r>
              <a:rPr lang="en-GB" sz="800">
                <a:solidFill>
                  <a:srgbClr val="E8EEF5"/>
                </a:solidFill>
                <a:latin typeface="Calibri"/>
                <a:ea typeface="Calibri"/>
                <a:cs typeface="Calibri"/>
              </a:rPr>
              <a:t>across the region</a:t>
            </a:r>
          </a:p>
        </p:txBody>
      </p:sp>
      <p:sp>
        <p:nvSpPr>
          <p:cNvPr id="62" name="Scale2_Pill">
            <a:extLst>
              <a:ext uri="{FF2B5EF4-FFF2-40B4-BE49-F238E27FC236}">
                <a16:creationId xmlns:a16="http://schemas.microsoft.com/office/drawing/2014/main" id="{67F78AF4-CB08-4D43-8543-CAE659B0A8C4}"/>
              </a:ext>
            </a:extLst>
          </p:cNvPr>
          <p:cNvSpPr/>
          <p:nvPr/>
        </p:nvSpPr>
        <p:spPr>
          <a:xfrm>
            <a:off x="4826000" y="3911600"/>
            <a:ext cx="1841500" cy="584200"/>
          </a:xfrm>
          <a:prstGeom prst="roundRect">
            <a:avLst/>
          </a:prstGeom>
          <a:solidFill>
            <a:srgbClr val="0A1628"/>
          </a:solidFill>
          <a:ln w="12700" cap="flat" cmpd="sng" algn="ctr">
            <a:solidFill>
              <a:srgbClr val="FFB84D"/>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63" name="Scale2_Bar">
            <a:extLst>
              <a:ext uri="{FF2B5EF4-FFF2-40B4-BE49-F238E27FC236}">
                <a16:creationId xmlns:a16="http://schemas.microsoft.com/office/drawing/2014/main" id="{6105DE2C-58D5-4111-9AAF-D8E43078049B}"/>
              </a:ext>
            </a:extLst>
          </p:cNvPr>
          <p:cNvSpPr/>
          <p:nvPr/>
        </p:nvSpPr>
        <p:spPr>
          <a:xfrm>
            <a:off x="4902200" y="3975100"/>
            <a:ext cx="25400" cy="457200"/>
          </a:xfrm>
          <a:prstGeom prst="rect">
            <a:avLst/>
          </a:prstGeom>
          <a:solidFill>
            <a:srgbClr val="FFB84D"/>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6144" name="Scale2_Num">
            <a:extLst>
              <a:ext uri="{FF2B5EF4-FFF2-40B4-BE49-F238E27FC236}">
                <a16:creationId xmlns:a16="http://schemas.microsoft.com/office/drawing/2014/main" id="{594B82E4-23D8-4A3C-89ED-6CD905C6388B}"/>
              </a:ext>
            </a:extLst>
          </p:cNvPr>
          <p:cNvSpPr txBox="1"/>
          <p:nvPr/>
        </p:nvSpPr>
        <p:spPr>
          <a:xfrm>
            <a:off x="4978400" y="3949700"/>
            <a:ext cx="736600" cy="279400"/>
          </a:xfrm>
          <a:prstGeom prst="rect">
            <a:avLst/>
          </a:prstGeom>
          <a:noFill/>
        </p:spPr>
        <p:txBody>
          <a:bodyPr vertOverflow="overflow" vert="horz" wrap="square" rtlCol="0" anchor="t">
            <a:spAutoFit/>
          </a:bodyPr>
          <a:lstStyle/>
          <a:p>
            <a:pPr algn="l"/>
            <a:r>
              <a:rPr lang="en-GB" sz="1600" b="1">
                <a:solidFill>
                  <a:srgbClr val="FFFFFF"/>
                </a:solidFill>
                <a:latin typeface="Calibri"/>
                <a:ea typeface="Calibri"/>
                <a:cs typeface="Calibri"/>
              </a:rPr>
              <a:t>47</a:t>
            </a:r>
          </a:p>
        </p:txBody>
      </p:sp>
      <p:sp>
        <p:nvSpPr>
          <p:cNvPr id="6145" name="Scale2_Unit">
            <a:extLst>
              <a:ext uri="{FF2B5EF4-FFF2-40B4-BE49-F238E27FC236}">
                <a16:creationId xmlns:a16="http://schemas.microsoft.com/office/drawing/2014/main" id="{12DFBD53-0A6C-44EE-BF25-6DBFCF98BD0D}"/>
              </a:ext>
            </a:extLst>
          </p:cNvPr>
          <p:cNvSpPr txBox="1"/>
          <p:nvPr/>
        </p:nvSpPr>
        <p:spPr>
          <a:xfrm>
            <a:off x="4978400" y="4203700"/>
            <a:ext cx="736600" cy="139700"/>
          </a:xfrm>
          <a:prstGeom prst="rect">
            <a:avLst/>
          </a:prstGeom>
          <a:noFill/>
        </p:spPr>
        <p:txBody>
          <a:bodyPr vertOverflow="overflow" vert="horz" wrap="square" rtlCol="0" anchor="t">
            <a:spAutoFit/>
          </a:bodyPr>
          <a:lstStyle/>
          <a:p>
            <a:pPr algn="l"/>
            <a:r>
              <a:rPr lang="en-GB" sz="700" b="1">
                <a:solidFill>
                  <a:srgbClr val="FFB84D"/>
                </a:solidFill>
                <a:latin typeface="Calibri"/>
                <a:ea typeface="Calibri"/>
                <a:cs typeface="Calibri"/>
              </a:rPr>
              <a:t>PER YEAR</a:t>
            </a:r>
          </a:p>
        </p:txBody>
      </p:sp>
      <p:sp>
        <p:nvSpPr>
          <p:cNvPr id="6147" name="Scale2_Cap">
            <a:extLst>
              <a:ext uri="{FF2B5EF4-FFF2-40B4-BE49-F238E27FC236}">
                <a16:creationId xmlns:a16="http://schemas.microsoft.com/office/drawing/2014/main" id="{C9C60F7D-8E03-4AD3-9AF0-9479DE4B1531}"/>
              </a:ext>
            </a:extLst>
          </p:cNvPr>
          <p:cNvSpPr txBox="1"/>
          <p:nvPr/>
        </p:nvSpPr>
        <p:spPr>
          <a:xfrm>
            <a:off x="5740400" y="3975100"/>
            <a:ext cx="850900" cy="457200"/>
          </a:xfrm>
          <a:prstGeom prst="rect">
            <a:avLst/>
          </a:prstGeom>
          <a:noFill/>
        </p:spPr>
        <p:txBody>
          <a:bodyPr vertOverflow="overflow" vert="horz" wrap="square" rtlCol="0" anchor="ctr" anchorCtr="0">
            <a:spAutoFit/>
          </a:bodyPr>
          <a:lstStyle/>
          <a:p>
            <a:pPr algn="l"/>
            <a:r>
              <a:rPr lang="en-GB" sz="800">
                <a:solidFill>
                  <a:srgbClr val="E8EEF5"/>
                </a:solidFill>
                <a:latin typeface="Calibri"/>
                <a:ea typeface="Calibri"/>
                <a:cs typeface="Calibri"/>
              </a:rPr>
              <a:t>detailed surveys needed</a:t>
            </a:r>
          </a:p>
        </p:txBody>
      </p:sp>
      <p:sp>
        <p:nvSpPr>
          <p:cNvPr id="6149" name="Chal1_Pill">
            <a:extLst>
              <a:ext uri="{FF2B5EF4-FFF2-40B4-BE49-F238E27FC236}">
                <a16:creationId xmlns:a16="http://schemas.microsoft.com/office/drawing/2014/main" id="{2929DE4F-5346-4F15-AADC-D775FEA6B344}"/>
              </a:ext>
            </a:extLst>
          </p:cNvPr>
          <p:cNvSpPr/>
          <p:nvPr/>
        </p:nvSpPr>
        <p:spPr>
          <a:xfrm>
            <a:off x="6794500" y="3276600"/>
            <a:ext cx="1841500" cy="584200"/>
          </a:xfrm>
          <a:prstGeom prst="roundRect">
            <a:avLst/>
          </a:prstGeom>
          <a:solidFill>
            <a:srgbClr val="0A1628"/>
          </a:solidFill>
          <a:ln w="12700" cap="flat" cmpd="sng" algn="ctr">
            <a:solidFill>
              <a:srgbClr val="E85D5D"/>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6150" name="Chal1_Bar">
            <a:extLst>
              <a:ext uri="{FF2B5EF4-FFF2-40B4-BE49-F238E27FC236}">
                <a16:creationId xmlns:a16="http://schemas.microsoft.com/office/drawing/2014/main" id="{A47F7749-6C6E-4B26-8497-3A0F555E7398}"/>
              </a:ext>
            </a:extLst>
          </p:cNvPr>
          <p:cNvSpPr/>
          <p:nvPr/>
        </p:nvSpPr>
        <p:spPr>
          <a:xfrm>
            <a:off x="6870700" y="3340100"/>
            <a:ext cx="25400" cy="457200"/>
          </a:xfrm>
          <a:prstGeom prst="rect">
            <a:avLst/>
          </a:prstGeom>
          <a:solidFill>
            <a:srgbClr val="E85D5D"/>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6151" name="Chal1_Num">
            <a:extLst>
              <a:ext uri="{FF2B5EF4-FFF2-40B4-BE49-F238E27FC236}">
                <a16:creationId xmlns:a16="http://schemas.microsoft.com/office/drawing/2014/main" id="{A9A1CBDB-1F50-4679-85B4-A68CAF462785}"/>
              </a:ext>
            </a:extLst>
          </p:cNvPr>
          <p:cNvSpPr txBox="1"/>
          <p:nvPr/>
        </p:nvSpPr>
        <p:spPr>
          <a:xfrm>
            <a:off x="6946900" y="3314700"/>
            <a:ext cx="736600" cy="279400"/>
          </a:xfrm>
          <a:prstGeom prst="rect">
            <a:avLst/>
          </a:prstGeom>
          <a:noFill/>
        </p:spPr>
        <p:txBody>
          <a:bodyPr vertOverflow="overflow" vert="horz" wrap="square" rtlCol="0" anchor="t">
            <a:spAutoFit/>
          </a:bodyPr>
          <a:lstStyle/>
          <a:p>
            <a:pPr algn="l"/>
            <a:r>
              <a:rPr lang="en-GB" sz="1600" b="1">
                <a:solidFill>
                  <a:srgbClr val="FFFFFF"/>
                </a:solidFill>
                <a:latin typeface="Calibri"/>
                <a:ea typeface="Calibri"/>
                <a:cs typeface="Calibri"/>
              </a:rPr>
              <a:t>⚠</a:t>
            </a:r>
          </a:p>
        </p:txBody>
      </p:sp>
      <p:sp>
        <p:nvSpPr>
          <p:cNvPr id="6152" name="Chal1_Unit">
            <a:extLst>
              <a:ext uri="{FF2B5EF4-FFF2-40B4-BE49-F238E27FC236}">
                <a16:creationId xmlns:a16="http://schemas.microsoft.com/office/drawing/2014/main" id="{55BE3BF1-80A9-4716-9896-EDE6F5AFBF53}"/>
              </a:ext>
            </a:extLst>
          </p:cNvPr>
          <p:cNvSpPr txBox="1"/>
          <p:nvPr/>
        </p:nvSpPr>
        <p:spPr>
          <a:xfrm>
            <a:off x="6946900" y="3568700"/>
            <a:ext cx="736600" cy="139700"/>
          </a:xfrm>
          <a:prstGeom prst="rect">
            <a:avLst/>
          </a:prstGeom>
          <a:noFill/>
        </p:spPr>
        <p:txBody>
          <a:bodyPr vertOverflow="overflow" vert="horz" wrap="square" rtlCol="0" anchor="t">
            <a:spAutoFit/>
          </a:bodyPr>
          <a:lstStyle/>
          <a:p>
            <a:pPr algn="l"/>
            <a:r>
              <a:rPr lang="en-GB" sz="700" b="1">
                <a:solidFill>
                  <a:srgbClr val="E85D5D"/>
                </a:solidFill>
                <a:latin typeface="Calibri"/>
                <a:ea typeface="Calibri"/>
                <a:cs typeface="Calibri"/>
              </a:rPr>
              <a:t>ACCESS</a:t>
            </a:r>
          </a:p>
        </p:txBody>
      </p:sp>
      <p:sp>
        <p:nvSpPr>
          <p:cNvPr id="6153" name="Chal1_Cap">
            <a:extLst>
              <a:ext uri="{FF2B5EF4-FFF2-40B4-BE49-F238E27FC236}">
                <a16:creationId xmlns:a16="http://schemas.microsoft.com/office/drawing/2014/main" id="{BE753D54-71FD-4748-BF90-AEE6ED42C9AB}"/>
              </a:ext>
            </a:extLst>
          </p:cNvPr>
          <p:cNvSpPr txBox="1"/>
          <p:nvPr/>
        </p:nvSpPr>
        <p:spPr>
          <a:xfrm>
            <a:off x="7708900" y="3340100"/>
            <a:ext cx="850900" cy="457200"/>
          </a:xfrm>
          <a:prstGeom prst="rect">
            <a:avLst/>
          </a:prstGeom>
          <a:noFill/>
        </p:spPr>
        <p:txBody>
          <a:bodyPr vertOverflow="overflow" vert="horz" wrap="square" rtlCol="0" anchor="ctr" anchorCtr="0">
            <a:spAutoFit/>
          </a:bodyPr>
          <a:lstStyle/>
          <a:p>
            <a:pPr algn="l"/>
            <a:r>
              <a:rPr lang="en-GB" sz="800">
                <a:solidFill>
                  <a:srgbClr val="E8EEF5"/>
                </a:solidFill>
                <a:latin typeface="Calibri"/>
                <a:ea typeface="Calibri"/>
                <a:cs typeface="Calibri"/>
              </a:rPr>
              <a:t>at height &amp; hidden from view</a:t>
            </a:r>
          </a:p>
        </p:txBody>
      </p:sp>
      <p:sp>
        <p:nvSpPr>
          <p:cNvPr id="6154" name="Chal2_Pill">
            <a:extLst>
              <a:ext uri="{FF2B5EF4-FFF2-40B4-BE49-F238E27FC236}">
                <a16:creationId xmlns:a16="http://schemas.microsoft.com/office/drawing/2014/main" id="{90F8DD95-00A6-4862-B572-2117E79B3F1F}"/>
              </a:ext>
            </a:extLst>
          </p:cNvPr>
          <p:cNvSpPr/>
          <p:nvPr/>
        </p:nvSpPr>
        <p:spPr>
          <a:xfrm>
            <a:off x="6794500" y="3911600"/>
            <a:ext cx="1841500" cy="584200"/>
          </a:xfrm>
          <a:prstGeom prst="roundRect">
            <a:avLst/>
          </a:prstGeom>
          <a:solidFill>
            <a:srgbClr val="0A1628"/>
          </a:solidFill>
          <a:ln w="12700" cap="flat" cmpd="sng" algn="ctr">
            <a:solidFill>
              <a:srgbClr val="E85D5D"/>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6155" name="Chal2_Bar">
            <a:extLst>
              <a:ext uri="{FF2B5EF4-FFF2-40B4-BE49-F238E27FC236}">
                <a16:creationId xmlns:a16="http://schemas.microsoft.com/office/drawing/2014/main" id="{22CF146C-F740-4410-B2BB-DC14D7C9B597}"/>
              </a:ext>
            </a:extLst>
          </p:cNvPr>
          <p:cNvSpPr/>
          <p:nvPr/>
        </p:nvSpPr>
        <p:spPr>
          <a:xfrm>
            <a:off x="6870700" y="3975100"/>
            <a:ext cx="25400" cy="457200"/>
          </a:xfrm>
          <a:prstGeom prst="rect">
            <a:avLst/>
          </a:prstGeom>
          <a:solidFill>
            <a:srgbClr val="E85D5D"/>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6156" name="Chal2_Num">
            <a:extLst>
              <a:ext uri="{FF2B5EF4-FFF2-40B4-BE49-F238E27FC236}">
                <a16:creationId xmlns:a16="http://schemas.microsoft.com/office/drawing/2014/main" id="{3C3084B9-CA21-4786-B62E-48A3D8052D08}"/>
              </a:ext>
            </a:extLst>
          </p:cNvPr>
          <p:cNvSpPr txBox="1"/>
          <p:nvPr/>
        </p:nvSpPr>
        <p:spPr>
          <a:xfrm>
            <a:off x="6946900" y="3949700"/>
            <a:ext cx="736600" cy="279400"/>
          </a:xfrm>
          <a:prstGeom prst="rect">
            <a:avLst/>
          </a:prstGeom>
          <a:noFill/>
        </p:spPr>
        <p:txBody>
          <a:bodyPr vertOverflow="overflow" vert="horz" wrap="square" rtlCol="0" anchor="t">
            <a:spAutoFit/>
          </a:bodyPr>
          <a:lstStyle/>
          <a:p>
            <a:pPr algn="l"/>
            <a:r>
              <a:rPr lang="en-GB" sz="1600" b="1">
                <a:solidFill>
                  <a:srgbClr val="FFFFFF"/>
                </a:solidFill>
                <a:latin typeface="Calibri"/>
                <a:ea typeface="Calibri"/>
                <a:cs typeface="Calibri"/>
              </a:rPr>
              <a:t>£</a:t>
            </a:r>
          </a:p>
        </p:txBody>
      </p:sp>
      <p:sp>
        <p:nvSpPr>
          <p:cNvPr id="6157" name="Chal2_Unit">
            <a:extLst>
              <a:ext uri="{FF2B5EF4-FFF2-40B4-BE49-F238E27FC236}">
                <a16:creationId xmlns:a16="http://schemas.microsoft.com/office/drawing/2014/main" id="{8BE01FBF-478E-4DF8-AF15-8E5D5EC873EF}"/>
              </a:ext>
            </a:extLst>
          </p:cNvPr>
          <p:cNvSpPr txBox="1"/>
          <p:nvPr/>
        </p:nvSpPr>
        <p:spPr>
          <a:xfrm>
            <a:off x="6946900" y="4203700"/>
            <a:ext cx="736600" cy="139700"/>
          </a:xfrm>
          <a:prstGeom prst="rect">
            <a:avLst/>
          </a:prstGeom>
          <a:noFill/>
        </p:spPr>
        <p:txBody>
          <a:bodyPr vertOverflow="overflow" vert="horz" wrap="square" rtlCol="0" anchor="t">
            <a:spAutoFit/>
          </a:bodyPr>
          <a:lstStyle/>
          <a:p>
            <a:pPr algn="l"/>
            <a:r>
              <a:rPr lang="en-GB" sz="700" b="1">
                <a:solidFill>
                  <a:srgbClr val="E85D5D"/>
                </a:solidFill>
                <a:latin typeface="Calibri"/>
                <a:ea typeface="Calibri"/>
                <a:cs typeface="Calibri"/>
              </a:rPr>
              <a:t>DISRUPT</a:t>
            </a:r>
          </a:p>
        </p:txBody>
      </p:sp>
      <p:sp>
        <p:nvSpPr>
          <p:cNvPr id="6158" name="Chal2_Cap">
            <a:extLst>
              <a:ext uri="{FF2B5EF4-FFF2-40B4-BE49-F238E27FC236}">
                <a16:creationId xmlns:a16="http://schemas.microsoft.com/office/drawing/2014/main" id="{2A124761-4886-48D2-86CE-B0509BAEC564}"/>
              </a:ext>
            </a:extLst>
          </p:cNvPr>
          <p:cNvSpPr txBox="1"/>
          <p:nvPr/>
        </p:nvSpPr>
        <p:spPr>
          <a:xfrm>
            <a:off x="7708900" y="3975100"/>
            <a:ext cx="850900" cy="457200"/>
          </a:xfrm>
          <a:prstGeom prst="rect">
            <a:avLst/>
          </a:prstGeom>
          <a:noFill/>
        </p:spPr>
        <p:txBody>
          <a:bodyPr vertOverflow="overflow" vert="horz" wrap="square" rtlCol="0" anchor="ctr" anchorCtr="0">
            <a:spAutoFit/>
          </a:bodyPr>
          <a:lstStyle/>
          <a:p>
            <a:pPr algn="l"/>
            <a:r>
              <a:rPr lang="en-GB" sz="800">
                <a:solidFill>
                  <a:srgbClr val="E8EEF5"/>
                </a:solidFill>
                <a:latin typeface="Calibri"/>
                <a:ea typeface="Calibri"/>
                <a:cs typeface="Calibri"/>
              </a:rPr>
              <a:t>every closure = lost revenue</a:t>
            </a:r>
          </a:p>
        </p:txBody>
      </p:sp>
      <p:sp>
        <p:nvSpPr>
          <p:cNvPr id="6159" name="TransitionHook">
            <a:extLst>
              <a:ext uri="{FF2B5EF4-FFF2-40B4-BE49-F238E27FC236}">
                <a16:creationId xmlns:a16="http://schemas.microsoft.com/office/drawing/2014/main" id="{373DF380-2226-4C08-A418-2B76FC4A9EDA}"/>
              </a:ext>
            </a:extLst>
          </p:cNvPr>
          <p:cNvSpPr txBox="1"/>
          <p:nvPr/>
        </p:nvSpPr>
        <p:spPr>
          <a:xfrm>
            <a:off x="3302000" y="4572000"/>
            <a:ext cx="5397500" cy="177800"/>
          </a:xfrm>
          <a:prstGeom prst="rect">
            <a:avLst/>
          </a:prstGeom>
          <a:noFill/>
        </p:spPr>
        <p:txBody>
          <a:bodyPr vertOverflow="overflow" vert="horz" wrap="square" rtlCol="0" anchor="t">
            <a:spAutoFit/>
          </a:bodyPr>
          <a:lstStyle/>
          <a:p>
            <a:pPr algn="l"/>
            <a:r>
              <a:rPr lang="en-GB" sz="900" i="1">
                <a:solidFill>
                  <a:srgbClr val="C97A2B"/>
                </a:solidFill>
                <a:latin typeface="Calibri"/>
                <a:ea typeface="Calibri"/>
                <a:cs typeface="Calibri"/>
              </a:rPr>
              <a:t>So how DID we do it?  →  (The answer won the ICE Asset Resilience Award…)</a:t>
            </a:r>
          </a:p>
        </p:txBody>
      </p:sp>
    </p:spTree>
    <p:extLst>
      <p:ext uri="{BB962C8B-B14F-4D97-AF65-F5344CB8AC3E}">
        <p14:creationId xmlns:p14="http://schemas.microsoft.com/office/powerpoint/2010/main" val="22956576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46A97C1-69F5-5F33-5FF1-61D44CE1555F}"/>
            </a:ext>
          </a:extLst>
        </p:cNvPr>
        <p:cNvGrpSpPr/>
        <p:nvPr/>
      </p:nvGrpSpPr>
      <p:grpSpPr>
        <a:xfrm>
          <a:off x="0" y="0"/>
          <a:ext cx="0" cy="0"/>
          <a:chOff x="0" y="0"/>
          <a:chExt cx="0" cy="0"/>
        </a:xfrm>
      </p:grpSpPr>
      <p:pic>
        <p:nvPicPr>
          <p:cNvPr id="8" name="Picture 7">
            <a:extLst>
              <a:ext uri="{FF2B5EF4-FFF2-40B4-BE49-F238E27FC236}">
                <a16:creationId xmlns:a16="http://schemas.microsoft.com/office/drawing/2014/main" id="{1F0B411F-57B1-D345-5E83-9F5C515FAAD4}"/>
              </a:ext>
            </a:extLst>
          </p:cNvPr>
          <p:cNvPicPr>
            <a:picLocks noChangeAspect="1"/>
          </p:cNvPicPr>
          <p:nvPr/>
        </p:nvPicPr>
        <p:blipFill>
          <a:blip r:embed="rId3"/>
          <a:srcRect l="22905" r="15993" b="-1"/>
          <a:stretch>
            <a:fillRect/>
          </a:stretch>
        </p:blipFill>
        <p:spPr>
          <a:xfrm>
            <a:off x="2870200" y="787400"/>
            <a:ext cx="2413000" cy="1320800"/>
          </a:xfrm>
          <a:prstGeom prst="rect">
            <a:avLst/>
          </a:prstGeom>
        </p:spPr>
      </p:pic>
      <p:pic>
        <p:nvPicPr>
          <p:cNvPr id="1030" name="Picture 6" descr="No alternative text description for this image">
            <a:extLst>
              <a:ext uri="{FF2B5EF4-FFF2-40B4-BE49-F238E27FC236}">
                <a16:creationId xmlns:a16="http://schemas.microsoft.com/office/drawing/2014/main" id="{CB042681-ED69-D890-3B2B-B70DA3D909E2}"/>
              </a:ext>
            </a:extLst>
          </p:cNvPr>
          <p:cNvPicPr>
            <a:picLocks noChangeAspect="1" noChangeArrowheads="1"/>
          </p:cNvPicPr>
          <p:nvPr/>
        </p:nvPicPr>
        <p:blipFill>
          <a:blip r:embed="rId4">
            <a:extLst>
              <a:ext uri="{28A0092B-C50C-407E-A947-70E740481C1C}">
                <a14:useLocalDpi xmlns:a14="http://schemas.microsoft.com/office/drawing/2010/main" val="0"/>
              </a:ext>
            </a:extLst>
          </a:blip>
          <a:stretch>
            <a:fillRect/>
          </a:stretch>
        </p:blipFill>
        <p:spPr bwMode="auto">
          <a:xfrm>
            <a:off x="355600" y="2209800"/>
            <a:ext cx="2413000" cy="132080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D3FE39EB-FFE9-755F-E005-F869B53F6AB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t="6214" r="-4" b="6940"/>
          <a:stretch>
            <a:fillRect/>
          </a:stretch>
        </p:blipFill>
        <p:spPr bwMode="auto">
          <a:xfrm>
            <a:off x="2870200" y="2209800"/>
            <a:ext cx="2413000" cy="1320800"/>
          </a:xfrm>
          <a:prstGeom prst="rect">
            <a:avLst/>
          </a:prstGeom>
          <a:noFill/>
          <a:extLst>
            <a:ext uri="{909E8E84-426E-40DD-AFC4-6F175D3DCCD1}">
              <a14:hiddenFill xmlns:a14="http://schemas.microsoft.com/office/drawing/2010/main">
                <a:solidFill>
                  <a:srgbClr val="FFFFFF"/>
                </a:solidFill>
              </a14:hiddenFill>
            </a:ext>
          </a:extLst>
        </p:spPr>
      </p:pic>
      <p:pic>
        <p:nvPicPr>
          <p:cNvPr id="4104" name="Picture 8" descr="No alternative text description for this image">
            <a:extLst>
              <a:ext uri="{FF2B5EF4-FFF2-40B4-BE49-F238E27FC236}">
                <a16:creationId xmlns:a16="http://schemas.microsoft.com/office/drawing/2014/main" id="{EF86B013-3540-6F43-2315-187ABBDFC46A}"/>
              </a:ext>
            </a:extLst>
          </p:cNvPr>
          <p:cNvPicPr>
            <a:picLocks noChangeAspect="1" noChangeArrowheads="1"/>
          </p:cNvPicPr>
          <p:nvPr/>
        </p:nvPicPr>
        <p:blipFill>
          <a:blip r:embed="rId6">
            <a:extLst>
              <a:ext uri="{28A0092B-C50C-407E-A947-70E740481C1C}">
                <a14:useLocalDpi xmlns:a14="http://schemas.microsoft.com/office/drawing/2010/main" val="0"/>
              </a:ext>
            </a:extLst>
          </a:blip>
          <a:srcRect l="4495" r="8658" b="-2"/>
          <a:stretch>
            <a:fillRect/>
          </a:stretch>
        </p:blipFill>
        <p:spPr bwMode="auto">
          <a:xfrm>
            <a:off x="5715000" y="787400"/>
            <a:ext cx="3048000" cy="2743200"/>
          </a:xfrm>
          <a:prstGeom prst="rect">
            <a:avLst/>
          </a:prstGeom>
          <a:noFill/>
          <a:extLst>
            <a:ext uri="{909E8E84-426E-40DD-AFC4-6F175D3DCCD1}">
              <a14:hiddenFill xmlns:a14="http://schemas.microsoft.com/office/drawing/2010/main">
                <a:solidFill>
                  <a:srgbClr val="FFFFFF"/>
                </a:solidFill>
              </a14:hiddenFill>
            </a:ext>
          </a:extLst>
        </p:spPr>
      </p:pic>
      <p:sp>
        <p:nvSpPr>
          <p:cNvPr id="11" name="Eyebrow">
            <a:extLst>
              <a:ext uri="{FF2B5EF4-FFF2-40B4-BE49-F238E27FC236}">
                <a16:creationId xmlns:a16="http://schemas.microsoft.com/office/drawing/2014/main" id="{965AF23D-BD80-4C2A-96C9-59316B721FB7}"/>
              </a:ext>
            </a:extLst>
          </p:cNvPr>
          <p:cNvSpPr txBox="1"/>
          <p:nvPr/>
        </p:nvSpPr>
        <p:spPr>
          <a:xfrm>
            <a:off x="355600" y="355600"/>
            <a:ext cx="5715000" cy="177800"/>
          </a:xfrm>
          <a:prstGeom prst="rect">
            <a:avLst/>
          </a:prstGeom>
          <a:noFill/>
        </p:spPr>
        <p:txBody>
          <a:bodyPr vertOverflow="overflow" vert="horz" wrap="square" rtlCol="0" anchor="t">
            <a:spAutoFit/>
          </a:bodyPr>
          <a:lstStyle/>
          <a:p>
            <a:pPr algn="l"/>
            <a:r>
              <a:rPr lang="en-GB" sz="900" b="1">
                <a:solidFill>
                  <a:srgbClr val="FFB84D"/>
                </a:solidFill>
                <a:latin typeface="Calibri"/>
                <a:ea typeface="Calibri"/>
                <a:cs typeface="Calibri"/>
              </a:rPr>
              <a:t>PART 1 OF 2  ·  DATA CAPTURE  ·  ICE ASSET RESILIENCE AWARD</a:t>
            </a:r>
          </a:p>
        </p:txBody>
      </p:sp>
      <p:sp>
        <p:nvSpPr>
          <p:cNvPr id="12" name="ConceptLabel">
            <a:extLst>
              <a:ext uri="{FF2B5EF4-FFF2-40B4-BE49-F238E27FC236}">
                <a16:creationId xmlns:a16="http://schemas.microsoft.com/office/drawing/2014/main" id="{49C82E25-1B1D-4BA1-87E4-5E72F4E8D234}"/>
              </a:ext>
            </a:extLst>
          </p:cNvPr>
          <p:cNvSpPr txBox="1"/>
          <p:nvPr/>
        </p:nvSpPr>
        <p:spPr>
          <a:xfrm>
            <a:off x="5715000" y="558800"/>
            <a:ext cx="3048000" cy="177800"/>
          </a:xfrm>
          <a:prstGeom prst="rect">
            <a:avLst/>
          </a:prstGeom>
          <a:noFill/>
        </p:spPr>
        <p:txBody>
          <a:bodyPr vertOverflow="overflow" vert="horz" wrap="square" rtlCol="0" anchor="t">
            <a:spAutoFit/>
          </a:bodyPr>
          <a:lstStyle/>
          <a:p>
            <a:pPr algn="l"/>
            <a:r>
              <a:rPr lang="en-GB" sz="800" i="1">
                <a:solidFill>
                  <a:srgbClr val="6B7280"/>
                </a:solidFill>
                <a:latin typeface="Calibri"/>
                <a:ea typeface="Calibri"/>
                <a:cs typeface="Calibri"/>
              </a:rPr>
              <a:t>THE CONCEPT  ·  one walk, everything captured</a:t>
            </a:r>
          </a:p>
        </p:txBody>
      </p:sp>
      <p:sp>
        <p:nvSpPr>
          <p:cNvPr id="13" name="Photo1_LabelPill">
            <a:extLst>
              <a:ext uri="{FF2B5EF4-FFF2-40B4-BE49-F238E27FC236}">
                <a16:creationId xmlns:a16="http://schemas.microsoft.com/office/drawing/2014/main" id="{B6359A9D-512F-4A89-8271-A53E07E875B0}"/>
              </a:ext>
            </a:extLst>
          </p:cNvPr>
          <p:cNvSpPr/>
          <p:nvPr/>
        </p:nvSpPr>
        <p:spPr>
          <a:xfrm>
            <a:off x="406400" y="1879600"/>
            <a:ext cx="1397000" cy="203200"/>
          </a:xfrm>
          <a:prstGeom prst="roundRect">
            <a:avLst/>
          </a:prstGeom>
          <a:solidFill>
            <a:srgbClr val="0A1628">
              <a:alpha val="90000"/>
            </a:srgbClr>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14" name="Photo1_LabelText">
            <a:extLst>
              <a:ext uri="{FF2B5EF4-FFF2-40B4-BE49-F238E27FC236}">
                <a16:creationId xmlns:a16="http://schemas.microsoft.com/office/drawing/2014/main" id="{DFF4386B-9599-4A6A-A825-5C475FEFC488}"/>
              </a:ext>
            </a:extLst>
          </p:cNvPr>
          <p:cNvSpPr txBox="1"/>
          <p:nvPr/>
        </p:nvSpPr>
        <p:spPr>
          <a:xfrm>
            <a:off x="457200" y="1892300"/>
            <a:ext cx="1295400" cy="177800"/>
          </a:xfrm>
          <a:prstGeom prst="rect">
            <a:avLst/>
          </a:prstGeom>
          <a:noFill/>
        </p:spPr>
        <p:txBody>
          <a:bodyPr vertOverflow="overflow" vert="horz" wrap="square" rtlCol="0" anchor="t">
            <a:spAutoFit/>
          </a:bodyPr>
          <a:lstStyle/>
          <a:p>
            <a:pPr algn="l"/>
            <a:r>
              <a:rPr lang="en-GB" sz="700" b="1">
                <a:solidFill>
                  <a:srgbClr val="FFB84D"/>
                </a:solidFill>
                <a:latin typeface="Calibri"/>
                <a:ea typeface="Calibri"/>
                <a:cs typeface="Calibri"/>
              </a:rPr>
              <a:t>DRONE CAPTURE</a:t>
            </a:r>
          </a:p>
        </p:txBody>
      </p:sp>
      <p:sp>
        <p:nvSpPr>
          <p:cNvPr id="15" name="Photo2_LabelPill">
            <a:extLst>
              <a:ext uri="{FF2B5EF4-FFF2-40B4-BE49-F238E27FC236}">
                <a16:creationId xmlns:a16="http://schemas.microsoft.com/office/drawing/2014/main" id="{DC516A39-D022-4347-9D29-4C552E09EFD1}"/>
              </a:ext>
            </a:extLst>
          </p:cNvPr>
          <p:cNvSpPr/>
          <p:nvPr/>
        </p:nvSpPr>
        <p:spPr>
          <a:xfrm>
            <a:off x="2921000" y="1879600"/>
            <a:ext cx="1397000" cy="203200"/>
          </a:xfrm>
          <a:prstGeom prst="roundRect">
            <a:avLst/>
          </a:prstGeom>
          <a:solidFill>
            <a:srgbClr val="0A1628">
              <a:alpha val="90000"/>
            </a:srgbClr>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16" name="Photo2_LabelText">
            <a:extLst>
              <a:ext uri="{FF2B5EF4-FFF2-40B4-BE49-F238E27FC236}">
                <a16:creationId xmlns:a16="http://schemas.microsoft.com/office/drawing/2014/main" id="{EA2D7C01-C98A-4942-9C98-A78350C97EE6}"/>
              </a:ext>
            </a:extLst>
          </p:cNvPr>
          <p:cNvSpPr txBox="1"/>
          <p:nvPr/>
        </p:nvSpPr>
        <p:spPr>
          <a:xfrm>
            <a:off x="2971800" y="1892300"/>
            <a:ext cx="1295400" cy="177800"/>
          </a:xfrm>
          <a:prstGeom prst="rect">
            <a:avLst/>
          </a:prstGeom>
          <a:noFill/>
        </p:spPr>
        <p:txBody>
          <a:bodyPr vertOverflow="overflow" vert="horz" wrap="square" rtlCol="0" anchor="t">
            <a:spAutoFit/>
          </a:bodyPr>
          <a:lstStyle/>
          <a:p>
            <a:pPr algn="l"/>
            <a:r>
              <a:rPr lang="en-GB" sz="700" b="1">
                <a:solidFill>
                  <a:srgbClr val="FFB84D"/>
                </a:solidFill>
                <a:latin typeface="Calibri"/>
                <a:ea typeface="Calibri"/>
                <a:cs typeface="Calibri"/>
              </a:rPr>
              <a:t>LASER SCAN</a:t>
            </a:r>
          </a:p>
        </p:txBody>
      </p:sp>
      <p:sp>
        <p:nvSpPr>
          <p:cNvPr id="17" name="Photo3_LabelPill">
            <a:extLst>
              <a:ext uri="{FF2B5EF4-FFF2-40B4-BE49-F238E27FC236}">
                <a16:creationId xmlns:a16="http://schemas.microsoft.com/office/drawing/2014/main" id="{19DCE6F0-7E39-47DB-8FD1-0C356D673238}"/>
              </a:ext>
            </a:extLst>
          </p:cNvPr>
          <p:cNvSpPr/>
          <p:nvPr/>
        </p:nvSpPr>
        <p:spPr>
          <a:xfrm>
            <a:off x="406400" y="3302000"/>
            <a:ext cx="1397000" cy="203200"/>
          </a:xfrm>
          <a:prstGeom prst="roundRect">
            <a:avLst/>
          </a:prstGeom>
          <a:solidFill>
            <a:srgbClr val="0A1628">
              <a:alpha val="90000"/>
            </a:srgbClr>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18" name="Photo3_LabelText">
            <a:extLst>
              <a:ext uri="{FF2B5EF4-FFF2-40B4-BE49-F238E27FC236}">
                <a16:creationId xmlns:a16="http://schemas.microsoft.com/office/drawing/2014/main" id="{B7FF7439-E63D-410D-B935-455DB791DC19}"/>
              </a:ext>
            </a:extLst>
          </p:cNvPr>
          <p:cNvSpPr txBox="1"/>
          <p:nvPr/>
        </p:nvSpPr>
        <p:spPr>
          <a:xfrm>
            <a:off x="457200" y="3314700"/>
            <a:ext cx="1295400" cy="177800"/>
          </a:xfrm>
          <a:prstGeom prst="rect">
            <a:avLst/>
          </a:prstGeom>
          <a:noFill/>
        </p:spPr>
        <p:txBody>
          <a:bodyPr vertOverflow="overflow" vert="horz" wrap="square" rtlCol="0" anchor="t">
            <a:spAutoFit/>
          </a:bodyPr>
          <a:lstStyle/>
          <a:p>
            <a:pPr algn="l"/>
            <a:r>
              <a:rPr lang="en-GB" sz="700" b="1">
                <a:solidFill>
                  <a:srgbClr val="FFB84D"/>
                </a:solidFill>
                <a:latin typeface="Calibri"/>
                <a:ea typeface="Calibri"/>
                <a:cs typeface="Calibri"/>
              </a:rPr>
              <a:t>SURVEYOR AT WORK</a:t>
            </a:r>
          </a:p>
        </p:txBody>
      </p:sp>
      <p:sp>
        <p:nvSpPr>
          <p:cNvPr id="19" name="Photo4_LabelPill">
            <a:extLst>
              <a:ext uri="{FF2B5EF4-FFF2-40B4-BE49-F238E27FC236}">
                <a16:creationId xmlns:a16="http://schemas.microsoft.com/office/drawing/2014/main" id="{A516CAEB-8C42-4B48-8AB1-764D81E41E5F}"/>
              </a:ext>
            </a:extLst>
          </p:cNvPr>
          <p:cNvSpPr/>
          <p:nvPr/>
        </p:nvSpPr>
        <p:spPr>
          <a:xfrm>
            <a:off x="2921000" y="3302000"/>
            <a:ext cx="1397000" cy="203200"/>
          </a:xfrm>
          <a:prstGeom prst="roundRect">
            <a:avLst/>
          </a:prstGeom>
          <a:solidFill>
            <a:srgbClr val="0A1628">
              <a:alpha val="90000"/>
            </a:srgbClr>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20" name="Photo4_LabelText">
            <a:extLst>
              <a:ext uri="{FF2B5EF4-FFF2-40B4-BE49-F238E27FC236}">
                <a16:creationId xmlns:a16="http://schemas.microsoft.com/office/drawing/2014/main" id="{223EBDBD-83DD-4AC0-9C54-DE2B661739A6}"/>
              </a:ext>
            </a:extLst>
          </p:cNvPr>
          <p:cNvSpPr txBox="1"/>
          <p:nvPr/>
        </p:nvSpPr>
        <p:spPr>
          <a:xfrm>
            <a:off x="2971800" y="3314700"/>
            <a:ext cx="1295400" cy="177800"/>
          </a:xfrm>
          <a:prstGeom prst="rect">
            <a:avLst/>
          </a:prstGeom>
          <a:noFill/>
        </p:spPr>
        <p:txBody>
          <a:bodyPr vertOverflow="overflow" vert="horz" wrap="square" rtlCol="0" anchor="t">
            <a:spAutoFit/>
          </a:bodyPr>
          <a:lstStyle/>
          <a:p>
            <a:pPr algn="l"/>
            <a:r>
              <a:rPr lang="en-GB" sz="700" b="1">
                <a:solidFill>
                  <a:srgbClr val="FFB84D"/>
                </a:solidFill>
                <a:latin typeface="Calibri"/>
                <a:ea typeface="Calibri"/>
                <a:cs typeface="Calibri"/>
              </a:rPr>
              <a:t>POINT CLOUD</a:t>
            </a:r>
          </a:p>
        </p:txBody>
      </p:sp>
      <p:sp>
        <p:nvSpPr>
          <p:cNvPr id="21" name="Stat1_Pill">
            <a:extLst>
              <a:ext uri="{FF2B5EF4-FFF2-40B4-BE49-F238E27FC236}">
                <a16:creationId xmlns:a16="http://schemas.microsoft.com/office/drawing/2014/main" id="{8C53F788-57E5-43F3-9D79-04C0EA53A95B}"/>
              </a:ext>
            </a:extLst>
          </p:cNvPr>
          <p:cNvSpPr/>
          <p:nvPr/>
        </p:nvSpPr>
        <p:spPr>
          <a:xfrm>
            <a:off x="355600" y="3708400"/>
            <a:ext cx="2057400" cy="584200"/>
          </a:xfrm>
          <a:prstGeom prst="roundRect">
            <a:avLst/>
          </a:prstGeom>
          <a:solidFill>
            <a:srgbClr val="0A1628">
              <a:alpha val="100000"/>
            </a:srgbClr>
          </a:solidFill>
          <a:ln w="12700" cap="flat" cmpd="sng" algn="ctr">
            <a:solidFill>
              <a:srgbClr val="FFB84D"/>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22" name="Stat1_Bar">
            <a:extLst>
              <a:ext uri="{FF2B5EF4-FFF2-40B4-BE49-F238E27FC236}">
                <a16:creationId xmlns:a16="http://schemas.microsoft.com/office/drawing/2014/main" id="{E6EF3B7B-BD8B-47D6-B7F2-8F4398CC6D70}"/>
              </a:ext>
            </a:extLst>
          </p:cNvPr>
          <p:cNvSpPr/>
          <p:nvPr/>
        </p:nvSpPr>
        <p:spPr>
          <a:xfrm>
            <a:off x="431800" y="3771900"/>
            <a:ext cx="25400" cy="457200"/>
          </a:xfrm>
          <a:prstGeom prst="rect">
            <a:avLst/>
          </a:prstGeom>
          <a:solidFill>
            <a:srgbClr val="FFB84D"/>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23" name="Stat1_Num">
            <a:extLst>
              <a:ext uri="{FF2B5EF4-FFF2-40B4-BE49-F238E27FC236}">
                <a16:creationId xmlns:a16="http://schemas.microsoft.com/office/drawing/2014/main" id="{91488C49-6B13-48E9-92BF-41BB9892BF7D}"/>
              </a:ext>
            </a:extLst>
          </p:cNvPr>
          <p:cNvSpPr txBox="1"/>
          <p:nvPr/>
        </p:nvSpPr>
        <p:spPr>
          <a:xfrm>
            <a:off x="508000" y="3746500"/>
            <a:ext cx="889000" cy="279400"/>
          </a:xfrm>
          <a:prstGeom prst="rect">
            <a:avLst/>
          </a:prstGeom>
          <a:noFill/>
        </p:spPr>
        <p:txBody>
          <a:bodyPr vertOverflow="overflow" vert="horz" wrap="square" rtlCol="0" anchor="t">
            <a:spAutoFit/>
          </a:bodyPr>
          <a:lstStyle/>
          <a:p>
            <a:pPr algn="l"/>
            <a:r>
              <a:rPr lang="en-GB" sz="1600" b="1">
                <a:solidFill>
                  <a:srgbClr val="FFFFFF"/>
                </a:solidFill>
                <a:latin typeface="Calibri"/>
                <a:ea typeface="Calibri"/>
                <a:cs typeface="Calibri"/>
              </a:rPr>
              <a:t>7,650</a:t>
            </a:r>
          </a:p>
        </p:txBody>
      </p:sp>
      <p:sp>
        <p:nvSpPr>
          <p:cNvPr id="24" name="Stat1_Unit">
            <a:extLst>
              <a:ext uri="{FF2B5EF4-FFF2-40B4-BE49-F238E27FC236}">
                <a16:creationId xmlns:a16="http://schemas.microsoft.com/office/drawing/2014/main" id="{F1ECE2F8-A143-478D-9051-4DD10CF14E29}"/>
              </a:ext>
            </a:extLst>
          </p:cNvPr>
          <p:cNvSpPr txBox="1"/>
          <p:nvPr/>
        </p:nvSpPr>
        <p:spPr>
          <a:xfrm>
            <a:off x="508000" y="4000500"/>
            <a:ext cx="889000" cy="139700"/>
          </a:xfrm>
          <a:prstGeom prst="rect">
            <a:avLst/>
          </a:prstGeom>
          <a:noFill/>
        </p:spPr>
        <p:txBody>
          <a:bodyPr vertOverflow="overflow" vert="horz" wrap="square" rtlCol="0" anchor="t">
            <a:spAutoFit/>
          </a:bodyPr>
          <a:lstStyle/>
          <a:p>
            <a:pPr algn="l"/>
            <a:r>
              <a:rPr lang="en-GB" sz="700" b="1">
                <a:solidFill>
                  <a:srgbClr val="FFB84D"/>
                </a:solidFill>
                <a:latin typeface="Calibri"/>
                <a:ea typeface="Calibri"/>
                <a:cs typeface="Calibri"/>
              </a:rPr>
              <a:t>HD PHOTOS</a:t>
            </a:r>
          </a:p>
        </p:txBody>
      </p:sp>
      <p:sp>
        <p:nvSpPr>
          <p:cNvPr id="25" name="Stat1_Cap">
            <a:extLst>
              <a:ext uri="{FF2B5EF4-FFF2-40B4-BE49-F238E27FC236}">
                <a16:creationId xmlns:a16="http://schemas.microsoft.com/office/drawing/2014/main" id="{6F41A54D-6669-4B0A-A11C-FBE9400BEDDA}"/>
              </a:ext>
            </a:extLst>
          </p:cNvPr>
          <p:cNvSpPr txBox="1"/>
          <p:nvPr/>
        </p:nvSpPr>
        <p:spPr>
          <a:xfrm>
            <a:off x="1422400" y="3771900"/>
            <a:ext cx="914400" cy="457200"/>
          </a:xfrm>
          <a:prstGeom prst="rect">
            <a:avLst/>
          </a:prstGeom>
          <a:noFill/>
        </p:spPr>
        <p:txBody>
          <a:bodyPr vertOverflow="overflow" vert="horz" wrap="square" rtlCol="0" anchor="ctr" anchorCtr="0">
            <a:spAutoFit/>
          </a:bodyPr>
          <a:lstStyle/>
          <a:p>
            <a:pPr algn="l"/>
            <a:r>
              <a:rPr lang="en-GB" sz="800">
                <a:solidFill>
                  <a:srgbClr val="E8EEF5"/>
                </a:solidFill>
                <a:latin typeface="Calibri"/>
                <a:ea typeface="Calibri"/>
                <a:cs typeface="Calibri"/>
              </a:rPr>
              <a:t>captured across the network</a:t>
            </a:r>
          </a:p>
        </p:txBody>
      </p:sp>
      <p:sp>
        <p:nvSpPr>
          <p:cNvPr id="26" name="Stat2_Pill">
            <a:extLst>
              <a:ext uri="{FF2B5EF4-FFF2-40B4-BE49-F238E27FC236}">
                <a16:creationId xmlns:a16="http://schemas.microsoft.com/office/drawing/2014/main" id="{4B591B67-4B11-4287-B8F1-FFC42C504422}"/>
              </a:ext>
            </a:extLst>
          </p:cNvPr>
          <p:cNvSpPr/>
          <p:nvPr/>
        </p:nvSpPr>
        <p:spPr>
          <a:xfrm>
            <a:off x="2489200" y="3708400"/>
            <a:ext cx="2057400" cy="584200"/>
          </a:xfrm>
          <a:prstGeom prst="roundRect">
            <a:avLst/>
          </a:prstGeom>
          <a:solidFill>
            <a:srgbClr val="0A1628">
              <a:alpha val="100000"/>
            </a:srgbClr>
          </a:solidFill>
          <a:ln w="12700" cap="flat" cmpd="sng" algn="ctr">
            <a:solidFill>
              <a:srgbClr val="FFB84D"/>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27" name="Stat2_Bar">
            <a:extLst>
              <a:ext uri="{FF2B5EF4-FFF2-40B4-BE49-F238E27FC236}">
                <a16:creationId xmlns:a16="http://schemas.microsoft.com/office/drawing/2014/main" id="{17D859DA-C099-4BCD-98E1-F61696C36951}"/>
              </a:ext>
            </a:extLst>
          </p:cNvPr>
          <p:cNvSpPr/>
          <p:nvPr/>
        </p:nvSpPr>
        <p:spPr>
          <a:xfrm>
            <a:off x="2565400" y="3771900"/>
            <a:ext cx="25400" cy="457200"/>
          </a:xfrm>
          <a:prstGeom prst="rect">
            <a:avLst/>
          </a:prstGeom>
          <a:solidFill>
            <a:srgbClr val="FFB84D"/>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28" name="Stat2_Num">
            <a:extLst>
              <a:ext uri="{FF2B5EF4-FFF2-40B4-BE49-F238E27FC236}">
                <a16:creationId xmlns:a16="http://schemas.microsoft.com/office/drawing/2014/main" id="{0AB4FD2B-ACE4-4739-BF16-5EF6F981E1C4}"/>
              </a:ext>
            </a:extLst>
          </p:cNvPr>
          <p:cNvSpPr txBox="1"/>
          <p:nvPr/>
        </p:nvSpPr>
        <p:spPr>
          <a:xfrm>
            <a:off x="2641600" y="3746500"/>
            <a:ext cx="889000" cy="279400"/>
          </a:xfrm>
          <a:prstGeom prst="rect">
            <a:avLst/>
          </a:prstGeom>
          <a:noFill/>
        </p:spPr>
        <p:txBody>
          <a:bodyPr vertOverflow="overflow" vert="horz" wrap="square" rtlCol="0" anchor="t">
            <a:spAutoFit/>
          </a:bodyPr>
          <a:lstStyle/>
          <a:p>
            <a:pPr algn="l"/>
            <a:r>
              <a:rPr lang="en-GB" sz="1600" b="1">
                <a:solidFill>
                  <a:srgbClr val="FFFFFF"/>
                </a:solidFill>
                <a:latin typeface="Calibri"/>
                <a:ea typeface="Calibri"/>
                <a:cs typeface="Calibri"/>
              </a:rPr>
              <a:t>300+</a:t>
            </a:r>
          </a:p>
        </p:txBody>
      </p:sp>
      <p:sp>
        <p:nvSpPr>
          <p:cNvPr id="29" name="Stat2_Unit">
            <a:extLst>
              <a:ext uri="{FF2B5EF4-FFF2-40B4-BE49-F238E27FC236}">
                <a16:creationId xmlns:a16="http://schemas.microsoft.com/office/drawing/2014/main" id="{C8CF9617-1C03-4583-9C1D-3623920DED8C}"/>
              </a:ext>
            </a:extLst>
          </p:cNvPr>
          <p:cNvSpPr txBox="1"/>
          <p:nvPr/>
        </p:nvSpPr>
        <p:spPr>
          <a:xfrm>
            <a:off x="2641600" y="4000500"/>
            <a:ext cx="889000" cy="139700"/>
          </a:xfrm>
          <a:prstGeom prst="rect">
            <a:avLst/>
          </a:prstGeom>
          <a:noFill/>
        </p:spPr>
        <p:txBody>
          <a:bodyPr vertOverflow="overflow" vert="horz" wrap="square" rtlCol="0" anchor="t">
            <a:spAutoFit/>
          </a:bodyPr>
          <a:lstStyle/>
          <a:p>
            <a:pPr algn="l"/>
            <a:r>
              <a:rPr lang="en-GB" sz="700" b="1">
                <a:solidFill>
                  <a:srgbClr val="FFB84D"/>
                </a:solidFill>
                <a:latin typeface="Calibri"/>
                <a:ea typeface="Calibri"/>
                <a:cs typeface="Calibri"/>
              </a:rPr>
              <a:t>FLIGHTS</a:t>
            </a:r>
          </a:p>
        </p:txBody>
      </p:sp>
      <p:sp>
        <p:nvSpPr>
          <p:cNvPr id="30" name="Stat2_Cap">
            <a:extLst>
              <a:ext uri="{FF2B5EF4-FFF2-40B4-BE49-F238E27FC236}">
                <a16:creationId xmlns:a16="http://schemas.microsoft.com/office/drawing/2014/main" id="{968F2866-980C-44F0-88D9-4FEF9947EB28}"/>
              </a:ext>
            </a:extLst>
          </p:cNvPr>
          <p:cNvSpPr txBox="1"/>
          <p:nvPr/>
        </p:nvSpPr>
        <p:spPr>
          <a:xfrm>
            <a:off x="3556000" y="3771900"/>
            <a:ext cx="914400" cy="457200"/>
          </a:xfrm>
          <a:prstGeom prst="rect">
            <a:avLst/>
          </a:prstGeom>
          <a:noFill/>
        </p:spPr>
        <p:txBody>
          <a:bodyPr vertOverflow="overflow" vert="horz" wrap="square" rtlCol="0" anchor="ctr" anchorCtr="0">
            <a:spAutoFit/>
          </a:bodyPr>
          <a:lstStyle/>
          <a:p>
            <a:pPr algn="l"/>
            <a:r>
              <a:rPr lang="en-GB" sz="800">
                <a:solidFill>
                  <a:srgbClr val="E8EEF5"/>
                </a:solidFill>
                <a:latin typeface="Calibri"/>
                <a:ea typeface="Calibri"/>
                <a:cs typeface="Calibri"/>
              </a:rPr>
              <a:t>drone &amp; survey reports</a:t>
            </a:r>
          </a:p>
        </p:txBody>
      </p:sp>
      <p:sp>
        <p:nvSpPr>
          <p:cNvPr id="31" name="Stat3_Pill">
            <a:extLst>
              <a:ext uri="{FF2B5EF4-FFF2-40B4-BE49-F238E27FC236}">
                <a16:creationId xmlns:a16="http://schemas.microsoft.com/office/drawing/2014/main" id="{8D415F3D-0860-4009-A511-08CB37F9D070}"/>
              </a:ext>
            </a:extLst>
          </p:cNvPr>
          <p:cNvSpPr/>
          <p:nvPr/>
        </p:nvSpPr>
        <p:spPr>
          <a:xfrm>
            <a:off x="4622800" y="3708400"/>
            <a:ext cx="2057400" cy="584200"/>
          </a:xfrm>
          <a:prstGeom prst="roundRect">
            <a:avLst/>
          </a:prstGeom>
          <a:solidFill>
            <a:srgbClr val="0A1628">
              <a:alpha val="100000"/>
            </a:srgbClr>
          </a:solidFill>
          <a:ln w="12700" cap="flat" cmpd="sng" algn="ctr">
            <a:solidFill>
              <a:srgbClr val="5DCC8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32" name="Stat3_Bar">
            <a:extLst>
              <a:ext uri="{FF2B5EF4-FFF2-40B4-BE49-F238E27FC236}">
                <a16:creationId xmlns:a16="http://schemas.microsoft.com/office/drawing/2014/main" id="{94EB53A3-55BA-4506-B25F-7C1006F05881}"/>
              </a:ext>
            </a:extLst>
          </p:cNvPr>
          <p:cNvSpPr/>
          <p:nvPr/>
        </p:nvSpPr>
        <p:spPr>
          <a:xfrm>
            <a:off x="4699000" y="3771900"/>
            <a:ext cx="25400" cy="457200"/>
          </a:xfrm>
          <a:prstGeom prst="rect">
            <a:avLst/>
          </a:prstGeom>
          <a:solidFill>
            <a:srgbClr val="5DCC8F"/>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33" name="Stat3_Num">
            <a:extLst>
              <a:ext uri="{FF2B5EF4-FFF2-40B4-BE49-F238E27FC236}">
                <a16:creationId xmlns:a16="http://schemas.microsoft.com/office/drawing/2014/main" id="{3B7EEEE8-2744-4FB0-88FD-6712839EE64C}"/>
              </a:ext>
            </a:extLst>
          </p:cNvPr>
          <p:cNvSpPr txBox="1"/>
          <p:nvPr/>
        </p:nvSpPr>
        <p:spPr>
          <a:xfrm>
            <a:off x="4775200" y="3746500"/>
            <a:ext cx="889000" cy="279400"/>
          </a:xfrm>
          <a:prstGeom prst="rect">
            <a:avLst/>
          </a:prstGeom>
          <a:noFill/>
        </p:spPr>
        <p:txBody>
          <a:bodyPr vertOverflow="overflow" vert="horz" wrap="square" rtlCol="0" anchor="t">
            <a:spAutoFit/>
          </a:bodyPr>
          <a:lstStyle/>
          <a:p>
            <a:pPr algn="l"/>
            <a:r>
              <a:rPr lang="en-GB" sz="1600" b="1">
                <a:solidFill>
                  <a:srgbClr val="FFFFFF"/>
                </a:solidFill>
                <a:latin typeface="Calibri"/>
                <a:ea typeface="Calibri"/>
                <a:cs typeface="Calibri"/>
              </a:rPr>
              <a:t>1 mo</a:t>
            </a:r>
          </a:p>
        </p:txBody>
      </p:sp>
      <p:sp>
        <p:nvSpPr>
          <p:cNvPr id="34" name="Stat3_Unit">
            <a:extLst>
              <a:ext uri="{FF2B5EF4-FFF2-40B4-BE49-F238E27FC236}">
                <a16:creationId xmlns:a16="http://schemas.microsoft.com/office/drawing/2014/main" id="{38435211-6A48-46C9-9352-F79C2DA661EB}"/>
              </a:ext>
            </a:extLst>
          </p:cNvPr>
          <p:cNvSpPr txBox="1"/>
          <p:nvPr/>
        </p:nvSpPr>
        <p:spPr>
          <a:xfrm>
            <a:off x="4775200" y="4000500"/>
            <a:ext cx="889000" cy="139700"/>
          </a:xfrm>
          <a:prstGeom prst="rect">
            <a:avLst/>
          </a:prstGeom>
          <a:noFill/>
        </p:spPr>
        <p:txBody>
          <a:bodyPr vertOverflow="overflow" vert="horz" wrap="square" rtlCol="0" anchor="t">
            <a:spAutoFit/>
          </a:bodyPr>
          <a:lstStyle/>
          <a:p>
            <a:pPr algn="l"/>
            <a:r>
              <a:rPr lang="en-GB" sz="700" b="1">
                <a:solidFill>
                  <a:srgbClr val="5DCC8F"/>
                </a:solidFill>
                <a:latin typeface="Calibri"/>
                <a:ea typeface="Calibri"/>
                <a:cs typeface="Calibri"/>
              </a:rPr>
              <a:t>vs 4 mo</a:t>
            </a:r>
          </a:p>
        </p:txBody>
      </p:sp>
      <p:sp>
        <p:nvSpPr>
          <p:cNvPr id="35" name="Stat3_Cap">
            <a:extLst>
              <a:ext uri="{FF2B5EF4-FFF2-40B4-BE49-F238E27FC236}">
                <a16:creationId xmlns:a16="http://schemas.microsoft.com/office/drawing/2014/main" id="{A39C74CE-83BC-48F3-BBE1-2DD2DBE3684B}"/>
              </a:ext>
            </a:extLst>
          </p:cNvPr>
          <p:cNvSpPr txBox="1"/>
          <p:nvPr/>
        </p:nvSpPr>
        <p:spPr>
          <a:xfrm>
            <a:off x="5689600" y="3771900"/>
            <a:ext cx="914400" cy="457200"/>
          </a:xfrm>
          <a:prstGeom prst="rect">
            <a:avLst/>
          </a:prstGeom>
          <a:noFill/>
        </p:spPr>
        <p:txBody>
          <a:bodyPr vertOverflow="overflow" vert="horz" wrap="square" rtlCol="0" anchor="ctr" anchorCtr="0">
            <a:spAutoFit/>
          </a:bodyPr>
          <a:lstStyle/>
          <a:p>
            <a:pPr algn="l"/>
            <a:r>
              <a:rPr lang="en-GB" sz="800">
                <a:solidFill>
                  <a:srgbClr val="E8EEF5"/>
                </a:solidFill>
                <a:latin typeface="Calibri"/>
                <a:ea typeface="Calibri"/>
                <a:cs typeface="Calibri"/>
              </a:rPr>
              <a:t>time to complete survey</a:t>
            </a:r>
          </a:p>
        </p:txBody>
      </p:sp>
      <p:sp>
        <p:nvSpPr>
          <p:cNvPr id="36" name="Stat4_Pill">
            <a:extLst>
              <a:ext uri="{FF2B5EF4-FFF2-40B4-BE49-F238E27FC236}">
                <a16:creationId xmlns:a16="http://schemas.microsoft.com/office/drawing/2014/main" id="{BF602C4E-07C5-4947-8976-C565FCCF3BFD}"/>
              </a:ext>
            </a:extLst>
          </p:cNvPr>
          <p:cNvSpPr/>
          <p:nvPr/>
        </p:nvSpPr>
        <p:spPr>
          <a:xfrm>
            <a:off x="6756400" y="3708400"/>
            <a:ext cx="2057400" cy="584200"/>
          </a:xfrm>
          <a:prstGeom prst="roundRect">
            <a:avLst/>
          </a:prstGeom>
          <a:solidFill>
            <a:srgbClr val="0A1628">
              <a:alpha val="100000"/>
            </a:srgbClr>
          </a:solidFill>
          <a:ln w="12700" cap="flat" cmpd="sng" algn="ctr">
            <a:solidFill>
              <a:srgbClr val="5DCC8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37" name="Stat4_Bar">
            <a:extLst>
              <a:ext uri="{FF2B5EF4-FFF2-40B4-BE49-F238E27FC236}">
                <a16:creationId xmlns:a16="http://schemas.microsoft.com/office/drawing/2014/main" id="{3862401B-2B10-41B4-B1BC-39866EDD2058}"/>
              </a:ext>
            </a:extLst>
          </p:cNvPr>
          <p:cNvSpPr/>
          <p:nvPr/>
        </p:nvSpPr>
        <p:spPr>
          <a:xfrm>
            <a:off x="6832600" y="3771900"/>
            <a:ext cx="25400" cy="457200"/>
          </a:xfrm>
          <a:prstGeom prst="rect">
            <a:avLst/>
          </a:prstGeom>
          <a:solidFill>
            <a:srgbClr val="5DCC8F"/>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38" name="Stat4_Num">
            <a:extLst>
              <a:ext uri="{FF2B5EF4-FFF2-40B4-BE49-F238E27FC236}">
                <a16:creationId xmlns:a16="http://schemas.microsoft.com/office/drawing/2014/main" id="{040D0029-C5B3-436C-A165-0E569393F7E6}"/>
              </a:ext>
            </a:extLst>
          </p:cNvPr>
          <p:cNvSpPr txBox="1"/>
          <p:nvPr/>
        </p:nvSpPr>
        <p:spPr>
          <a:xfrm>
            <a:off x="6908800" y="3746500"/>
            <a:ext cx="889000" cy="279400"/>
          </a:xfrm>
          <a:prstGeom prst="rect">
            <a:avLst/>
          </a:prstGeom>
          <a:noFill/>
        </p:spPr>
        <p:txBody>
          <a:bodyPr vertOverflow="overflow" vert="horz" wrap="square" rtlCol="0" anchor="t">
            <a:spAutoFit/>
          </a:bodyPr>
          <a:lstStyle/>
          <a:p>
            <a:pPr algn="l"/>
            <a:r>
              <a:rPr lang="en-GB" sz="1600" b="1">
                <a:solidFill>
                  <a:srgbClr val="FFFFFF"/>
                </a:solidFill>
                <a:latin typeface="Calibri"/>
                <a:ea typeface="Calibri"/>
                <a:cs typeface="Calibri"/>
              </a:rPr>
              <a:t>0</a:t>
            </a:r>
          </a:p>
        </p:txBody>
      </p:sp>
      <p:sp>
        <p:nvSpPr>
          <p:cNvPr id="39" name="Stat4_Unit">
            <a:extLst>
              <a:ext uri="{FF2B5EF4-FFF2-40B4-BE49-F238E27FC236}">
                <a16:creationId xmlns:a16="http://schemas.microsoft.com/office/drawing/2014/main" id="{156230B1-159F-4BBF-852F-7CCB7FA69312}"/>
              </a:ext>
            </a:extLst>
          </p:cNvPr>
          <p:cNvSpPr txBox="1"/>
          <p:nvPr/>
        </p:nvSpPr>
        <p:spPr>
          <a:xfrm>
            <a:off x="6908800" y="4000500"/>
            <a:ext cx="889000" cy="139700"/>
          </a:xfrm>
          <a:prstGeom prst="rect">
            <a:avLst/>
          </a:prstGeom>
          <a:noFill/>
        </p:spPr>
        <p:txBody>
          <a:bodyPr vertOverflow="overflow" vert="horz" wrap="square" rtlCol="0" anchor="t">
            <a:spAutoFit/>
          </a:bodyPr>
          <a:lstStyle/>
          <a:p>
            <a:pPr algn="l"/>
            <a:r>
              <a:rPr lang="en-GB" sz="700" b="1">
                <a:solidFill>
                  <a:srgbClr val="5DCC8F"/>
                </a:solidFill>
                <a:latin typeface="Calibri"/>
                <a:ea typeface="Calibri"/>
                <a:cs typeface="Calibri"/>
              </a:rPr>
              <a:t>CLOSURES</a:t>
            </a:r>
          </a:p>
        </p:txBody>
      </p:sp>
      <p:sp>
        <p:nvSpPr>
          <p:cNvPr id="40" name="Stat4_Cap">
            <a:extLst>
              <a:ext uri="{FF2B5EF4-FFF2-40B4-BE49-F238E27FC236}">
                <a16:creationId xmlns:a16="http://schemas.microsoft.com/office/drawing/2014/main" id="{0935E679-22E3-491E-8DA1-3CA93CBAE3E8}"/>
              </a:ext>
            </a:extLst>
          </p:cNvPr>
          <p:cNvSpPr txBox="1"/>
          <p:nvPr/>
        </p:nvSpPr>
        <p:spPr>
          <a:xfrm>
            <a:off x="7823200" y="3771900"/>
            <a:ext cx="914400" cy="457200"/>
          </a:xfrm>
          <a:prstGeom prst="rect">
            <a:avLst/>
          </a:prstGeom>
          <a:noFill/>
        </p:spPr>
        <p:txBody>
          <a:bodyPr vertOverflow="overflow" vert="horz" wrap="square" rtlCol="0" anchor="ctr" anchorCtr="0">
            <a:spAutoFit/>
          </a:bodyPr>
          <a:lstStyle/>
          <a:p>
            <a:pPr algn="l"/>
            <a:r>
              <a:rPr lang="en-GB" sz="800">
                <a:solidFill>
                  <a:srgbClr val="E8EEF5"/>
                </a:solidFill>
                <a:latin typeface="Calibri"/>
                <a:ea typeface="Calibri"/>
                <a:cs typeface="Calibri"/>
              </a:rPr>
              <a:t>trains kept running</a:t>
            </a:r>
          </a:p>
        </p:txBody>
      </p:sp>
      <p:sp>
        <p:nvSpPr>
          <p:cNvPr id="41" name="LeadQuestion">
            <a:extLst>
              <a:ext uri="{FF2B5EF4-FFF2-40B4-BE49-F238E27FC236}">
                <a16:creationId xmlns:a16="http://schemas.microsoft.com/office/drawing/2014/main" id="{214DE763-AB1F-49C9-B9F4-1D359FD00BF3}"/>
              </a:ext>
            </a:extLst>
          </p:cNvPr>
          <p:cNvSpPr txBox="1"/>
          <p:nvPr/>
        </p:nvSpPr>
        <p:spPr>
          <a:xfrm>
            <a:off x="355600" y="76200"/>
            <a:ext cx="8432800" cy="228600"/>
          </a:xfrm>
          <a:prstGeom prst="rect">
            <a:avLst/>
          </a:prstGeom>
          <a:noFill/>
        </p:spPr>
        <p:txBody>
          <a:bodyPr vertOverflow="overflow" vert="horz" wrap="square" rtlCol="0" anchor="t">
            <a:spAutoFit/>
          </a:bodyPr>
          <a:lstStyle/>
          <a:p>
            <a:pPr algn="l"/>
            <a:r>
              <a:rPr lang="en-GB" sz="1200" b="1">
                <a:solidFill>
                  <a:srgbClr val="0A1628"/>
                </a:solidFill>
                <a:latin typeface="Calibri"/>
                <a:ea typeface="Calibri"/>
                <a:cs typeface="Calibri"/>
              </a:rPr>
              <a:t>One surveyor.  A 360° camera.  A laser scanner.  What could YOU build with that?</a:t>
            </a:r>
          </a:p>
        </p:txBody>
      </p:sp>
      <p:sp>
        <p:nvSpPr>
          <p:cNvPr id="42" name="LiveModelButton">
            <a:extLst>
              <a:ext uri="{FF2B5EF4-FFF2-40B4-BE49-F238E27FC236}">
                <a16:creationId xmlns:a16="http://schemas.microsoft.com/office/drawing/2014/main" id="{DF002D34-72EB-4FD1-A2F5-00A4FF851C8E}"/>
              </a:ext>
            </a:extLst>
          </p:cNvPr>
          <p:cNvSpPr/>
          <p:nvPr/>
        </p:nvSpPr>
        <p:spPr>
          <a:xfrm>
            <a:off x="6146800" y="4394200"/>
            <a:ext cx="2641600" cy="330200"/>
          </a:xfrm>
          <a:prstGeom prst="roundRect">
            <a:avLst/>
          </a:prstGeom>
          <a:solidFill>
            <a:srgbClr val="FFB84D"/>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43" name="LiveModelButtonText">
            <a:extLst>
              <a:ext uri="{FF2B5EF4-FFF2-40B4-BE49-F238E27FC236}">
                <a16:creationId xmlns:a16="http://schemas.microsoft.com/office/drawing/2014/main" id="{A472ECAE-E278-4E44-92E7-3FAD049AAD01}"/>
              </a:ext>
            </a:extLst>
          </p:cNvPr>
          <p:cNvSpPr txBox="1"/>
          <p:nvPr/>
        </p:nvSpPr>
        <p:spPr>
          <a:xfrm>
            <a:off x="6146800" y="4419600"/>
            <a:ext cx="2641600" cy="279400"/>
          </a:xfrm>
          <a:prstGeom prst="rect">
            <a:avLst/>
          </a:prstGeom>
          <a:noFill/>
        </p:spPr>
        <p:txBody>
          <a:bodyPr vertOverflow="overflow" vert="horz" wrap="square" rtlCol="0" anchor="ctr" anchorCtr="0">
            <a:spAutoFit/>
          </a:bodyPr>
          <a:lstStyle/>
          <a:p>
            <a:pPr algn="l"/>
            <a:r>
              <a:rPr lang="en-GB" sz="1100" b="1" dirty="0">
                <a:solidFill>
                  <a:srgbClr val="0A1628"/>
                </a:solidFill>
                <a:latin typeface="Calibri"/>
                <a:ea typeface="Calibri"/>
                <a:cs typeface="Calibri"/>
              </a:rPr>
              <a:t>▶  Try the live 3D point cloud</a:t>
            </a:r>
          </a:p>
        </p:txBody>
      </p:sp>
      <p:sp>
        <p:nvSpPr>
          <p:cNvPr id="44" name="TransitionHook">
            <a:extLst>
              <a:ext uri="{FF2B5EF4-FFF2-40B4-BE49-F238E27FC236}">
                <a16:creationId xmlns:a16="http://schemas.microsoft.com/office/drawing/2014/main" id="{35B807B0-BA0D-411D-BC50-D480958533CC}"/>
              </a:ext>
            </a:extLst>
          </p:cNvPr>
          <p:cNvSpPr txBox="1"/>
          <p:nvPr/>
        </p:nvSpPr>
        <p:spPr>
          <a:xfrm>
            <a:off x="355600" y="4851400"/>
            <a:ext cx="5715000" cy="203200"/>
          </a:xfrm>
          <a:prstGeom prst="rect">
            <a:avLst/>
          </a:prstGeom>
          <a:noFill/>
        </p:spPr>
        <p:txBody>
          <a:bodyPr vertOverflow="overflow" vert="horz" wrap="square" rtlCol="0" anchor="t">
            <a:spAutoFit/>
          </a:bodyPr>
          <a:lstStyle/>
          <a:p>
            <a:pPr algn="l"/>
            <a:r>
              <a:rPr lang="en-GB" sz="900" i="1" dirty="0">
                <a:solidFill>
                  <a:srgbClr val="C97A2B"/>
                </a:solidFill>
                <a:latin typeface="Calibri"/>
                <a:ea typeface="Calibri"/>
                <a:cs typeface="Calibri"/>
              </a:rPr>
              <a:t>Data-to-decision gap:  millions of data points captured.  Zero decisions — yet…</a:t>
            </a:r>
          </a:p>
        </p:txBody>
      </p:sp>
      <p:pic>
        <p:nvPicPr>
          <p:cNvPr id="47" name="Picture 46">
            <a:extLst>
              <a:ext uri="{FF2B5EF4-FFF2-40B4-BE49-F238E27FC236}">
                <a16:creationId xmlns:a16="http://schemas.microsoft.com/office/drawing/2014/main" id="{9A9E3123-2F76-F871-9725-A9BB849D8069}"/>
              </a:ext>
            </a:extLst>
          </p:cNvPr>
          <p:cNvPicPr>
            <a:picLocks/>
          </p:cNvPicPr>
          <p:nvPr/>
        </p:nvPicPr>
        <p:blipFill>
          <a:blip r:embed="rId7"/>
          <a:stretch>
            <a:fillRect/>
          </a:stretch>
        </p:blipFill>
        <p:spPr>
          <a:xfrm>
            <a:off x="355600" y="787400"/>
            <a:ext cx="2413000" cy="1320800"/>
          </a:xfrm>
          <a:prstGeom prst="rect">
            <a:avLst/>
          </a:prstGeom>
        </p:spPr>
      </p:pic>
    </p:spTree>
    <p:extLst>
      <p:ext uri="{BB962C8B-B14F-4D97-AF65-F5344CB8AC3E}">
        <p14:creationId xmlns:p14="http://schemas.microsoft.com/office/powerpoint/2010/main" val="38763066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descr="No alternative text description for this image">
            <a:extLst>
              <a:ext uri="{FF2B5EF4-FFF2-40B4-BE49-F238E27FC236}">
                <a16:creationId xmlns:a16="http://schemas.microsoft.com/office/drawing/2014/main" id="{584E6BF9-BE9C-8D9C-F4BD-DBD3C206260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46800" y="736600"/>
            <a:ext cx="2667000" cy="2184400"/>
          </a:xfrm>
          <a:prstGeom prst="rect">
            <a:avLst/>
          </a:prstGeom>
          <a:noFill/>
          <a:extLst>
            <a:ext uri="{909E8E84-426E-40DD-AFC4-6F175D3DCCD1}">
              <a14:hiddenFill xmlns:a14="http://schemas.microsoft.com/office/drawing/2010/main">
                <a:solidFill>
                  <a:srgbClr val="FFFFFF"/>
                </a:solidFill>
              </a14:hiddenFill>
            </a:ext>
          </a:extLst>
        </p:spPr>
      </p:pic>
      <p:pic>
        <p:nvPicPr>
          <p:cNvPr id="5124" name="Picture 4" descr="diagram">
            <a:extLst>
              <a:ext uri="{FF2B5EF4-FFF2-40B4-BE49-F238E27FC236}">
                <a16:creationId xmlns:a16="http://schemas.microsoft.com/office/drawing/2014/main" id="{15992664-4DDF-4E35-C6BD-734992336A7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5600" y="736600"/>
            <a:ext cx="2794000" cy="2184400"/>
          </a:xfrm>
          <a:prstGeom prst="rect">
            <a:avLst/>
          </a:prstGeom>
          <a:noFill/>
          <a:extLst>
            <a:ext uri="{909E8E84-426E-40DD-AFC4-6F175D3DCCD1}">
              <a14:hiddenFill xmlns:a14="http://schemas.microsoft.com/office/drawing/2010/main">
                <a:solidFill>
                  <a:srgbClr val="FFFFFF"/>
                </a:solidFill>
              </a14:hiddenFill>
            </a:ext>
          </a:extLst>
        </p:spPr>
      </p:pic>
      <p:pic>
        <p:nvPicPr>
          <p:cNvPr id="5128" name="Picture 8" descr="What is OCR? Learn How OCR Technology Transforms Business!">
            <a:extLst>
              <a:ext uri="{FF2B5EF4-FFF2-40B4-BE49-F238E27FC236}">
                <a16:creationId xmlns:a16="http://schemas.microsoft.com/office/drawing/2014/main" id="{581F95BD-DF86-438F-A6FB-C5346304CBF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251200" y="736600"/>
            <a:ext cx="2794000" cy="2184400"/>
          </a:xfrm>
          <a:prstGeom prst="rect">
            <a:avLst/>
          </a:prstGeom>
          <a:noFill/>
          <a:extLst>
            <a:ext uri="{909E8E84-426E-40DD-AFC4-6F175D3DCCD1}">
              <a14:hiddenFill xmlns:a14="http://schemas.microsoft.com/office/drawing/2010/main">
                <a:solidFill>
                  <a:srgbClr val="FFFFFF"/>
                </a:solidFill>
              </a14:hiddenFill>
            </a:ext>
          </a:extLst>
        </p:spPr>
      </p:pic>
      <p:sp>
        <p:nvSpPr>
          <p:cNvPr id="2" name="Eyebrow">
            <a:extLst>
              <a:ext uri="{FF2B5EF4-FFF2-40B4-BE49-F238E27FC236}">
                <a16:creationId xmlns:a16="http://schemas.microsoft.com/office/drawing/2014/main" id="{7F1541F5-D264-4C83-9342-65EE6143B782}"/>
              </a:ext>
            </a:extLst>
          </p:cNvPr>
          <p:cNvSpPr txBox="1"/>
          <p:nvPr/>
        </p:nvSpPr>
        <p:spPr>
          <a:xfrm>
            <a:off x="355600" y="76200"/>
            <a:ext cx="8432800" cy="177800"/>
          </a:xfrm>
          <a:prstGeom prst="rect">
            <a:avLst/>
          </a:prstGeom>
          <a:noFill/>
        </p:spPr>
        <p:txBody>
          <a:bodyPr vertOverflow="overflow" vert="horz" wrap="square" rtlCol="0" anchor="t">
            <a:spAutoFit/>
          </a:bodyPr>
          <a:lstStyle/>
          <a:p>
            <a:pPr algn="l"/>
            <a:r>
              <a:rPr lang="en-GB" sz="900" b="1">
                <a:solidFill>
                  <a:srgbClr val="FFB84D"/>
                </a:solidFill>
                <a:latin typeface="Calibri"/>
                <a:ea typeface="Calibri"/>
                <a:cs typeface="Calibri"/>
              </a:rPr>
              <a:t>PART 2 OF 2  ·  DATA MANAGEMENT  ·  FROM DATA TO DECISIONS</a:t>
            </a:r>
          </a:p>
        </p:txBody>
      </p:sp>
      <p:sp>
        <p:nvSpPr>
          <p:cNvPr id="3" name="LeadQuestion">
            <a:extLst>
              <a:ext uri="{FF2B5EF4-FFF2-40B4-BE49-F238E27FC236}">
                <a16:creationId xmlns:a16="http://schemas.microsoft.com/office/drawing/2014/main" id="{13146C6F-1426-4234-8613-8F781E7A135A}"/>
              </a:ext>
            </a:extLst>
          </p:cNvPr>
          <p:cNvSpPr txBox="1"/>
          <p:nvPr/>
        </p:nvSpPr>
        <p:spPr>
          <a:xfrm>
            <a:off x="355600" y="304800"/>
            <a:ext cx="8432800" cy="355600"/>
          </a:xfrm>
          <a:prstGeom prst="rect">
            <a:avLst/>
          </a:prstGeom>
          <a:noFill/>
        </p:spPr>
        <p:txBody>
          <a:bodyPr vertOverflow="overflow" vert="horz" wrap="square" rtlCol="0" anchor="t">
            <a:spAutoFit/>
          </a:bodyPr>
          <a:lstStyle/>
          <a:p>
            <a:pPr algn="l"/>
            <a:r>
              <a:rPr lang="en-GB" sz="1200" b="1">
                <a:solidFill>
                  <a:srgbClr val="0A1628"/>
                </a:solidFill>
                <a:latin typeface="Calibri"/>
                <a:ea typeface="Calibri"/>
                <a:cs typeface="Calibri"/>
              </a:rPr>
              <a:t>Can AI be the empowered surveyor &amp; engineer — taking on the repetitive capture, processing and retrieval, so humans make the right calls?</a:t>
            </a:r>
          </a:p>
        </p:txBody>
      </p:sp>
      <p:sp>
        <p:nvSpPr>
          <p:cNvPr id="4" name="Lbl1_Pill">
            <a:extLst>
              <a:ext uri="{FF2B5EF4-FFF2-40B4-BE49-F238E27FC236}">
                <a16:creationId xmlns:a16="http://schemas.microsoft.com/office/drawing/2014/main" id="{AFB8E82C-291A-4D43-98AD-65CA22B7F833}"/>
              </a:ext>
            </a:extLst>
          </p:cNvPr>
          <p:cNvSpPr/>
          <p:nvPr/>
        </p:nvSpPr>
        <p:spPr>
          <a:xfrm>
            <a:off x="431800" y="2971800"/>
            <a:ext cx="2286000" cy="228600"/>
          </a:xfrm>
          <a:prstGeom prst="roundRect">
            <a:avLst/>
          </a:prstGeom>
          <a:solidFill>
            <a:srgbClr val="0A1628">
              <a:alpha val="100000"/>
            </a:srgbClr>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5" name="Lbl1_Text">
            <a:extLst>
              <a:ext uri="{FF2B5EF4-FFF2-40B4-BE49-F238E27FC236}">
                <a16:creationId xmlns:a16="http://schemas.microsoft.com/office/drawing/2014/main" id="{95B6802C-E821-4CFE-9282-98E99C361FF9}"/>
              </a:ext>
            </a:extLst>
          </p:cNvPr>
          <p:cNvSpPr txBox="1"/>
          <p:nvPr/>
        </p:nvSpPr>
        <p:spPr>
          <a:xfrm>
            <a:off x="508000" y="2984500"/>
            <a:ext cx="2133600" cy="203200"/>
          </a:xfrm>
          <a:prstGeom prst="rect">
            <a:avLst/>
          </a:prstGeom>
          <a:noFill/>
        </p:spPr>
        <p:txBody>
          <a:bodyPr vertOverflow="overflow" vert="horz" wrap="square" rtlCol="0" anchor="t">
            <a:spAutoFit/>
          </a:bodyPr>
          <a:lstStyle/>
          <a:p>
            <a:pPr algn="l"/>
            <a:r>
              <a:rPr lang="en-GB" sz="700" b="1">
                <a:solidFill>
                  <a:srgbClr val="FFB84D"/>
                </a:solidFill>
                <a:latin typeface="Calibri"/>
                <a:ea typeface="Calibri"/>
                <a:cs typeface="Calibri"/>
              </a:rPr>
              <a:t>KNOWLEDGE RAG  ·  the graph</a:t>
            </a:r>
          </a:p>
        </p:txBody>
      </p:sp>
      <p:sp>
        <p:nvSpPr>
          <p:cNvPr id="6" name="Lbl2_Pill">
            <a:extLst>
              <a:ext uri="{FF2B5EF4-FFF2-40B4-BE49-F238E27FC236}">
                <a16:creationId xmlns:a16="http://schemas.microsoft.com/office/drawing/2014/main" id="{BB6E9D41-1EA5-4373-B940-78D4FC96134B}"/>
              </a:ext>
            </a:extLst>
          </p:cNvPr>
          <p:cNvSpPr/>
          <p:nvPr/>
        </p:nvSpPr>
        <p:spPr>
          <a:xfrm>
            <a:off x="3327400" y="2971800"/>
            <a:ext cx="2286000" cy="228600"/>
          </a:xfrm>
          <a:prstGeom prst="roundRect">
            <a:avLst/>
          </a:prstGeom>
          <a:solidFill>
            <a:srgbClr val="0A1628">
              <a:alpha val="100000"/>
            </a:srgbClr>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7" name="Lbl2_Text">
            <a:extLst>
              <a:ext uri="{FF2B5EF4-FFF2-40B4-BE49-F238E27FC236}">
                <a16:creationId xmlns:a16="http://schemas.microsoft.com/office/drawing/2014/main" id="{9DC63B7B-9B22-4006-B393-636731DF780C}"/>
              </a:ext>
            </a:extLst>
          </p:cNvPr>
          <p:cNvSpPr txBox="1"/>
          <p:nvPr/>
        </p:nvSpPr>
        <p:spPr>
          <a:xfrm>
            <a:off x="3403600" y="2984500"/>
            <a:ext cx="2133600" cy="203200"/>
          </a:xfrm>
          <a:prstGeom prst="rect">
            <a:avLst/>
          </a:prstGeom>
          <a:noFill/>
        </p:spPr>
        <p:txBody>
          <a:bodyPr vertOverflow="overflow" vert="horz" wrap="square" rtlCol="0" anchor="t">
            <a:spAutoFit/>
          </a:bodyPr>
          <a:lstStyle/>
          <a:p>
            <a:pPr algn="l"/>
            <a:r>
              <a:rPr lang="en-GB" sz="700" b="1">
                <a:solidFill>
                  <a:srgbClr val="FFB84D"/>
                </a:solidFill>
                <a:latin typeface="Calibri"/>
                <a:ea typeface="Calibri"/>
                <a:cs typeface="Calibri"/>
              </a:rPr>
              <a:t>OCR+ TOOLKIT  ·  AI-ready data</a:t>
            </a:r>
          </a:p>
        </p:txBody>
      </p:sp>
      <p:sp>
        <p:nvSpPr>
          <p:cNvPr id="8" name="Lbl3_Pill">
            <a:extLst>
              <a:ext uri="{FF2B5EF4-FFF2-40B4-BE49-F238E27FC236}">
                <a16:creationId xmlns:a16="http://schemas.microsoft.com/office/drawing/2014/main" id="{3264BFF8-C04C-4FE2-AF6F-C6AC2351CFCC}"/>
              </a:ext>
            </a:extLst>
          </p:cNvPr>
          <p:cNvSpPr/>
          <p:nvPr/>
        </p:nvSpPr>
        <p:spPr>
          <a:xfrm>
            <a:off x="6223000" y="2971800"/>
            <a:ext cx="2540000" cy="228600"/>
          </a:xfrm>
          <a:prstGeom prst="roundRect">
            <a:avLst/>
          </a:prstGeom>
          <a:solidFill>
            <a:srgbClr val="0A1628">
              <a:alpha val="100000"/>
            </a:srgbClr>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9" name="Lbl3_Text">
            <a:extLst>
              <a:ext uri="{FF2B5EF4-FFF2-40B4-BE49-F238E27FC236}">
                <a16:creationId xmlns:a16="http://schemas.microsoft.com/office/drawing/2014/main" id="{53CB4008-BC47-4A9B-95D3-4F1F9BDFFEC3}"/>
              </a:ext>
            </a:extLst>
          </p:cNvPr>
          <p:cNvSpPr txBox="1"/>
          <p:nvPr/>
        </p:nvSpPr>
        <p:spPr>
          <a:xfrm>
            <a:off x="6299200" y="2984500"/>
            <a:ext cx="2387600" cy="203200"/>
          </a:xfrm>
          <a:prstGeom prst="rect">
            <a:avLst/>
          </a:prstGeom>
          <a:noFill/>
        </p:spPr>
        <p:txBody>
          <a:bodyPr vertOverflow="overflow" vert="horz" wrap="square" rtlCol="0" anchor="t">
            <a:spAutoFit/>
          </a:bodyPr>
          <a:lstStyle/>
          <a:p>
            <a:pPr algn="l"/>
            <a:r>
              <a:rPr lang="en-GB" sz="700" b="1">
                <a:solidFill>
                  <a:srgbClr val="FFB84D"/>
                </a:solidFill>
                <a:latin typeface="Calibri"/>
                <a:ea typeface="Calibri"/>
                <a:cs typeface="Calibri"/>
              </a:rPr>
              <a:t>THE AUGMENTED ENGINEER</a:t>
            </a:r>
          </a:p>
        </p:txBody>
      </p:sp>
      <p:sp>
        <p:nvSpPr>
          <p:cNvPr id="10" name="Desc1">
            <a:extLst>
              <a:ext uri="{FF2B5EF4-FFF2-40B4-BE49-F238E27FC236}">
                <a16:creationId xmlns:a16="http://schemas.microsoft.com/office/drawing/2014/main" id="{2875BD3F-5980-46A3-B492-1FF1F47813E6}"/>
              </a:ext>
            </a:extLst>
          </p:cNvPr>
          <p:cNvSpPr txBox="1"/>
          <p:nvPr/>
        </p:nvSpPr>
        <p:spPr>
          <a:xfrm>
            <a:off x="355600" y="3238500"/>
            <a:ext cx="2794000" cy="304800"/>
          </a:xfrm>
          <a:prstGeom prst="rect">
            <a:avLst/>
          </a:prstGeom>
          <a:noFill/>
        </p:spPr>
        <p:txBody>
          <a:bodyPr vertOverflow="overflow" vert="horz" wrap="square" rtlCol="0" anchor="t">
            <a:spAutoFit/>
          </a:bodyPr>
          <a:lstStyle/>
          <a:p>
            <a:pPr algn="l"/>
            <a:r>
              <a:rPr lang="en-GB" sz="800">
                <a:solidFill>
                  <a:srgbClr val="4A5568"/>
                </a:solidFill>
                <a:latin typeface="Calibri"/>
                <a:ea typeface="Calibri"/>
                <a:cs typeface="Calibri"/>
              </a:rPr>
              <a:t>Nodes = assets, defects, standards.  Edges = relationships AI can reason across.</a:t>
            </a:r>
          </a:p>
        </p:txBody>
      </p:sp>
      <p:sp>
        <p:nvSpPr>
          <p:cNvPr id="11" name="Desc2">
            <a:extLst>
              <a:ext uri="{FF2B5EF4-FFF2-40B4-BE49-F238E27FC236}">
                <a16:creationId xmlns:a16="http://schemas.microsoft.com/office/drawing/2014/main" id="{F2C34FC7-721D-41E7-9AA2-D7A1F1A4B9C8}"/>
              </a:ext>
            </a:extLst>
          </p:cNvPr>
          <p:cNvSpPr txBox="1"/>
          <p:nvPr/>
        </p:nvSpPr>
        <p:spPr>
          <a:xfrm>
            <a:off x="3251200" y="3238500"/>
            <a:ext cx="2794000" cy="304800"/>
          </a:xfrm>
          <a:prstGeom prst="rect">
            <a:avLst/>
          </a:prstGeom>
          <a:noFill/>
        </p:spPr>
        <p:txBody>
          <a:bodyPr vertOverflow="overflow" vert="horz" wrap="square" rtlCol="0" anchor="t">
            <a:spAutoFit/>
          </a:bodyPr>
          <a:lstStyle/>
          <a:p>
            <a:pPr algn="l"/>
            <a:r>
              <a:rPr lang="en-GB" sz="800">
                <a:solidFill>
                  <a:srgbClr val="4A5568"/>
                </a:solidFill>
                <a:latin typeface="Calibri"/>
                <a:ea typeface="Calibri"/>
                <a:cs typeface="Calibri"/>
              </a:rPr>
              <a:t>Extracts text, symbols, diagrams — turns 7,650 photos into structured, searchable knowledge.</a:t>
            </a:r>
          </a:p>
        </p:txBody>
      </p:sp>
      <p:sp>
        <p:nvSpPr>
          <p:cNvPr id="12" name="Desc3">
            <a:extLst>
              <a:ext uri="{FF2B5EF4-FFF2-40B4-BE49-F238E27FC236}">
                <a16:creationId xmlns:a16="http://schemas.microsoft.com/office/drawing/2014/main" id="{4C3C6664-5B2D-4C9D-AA0D-98A546C572B2}"/>
              </a:ext>
            </a:extLst>
          </p:cNvPr>
          <p:cNvSpPr txBox="1"/>
          <p:nvPr/>
        </p:nvSpPr>
        <p:spPr>
          <a:xfrm>
            <a:off x="6146800" y="3238500"/>
            <a:ext cx="2667000" cy="304800"/>
          </a:xfrm>
          <a:prstGeom prst="rect">
            <a:avLst/>
          </a:prstGeom>
          <a:noFill/>
        </p:spPr>
        <p:txBody>
          <a:bodyPr vertOverflow="overflow" vert="horz" wrap="square" rtlCol="0" anchor="t">
            <a:spAutoFit/>
          </a:bodyPr>
          <a:lstStyle/>
          <a:p>
            <a:pPr algn="l"/>
            <a:r>
              <a:rPr lang="en-GB" sz="800" i="1" dirty="0">
                <a:solidFill>
                  <a:srgbClr val="4A5568"/>
                </a:solidFill>
                <a:latin typeface="Calibri"/>
                <a:ea typeface="Calibri"/>
                <a:cs typeface="Calibri"/>
              </a:rPr>
              <a:t>Patterns spotted. Standards checked. Risks ranked. Engineer approves.</a:t>
            </a:r>
          </a:p>
        </p:txBody>
      </p:sp>
      <p:sp>
        <p:nvSpPr>
          <p:cNvPr id="13" name="PipelineLabel">
            <a:extLst>
              <a:ext uri="{FF2B5EF4-FFF2-40B4-BE49-F238E27FC236}">
                <a16:creationId xmlns:a16="http://schemas.microsoft.com/office/drawing/2014/main" id="{C577862A-BA45-40C4-996F-9B46EFB6078A}"/>
              </a:ext>
            </a:extLst>
          </p:cNvPr>
          <p:cNvSpPr txBox="1"/>
          <p:nvPr/>
        </p:nvSpPr>
        <p:spPr>
          <a:xfrm>
            <a:off x="355600" y="3632200"/>
            <a:ext cx="8432800" cy="152400"/>
          </a:xfrm>
          <a:prstGeom prst="rect">
            <a:avLst/>
          </a:prstGeom>
          <a:noFill/>
        </p:spPr>
        <p:txBody>
          <a:bodyPr vertOverflow="overflow" vert="horz" wrap="square" rtlCol="0" anchor="t">
            <a:spAutoFit/>
          </a:bodyPr>
          <a:lstStyle/>
          <a:p>
            <a:pPr algn="l"/>
            <a:r>
              <a:rPr lang="en-GB" sz="800" b="1">
                <a:solidFill>
                  <a:srgbClr val="FFB84D"/>
                </a:solidFill>
                <a:latin typeface="Calibri"/>
                <a:ea typeface="Calibri"/>
                <a:cs typeface="Calibri"/>
              </a:rPr>
              <a:t>THE DATA PIPELINE  ·  how raw capture becomes engineer-ready insight</a:t>
            </a:r>
          </a:p>
        </p:txBody>
      </p:sp>
      <p:sp>
        <p:nvSpPr>
          <p:cNvPr id="14" name="Stage1_Shape">
            <a:extLst>
              <a:ext uri="{FF2B5EF4-FFF2-40B4-BE49-F238E27FC236}">
                <a16:creationId xmlns:a16="http://schemas.microsoft.com/office/drawing/2014/main" id="{65226B03-BD64-49F4-9388-705E0F34628F}"/>
              </a:ext>
            </a:extLst>
          </p:cNvPr>
          <p:cNvSpPr/>
          <p:nvPr/>
        </p:nvSpPr>
        <p:spPr>
          <a:xfrm>
            <a:off x="355600" y="3835400"/>
            <a:ext cx="1651000" cy="482600"/>
          </a:xfrm>
          <a:prstGeom prst="homePlate">
            <a:avLst/>
          </a:prstGeom>
          <a:solidFill>
            <a:srgbClr val="0A1628"/>
          </a:solidFill>
          <a:ln w="12700" cap="flat" cmpd="sng" algn="ctr">
            <a:solidFill>
              <a:srgbClr val="FFB84D"/>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15" name="Stage1_Label">
            <a:extLst>
              <a:ext uri="{FF2B5EF4-FFF2-40B4-BE49-F238E27FC236}">
                <a16:creationId xmlns:a16="http://schemas.microsoft.com/office/drawing/2014/main" id="{3561297C-85AD-4FA2-8F6E-E7F0F0B79EB3}"/>
              </a:ext>
            </a:extLst>
          </p:cNvPr>
          <p:cNvSpPr txBox="1"/>
          <p:nvPr/>
        </p:nvSpPr>
        <p:spPr>
          <a:xfrm>
            <a:off x="406400" y="3886200"/>
            <a:ext cx="1447800" cy="177800"/>
          </a:xfrm>
          <a:prstGeom prst="rect">
            <a:avLst/>
          </a:prstGeom>
          <a:noFill/>
        </p:spPr>
        <p:txBody>
          <a:bodyPr vertOverflow="overflow" vert="horz" wrap="square" rtlCol="0" anchor="t">
            <a:spAutoFit/>
          </a:bodyPr>
          <a:lstStyle/>
          <a:p>
            <a:pPr algn="l"/>
            <a:r>
              <a:rPr lang="en-GB" sz="900" b="1">
                <a:solidFill>
                  <a:srgbClr val="FFFFFF"/>
                </a:solidFill>
                <a:latin typeface="Calibri"/>
                <a:ea typeface="Calibri"/>
                <a:cs typeface="Calibri"/>
              </a:rPr>
              <a:t>RAW CAPTURE</a:t>
            </a:r>
          </a:p>
        </p:txBody>
      </p:sp>
      <p:sp>
        <p:nvSpPr>
          <p:cNvPr id="16" name="Stage1_Sub">
            <a:extLst>
              <a:ext uri="{FF2B5EF4-FFF2-40B4-BE49-F238E27FC236}">
                <a16:creationId xmlns:a16="http://schemas.microsoft.com/office/drawing/2014/main" id="{D957D7D9-C2C3-4651-991A-E327D89E32A0}"/>
              </a:ext>
            </a:extLst>
          </p:cNvPr>
          <p:cNvSpPr txBox="1"/>
          <p:nvPr/>
        </p:nvSpPr>
        <p:spPr>
          <a:xfrm>
            <a:off x="406400" y="4089400"/>
            <a:ext cx="1447800" cy="177800"/>
          </a:xfrm>
          <a:prstGeom prst="rect">
            <a:avLst/>
          </a:prstGeom>
          <a:noFill/>
        </p:spPr>
        <p:txBody>
          <a:bodyPr vertOverflow="overflow" vert="horz" wrap="square" rtlCol="0" anchor="t">
            <a:spAutoFit/>
          </a:bodyPr>
          <a:lstStyle/>
          <a:p>
            <a:pPr algn="l"/>
            <a:r>
              <a:rPr lang="en-GB" sz="700">
                <a:solidFill>
                  <a:srgbClr val="E8EEF5"/>
                </a:solidFill>
                <a:latin typeface="Calibri"/>
                <a:ea typeface="Calibri"/>
                <a:cs typeface="Calibri"/>
              </a:rPr>
              <a:t>7,650 images, 300+ reports</a:t>
            </a:r>
          </a:p>
        </p:txBody>
      </p:sp>
      <p:sp>
        <p:nvSpPr>
          <p:cNvPr id="17" name="Stage2_Shape">
            <a:extLst>
              <a:ext uri="{FF2B5EF4-FFF2-40B4-BE49-F238E27FC236}">
                <a16:creationId xmlns:a16="http://schemas.microsoft.com/office/drawing/2014/main" id="{A3C52C2B-0085-4D06-AA9C-504A606C6B2A}"/>
              </a:ext>
            </a:extLst>
          </p:cNvPr>
          <p:cNvSpPr/>
          <p:nvPr/>
        </p:nvSpPr>
        <p:spPr>
          <a:xfrm>
            <a:off x="2032000" y="3835400"/>
            <a:ext cx="1651000" cy="482600"/>
          </a:xfrm>
          <a:prstGeom prst="homePlate">
            <a:avLst/>
          </a:prstGeom>
          <a:solidFill>
            <a:srgbClr val="0A1628"/>
          </a:solidFill>
          <a:ln w="12700" cap="flat" cmpd="sng" algn="ctr">
            <a:solidFill>
              <a:srgbClr val="FFB84D"/>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18" name="Stage2_Label">
            <a:extLst>
              <a:ext uri="{FF2B5EF4-FFF2-40B4-BE49-F238E27FC236}">
                <a16:creationId xmlns:a16="http://schemas.microsoft.com/office/drawing/2014/main" id="{CC5495C1-1605-4C51-BDA6-9C9D4DC43FD0}"/>
              </a:ext>
            </a:extLst>
          </p:cNvPr>
          <p:cNvSpPr txBox="1"/>
          <p:nvPr/>
        </p:nvSpPr>
        <p:spPr>
          <a:xfrm>
            <a:off x="2082800" y="3886200"/>
            <a:ext cx="1447800" cy="177800"/>
          </a:xfrm>
          <a:prstGeom prst="rect">
            <a:avLst/>
          </a:prstGeom>
          <a:noFill/>
        </p:spPr>
        <p:txBody>
          <a:bodyPr vertOverflow="overflow" vert="horz" wrap="square" rtlCol="0" anchor="t">
            <a:spAutoFit/>
          </a:bodyPr>
          <a:lstStyle/>
          <a:p>
            <a:pPr algn="l"/>
            <a:r>
              <a:rPr lang="en-GB" sz="900" b="1">
                <a:solidFill>
                  <a:srgbClr val="FFFFFF"/>
                </a:solidFill>
                <a:latin typeface="Calibri"/>
                <a:ea typeface="Calibri"/>
                <a:cs typeface="Calibri"/>
              </a:rPr>
              <a:t>OCR+ TOOLKIT</a:t>
            </a:r>
          </a:p>
        </p:txBody>
      </p:sp>
      <p:sp>
        <p:nvSpPr>
          <p:cNvPr id="19" name="Stage2_Sub">
            <a:extLst>
              <a:ext uri="{FF2B5EF4-FFF2-40B4-BE49-F238E27FC236}">
                <a16:creationId xmlns:a16="http://schemas.microsoft.com/office/drawing/2014/main" id="{9DC9F2EC-CAA6-4379-8E31-281654EE2C89}"/>
              </a:ext>
            </a:extLst>
          </p:cNvPr>
          <p:cNvSpPr txBox="1"/>
          <p:nvPr/>
        </p:nvSpPr>
        <p:spPr>
          <a:xfrm>
            <a:off x="2082800" y="4089400"/>
            <a:ext cx="1447800" cy="177800"/>
          </a:xfrm>
          <a:prstGeom prst="rect">
            <a:avLst/>
          </a:prstGeom>
          <a:noFill/>
        </p:spPr>
        <p:txBody>
          <a:bodyPr vertOverflow="overflow" vert="horz" wrap="square" rtlCol="0" anchor="t">
            <a:spAutoFit/>
          </a:bodyPr>
          <a:lstStyle/>
          <a:p>
            <a:pPr algn="l"/>
            <a:r>
              <a:rPr lang="en-GB" sz="700">
                <a:solidFill>
                  <a:srgbClr val="E8EEF5"/>
                </a:solidFill>
                <a:latin typeface="Calibri"/>
                <a:ea typeface="Calibri"/>
                <a:cs typeface="Calibri"/>
              </a:rPr>
              <a:t>make data AI-ready</a:t>
            </a:r>
          </a:p>
        </p:txBody>
      </p:sp>
      <p:sp>
        <p:nvSpPr>
          <p:cNvPr id="20" name="Stage3_Shape">
            <a:extLst>
              <a:ext uri="{FF2B5EF4-FFF2-40B4-BE49-F238E27FC236}">
                <a16:creationId xmlns:a16="http://schemas.microsoft.com/office/drawing/2014/main" id="{7DD90327-10A5-4A41-A167-9002515DDB73}"/>
              </a:ext>
            </a:extLst>
          </p:cNvPr>
          <p:cNvSpPr/>
          <p:nvPr/>
        </p:nvSpPr>
        <p:spPr>
          <a:xfrm>
            <a:off x="3708400" y="3835400"/>
            <a:ext cx="1651000" cy="482600"/>
          </a:xfrm>
          <a:prstGeom prst="homePlate">
            <a:avLst/>
          </a:prstGeom>
          <a:solidFill>
            <a:srgbClr val="0A1628"/>
          </a:solidFill>
          <a:ln w="12700" cap="flat" cmpd="sng" algn="ctr">
            <a:solidFill>
              <a:srgbClr val="FFB84D"/>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21" name="Stage3_Label">
            <a:extLst>
              <a:ext uri="{FF2B5EF4-FFF2-40B4-BE49-F238E27FC236}">
                <a16:creationId xmlns:a16="http://schemas.microsoft.com/office/drawing/2014/main" id="{23C60C5E-B14D-4E89-B102-3ADCCC37ACF4}"/>
              </a:ext>
            </a:extLst>
          </p:cNvPr>
          <p:cNvSpPr txBox="1"/>
          <p:nvPr/>
        </p:nvSpPr>
        <p:spPr>
          <a:xfrm>
            <a:off x="3759200" y="3886200"/>
            <a:ext cx="1447800" cy="177800"/>
          </a:xfrm>
          <a:prstGeom prst="rect">
            <a:avLst/>
          </a:prstGeom>
          <a:noFill/>
        </p:spPr>
        <p:txBody>
          <a:bodyPr vertOverflow="overflow" vert="horz" wrap="square" rtlCol="0" anchor="t">
            <a:spAutoFit/>
          </a:bodyPr>
          <a:lstStyle/>
          <a:p>
            <a:pPr algn="l"/>
            <a:r>
              <a:rPr lang="en-GB" sz="900" b="1">
                <a:solidFill>
                  <a:srgbClr val="FFFFFF"/>
                </a:solidFill>
                <a:latin typeface="Calibri"/>
                <a:ea typeface="Calibri"/>
                <a:cs typeface="Calibri"/>
              </a:rPr>
              <a:t>KNOWLEDGE RAG</a:t>
            </a:r>
          </a:p>
        </p:txBody>
      </p:sp>
      <p:sp>
        <p:nvSpPr>
          <p:cNvPr id="22" name="Stage3_Sub">
            <a:extLst>
              <a:ext uri="{FF2B5EF4-FFF2-40B4-BE49-F238E27FC236}">
                <a16:creationId xmlns:a16="http://schemas.microsoft.com/office/drawing/2014/main" id="{4E15E4D0-7DF4-45CF-9D50-A5CBCEF5CCD7}"/>
              </a:ext>
            </a:extLst>
          </p:cNvPr>
          <p:cNvSpPr txBox="1"/>
          <p:nvPr/>
        </p:nvSpPr>
        <p:spPr>
          <a:xfrm>
            <a:off x="3759200" y="4089400"/>
            <a:ext cx="1447800" cy="177800"/>
          </a:xfrm>
          <a:prstGeom prst="rect">
            <a:avLst/>
          </a:prstGeom>
          <a:noFill/>
        </p:spPr>
        <p:txBody>
          <a:bodyPr vertOverflow="overflow" vert="horz" wrap="square" rtlCol="0" anchor="t">
            <a:spAutoFit/>
          </a:bodyPr>
          <a:lstStyle/>
          <a:p>
            <a:pPr algn="l"/>
            <a:r>
              <a:rPr lang="en-GB" sz="700">
                <a:solidFill>
                  <a:srgbClr val="E8EEF5"/>
                </a:solidFill>
                <a:latin typeface="Calibri"/>
                <a:ea typeface="Calibri"/>
                <a:cs typeface="Calibri"/>
              </a:rPr>
              <a:t>reason like an engineer</a:t>
            </a:r>
          </a:p>
        </p:txBody>
      </p:sp>
      <p:sp>
        <p:nvSpPr>
          <p:cNvPr id="23" name="Stage4_Shape">
            <a:extLst>
              <a:ext uri="{FF2B5EF4-FFF2-40B4-BE49-F238E27FC236}">
                <a16:creationId xmlns:a16="http://schemas.microsoft.com/office/drawing/2014/main" id="{B9FE633C-92DC-4D7B-9FC1-8DBE0ADE9624}"/>
              </a:ext>
            </a:extLst>
          </p:cNvPr>
          <p:cNvSpPr/>
          <p:nvPr/>
        </p:nvSpPr>
        <p:spPr>
          <a:xfrm>
            <a:off x="5384800" y="3835400"/>
            <a:ext cx="1651000" cy="482600"/>
          </a:xfrm>
          <a:prstGeom prst="homePlate">
            <a:avLst/>
          </a:prstGeom>
          <a:solidFill>
            <a:srgbClr val="0A1628"/>
          </a:solidFill>
          <a:ln w="12700" cap="flat" cmpd="sng" algn="ctr">
            <a:solidFill>
              <a:srgbClr val="FFB84D"/>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24" name="Stage4_Label">
            <a:extLst>
              <a:ext uri="{FF2B5EF4-FFF2-40B4-BE49-F238E27FC236}">
                <a16:creationId xmlns:a16="http://schemas.microsoft.com/office/drawing/2014/main" id="{45F74611-6C26-47C2-8720-956EE302C5B4}"/>
              </a:ext>
            </a:extLst>
          </p:cNvPr>
          <p:cNvSpPr txBox="1"/>
          <p:nvPr/>
        </p:nvSpPr>
        <p:spPr>
          <a:xfrm>
            <a:off x="5435600" y="3886200"/>
            <a:ext cx="1447800" cy="177800"/>
          </a:xfrm>
          <a:prstGeom prst="rect">
            <a:avLst/>
          </a:prstGeom>
          <a:noFill/>
        </p:spPr>
        <p:txBody>
          <a:bodyPr vertOverflow="overflow" vert="horz" wrap="square" rtlCol="0" anchor="t">
            <a:spAutoFit/>
          </a:bodyPr>
          <a:lstStyle/>
          <a:p>
            <a:pPr algn="l"/>
            <a:r>
              <a:rPr lang="en-GB" sz="900" b="1">
                <a:solidFill>
                  <a:srgbClr val="FFFFFF"/>
                </a:solidFill>
                <a:latin typeface="Calibri"/>
                <a:ea typeface="Calibri"/>
                <a:cs typeface="Calibri"/>
              </a:rPr>
              <a:t>DEFECT + RISK</a:t>
            </a:r>
          </a:p>
        </p:txBody>
      </p:sp>
      <p:sp>
        <p:nvSpPr>
          <p:cNvPr id="25" name="Stage4_Sub">
            <a:extLst>
              <a:ext uri="{FF2B5EF4-FFF2-40B4-BE49-F238E27FC236}">
                <a16:creationId xmlns:a16="http://schemas.microsoft.com/office/drawing/2014/main" id="{92886A54-D501-4FAB-8DCC-E62D32C772C8}"/>
              </a:ext>
            </a:extLst>
          </p:cNvPr>
          <p:cNvSpPr txBox="1"/>
          <p:nvPr/>
        </p:nvSpPr>
        <p:spPr>
          <a:xfrm>
            <a:off x="5435600" y="4089400"/>
            <a:ext cx="1447800" cy="177800"/>
          </a:xfrm>
          <a:prstGeom prst="rect">
            <a:avLst/>
          </a:prstGeom>
          <a:noFill/>
        </p:spPr>
        <p:txBody>
          <a:bodyPr vertOverflow="overflow" vert="horz" wrap="square" rtlCol="0" anchor="t">
            <a:spAutoFit/>
          </a:bodyPr>
          <a:lstStyle/>
          <a:p>
            <a:pPr algn="l"/>
            <a:r>
              <a:rPr lang="en-GB" sz="700">
                <a:solidFill>
                  <a:srgbClr val="E8EEF5"/>
                </a:solidFill>
                <a:latin typeface="Calibri"/>
                <a:ea typeface="Calibri"/>
                <a:cs typeface="Calibri"/>
              </a:rPr>
              <a:t>spot, classify, rank</a:t>
            </a:r>
          </a:p>
        </p:txBody>
      </p:sp>
      <p:sp>
        <p:nvSpPr>
          <p:cNvPr id="26" name="Stage5_Shape">
            <a:extLst>
              <a:ext uri="{FF2B5EF4-FFF2-40B4-BE49-F238E27FC236}">
                <a16:creationId xmlns:a16="http://schemas.microsoft.com/office/drawing/2014/main" id="{1C91597D-C2D9-4172-A5BC-2FC247C0E1B0}"/>
              </a:ext>
            </a:extLst>
          </p:cNvPr>
          <p:cNvSpPr/>
          <p:nvPr/>
        </p:nvSpPr>
        <p:spPr>
          <a:xfrm>
            <a:off x="7061200" y="3835400"/>
            <a:ext cx="1651000" cy="482600"/>
          </a:xfrm>
          <a:prstGeom prst="homePlate">
            <a:avLst/>
          </a:prstGeom>
          <a:solidFill>
            <a:srgbClr val="FFB84D"/>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27" name="Stage5_Label">
            <a:extLst>
              <a:ext uri="{FF2B5EF4-FFF2-40B4-BE49-F238E27FC236}">
                <a16:creationId xmlns:a16="http://schemas.microsoft.com/office/drawing/2014/main" id="{8570F6F4-68C5-4684-8F96-CF085CDBA5EE}"/>
              </a:ext>
            </a:extLst>
          </p:cNvPr>
          <p:cNvSpPr txBox="1"/>
          <p:nvPr/>
        </p:nvSpPr>
        <p:spPr>
          <a:xfrm>
            <a:off x="7112000" y="3886200"/>
            <a:ext cx="1447800" cy="177800"/>
          </a:xfrm>
          <a:prstGeom prst="rect">
            <a:avLst/>
          </a:prstGeom>
          <a:noFill/>
        </p:spPr>
        <p:txBody>
          <a:bodyPr vertOverflow="overflow" vert="horz" wrap="square" rtlCol="0" anchor="t">
            <a:spAutoFit/>
          </a:bodyPr>
          <a:lstStyle/>
          <a:p>
            <a:pPr algn="l"/>
            <a:r>
              <a:rPr lang="en-GB" sz="900" b="1">
                <a:solidFill>
                  <a:srgbClr val="0A1628"/>
                </a:solidFill>
                <a:latin typeface="Calibri"/>
                <a:ea typeface="Calibri"/>
                <a:cs typeface="Calibri"/>
              </a:rPr>
              <a:t>ENGINEER OK</a:t>
            </a:r>
          </a:p>
        </p:txBody>
      </p:sp>
      <p:sp>
        <p:nvSpPr>
          <p:cNvPr id="28" name="Stage5_Sub">
            <a:extLst>
              <a:ext uri="{FF2B5EF4-FFF2-40B4-BE49-F238E27FC236}">
                <a16:creationId xmlns:a16="http://schemas.microsoft.com/office/drawing/2014/main" id="{7936B2CD-0089-4CA2-A82A-7B4E4D762B07}"/>
              </a:ext>
            </a:extLst>
          </p:cNvPr>
          <p:cNvSpPr txBox="1"/>
          <p:nvPr/>
        </p:nvSpPr>
        <p:spPr>
          <a:xfrm>
            <a:off x="7112000" y="4089400"/>
            <a:ext cx="1447800" cy="177800"/>
          </a:xfrm>
          <a:prstGeom prst="rect">
            <a:avLst/>
          </a:prstGeom>
          <a:noFill/>
        </p:spPr>
        <p:txBody>
          <a:bodyPr vertOverflow="overflow" vert="horz" wrap="square" rtlCol="0" anchor="t">
            <a:spAutoFit/>
          </a:bodyPr>
          <a:lstStyle/>
          <a:p>
            <a:pPr algn="l"/>
            <a:r>
              <a:rPr lang="en-GB" sz="700">
                <a:solidFill>
                  <a:srgbClr val="0A1628"/>
                </a:solidFill>
                <a:latin typeface="Calibri"/>
                <a:ea typeface="Calibri"/>
                <a:cs typeface="Calibri"/>
              </a:rPr>
              <a:t>final approval</a:t>
            </a:r>
          </a:p>
        </p:txBody>
      </p:sp>
      <p:sp>
        <p:nvSpPr>
          <p:cNvPr id="29" name="TransitionHook">
            <a:extLst>
              <a:ext uri="{FF2B5EF4-FFF2-40B4-BE49-F238E27FC236}">
                <a16:creationId xmlns:a16="http://schemas.microsoft.com/office/drawing/2014/main" id="{58C7AA92-BCE2-4754-BA72-7F7B864CCC05}"/>
              </a:ext>
            </a:extLst>
          </p:cNvPr>
          <p:cNvSpPr txBox="1"/>
          <p:nvPr/>
        </p:nvSpPr>
        <p:spPr>
          <a:xfrm>
            <a:off x="355600" y="4508500"/>
            <a:ext cx="8432800" cy="177800"/>
          </a:xfrm>
          <a:prstGeom prst="rect">
            <a:avLst/>
          </a:prstGeom>
          <a:noFill/>
        </p:spPr>
        <p:txBody>
          <a:bodyPr vertOverflow="overflow" vert="horz" wrap="square" rtlCol="0" anchor="t">
            <a:spAutoFit/>
          </a:bodyPr>
          <a:lstStyle/>
          <a:p>
            <a:pPr algn="l"/>
            <a:r>
              <a:rPr lang="en-GB" sz="900" i="1">
                <a:solidFill>
                  <a:srgbClr val="C97A2B"/>
                </a:solidFill>
                <a:latin typeface="Calibri"/>
                <a:ea typeface="Calibri"/>
                <a:cs typeface="Calibri"/>
              </a:rPr>
              <a:t>One regime. 134 stations. Decisions in days, not months.  →  so what does this unlock next…?</a:t>
            </a:r>
          </a:p>
        </p:txBody>
      </p:sp>
    </p:spTree>
    <p:extLst>
      <p:ext uri="{BB962C8B-B14F-4D97-AF65-F5344CB8AC3E}">
        <p14:creationId xmlns:p14="http://schemas.microsoft.com/office/powerpoint/2010/main" val="23015205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824F29A-E1B8-DA77-3C9E-990356210772}"/>
            </a:ext>
          </a:extLst>
        </p:cNvPr>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A169D286-F4D7-4C8B-A6BD-D05384C7F1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reeform 6">
            <a:extLst>
              <a:ext uri="{FF2B5EF4-FFF2-40B4-BE49-F238E27FC236}">
                <a16:creationId xmlns:a16="http://schemas.microsoft.com/office/drawing/2014/main" id="{39E8235E-135E-4261-8F54-2B316E493C4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3106623" y="458046"/>
            <a:ext cx="569713" cy="4283223"/>
          </a:xfrm>
          <a:custGeom>
            <a:avLst/>
            <a:gdLst>
              <a:gd name="T0" fmla="*/ 414 w 414"/>
              <a:gd name="T1" fmla="*/ 2447 h 2447"/>
              <a:gd name="T2" fmla="*/ 0 w 414"/>
              <a:gd name="T3" fmla="*/ 2247 h 2447"/>
              <a:gd name="T4" fmla="*/ 0 w 414"/>
              <a:gd name="T5" fmla="*/ 0 h 2447"/>
              <a:gd name="T6" fmla="*/ 414 w 414"/>
              <a:gd name="T7" fmla="*/ 200 h 2447"/>
              <a:gd name="T8" fmla="*/ 414 w 414"/>
              <a:gd name="T9" fmla="*/ 2447 h 2447"/>
            </a:gdLst>
            <a:ahLst/>
            <a:cxnLst>
              <a:cxn ang="0">
                <a:pos x="T0" y="T1"/>
              </a:cxn>
              <a:cxn ang="0">
                <a:pos x="T2" y="T3"/>
              </a:cxn>
              <a:cxn ang="0">
                <a:pos x="T4" y="T5"/>
              </a:cxn>
              <a:cxn ang="0">
                <a:pos x="T6" y="T7"/>
              </a:cxn>
              <a:cxn ang="0">
                <a:pos x="T8" y="T9"/>
              </a:cxn>
            </a:cxnLst>
            <a:rect l="0" t="0" r="r" b="b"/>
            <a:pathLst>
              <a:path w="414" h="2447">
                <a:moveTo>
                  <a:pt x="414" y="2447"/>
                </a:moveTo>
                <a:lnTo>
                  <a:pt x="0" y="2247"/>
                </a:lnTo>
                <a:lnTo>
                  <a:pt x="0" y="0"/>
                </a:lnTo>
                <a:lnTo>
                  <a:pt x="414" y="200"/>
                </a:lnTo>
                <a:lnTo>
                  <a:pt x="414" y="244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7" name="Freeform 7">
            <a:extLst>
              <a:ext uri="{FF2B5EF4-FFF2-40B4-BE49-F238E27FC236}">
                <a16:creationId xmlns:a16="http://schemas.microsoft.com/office/drawing/2014/main" id="{D4ED8EC3-4D57-4620-93CE-4E6661F09A3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3108327" y="257309"/>
            <a:ext cx="361991" cy="4141060"/>
          </a:xfrm>
          <a:custGeom>
            <a:avLst/>
            <a:gdLst>
              <a:gd name="T0" fmla="*/ 209 w 209"/>
              <a:gd name="T1" fmla="*/ 2246 h 2358"/>
              <a:gd name="T2" fmla="*/ 0 w 209"/>
              <a:gd name="T3" fmla="*/ 2358 h 2358"/>
              <a:gd name="T4" fmla="*/ 0 w 209"/>
              <a:gd name="T5" fmla="*/ 111 h 2358"/>
              <a:gd name="T6" fmla="*/ 209 w 209"/>
              <a:gd name="T7" fmla="*/ 0 h 2358"/>
              <a:gd name="T8" fmla="*/ 209 w 209"/>
              <a:gd name="T9" fmla="*/ 2246 h 2358"/>
            </a:gdLst>
            <a:ahLst/>
            <a:cxnLst>
              <a:cxn ang="0">
                <a:pos x="T0" y="T1"/>
              </a:cxn>
              <a:cxn ang="0">
                <a:pos x="T2" y="T3"/>
              </a:cxn>
              <a:cxn ang="0">
                <a:pos x="T4" y="T5"/>
              </a:cxn>
              <a:cxn ang="0">
                <a:pos x="T6" y="T7"/>
              </a:cxn>
              <a:cxn ang="0">
                <a:pos x="T8" y="T9"/>
              </a:cxn>
            </a:cxnLst>
            <a:rect l="0" t="0" r="r" b="b"/>
            <a:pathLst>
              <a:path w="209" h="2358">
                <a:moveTo>
                  <a:pt x="209" y="2246"/>
                </a:moveTo>
                <a:lnTo>
                  <a:pt x="0" y="2358"/>
                </a:lnTo>
                <a:lnTo>
                  <a:pt x="0" y="111"/>
                </a:lnTo>
                <a:lnTo>
                  <a:pt x="209" y="0"/>
                </a:lnTo>
                <a:lnTo>
                  <a:pt x="209" y="2246"/>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9" name="Freeform: Shape 28">
            <a:extLst>
              <a:ext uri="{FF2B5EF4-FFF2-40B4-BE49-F238E27FC236}">
                <a16:creationId xmlns:a16="http://schemas.microsoft.com/office/drawing/2014/main" id="{83BCB34A-2F40-4F41-8488-A134C1C155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3" y="255318"/>
            <a:ext cx="3472603" cy="3949346"/>
          </a:xfrm>
          <a:custGeom>
            <a:avLst/>
            <a:gdLst>
              <a:gd name="connsiteX0" fmla="*/ 0 w 4630139"/>
              <a:gd name="connsiteY0" fmla="*/ 0 h 5265795"/>
              <a:gd name="connsiteX1" fmla="*/ 4630139 w 4630139"/>
              <a:gd name="connsiteY1" fmla="*/ 0 h 5265795"/>
              <a:gd name="connsiteX2" fmla="*/ 4630139 w 4630139"/>
              <a:gd name="connsiteY2" fmla="*/ 5265795 h 5265795"/>
              <a:gd name="connsiteX3" fmla="*/ 0 w 4630139"/>
              <a:gd name="connsiteY3" fmla="*/ 5265795 h 5265795"/>
            </a:gdLst>
            <a:ahLst/>
            <a:cxnLst>
              <a:cxn ang="0">
                <a:pos x="connsiteX0" y="connsiteY0"/>
              </a:cxn>
              <a:cxn ang="0">
                <a:pos x="connsiteX1" y="connsiteY1"/>
              </a:cxn>
              <a:cxn ang="0">
                <a:pos x="connsiteX2" y="connsiteY2"/>
              </a:cxn>
              <a:cxn ang="0">
                <a:pos x="connsiteX3" y="connsiteY3"/>
              </a:cxn>
            </a:cxnLst>
            <a:rect l="l" t="t" r="r" b="b"/>
            <a:pathLst>
              <a:path w="4630139" h="5265795">
                <a:moveTo>
                  <a:pt x="0" y="0"/>
                </a:moveTo>
                <a:lnTo>
                  <a:pt x="4630139" y="0"/>
                </a:lnTo>
                <a:lnTo>
                  <a:pt x="4630139" y="5265795"/>
                </a:lnTo>
                <a:lnTo>
                  <a:pt x="0" y="5265795"/>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2" name="Picture 1">
            <a:extLst>
              <a:ext uri="{FF2B5EF4-FFF2-40B4-BE49-F238E27FC236}">
                <a16:creationId xmlns:a16="http://schemas.microsoft.com/office/drawing/2014/main" id="{15C3E45E-C62A-FE19-E432-3A8071526C9E}"/>
              </a:ext>
            </a:extLst>
          </p:cNvPr>
          <p:cNvPicPr>
            <a:picLocks noChangeAspect="1"/>
          </p:cNvPicPr>
          <p:nvPr/>
        </p:nvPicPr>
        <p:blipFill>
          <a:blip r:embed="rId3"/>
          <a:stretch>
            <a:fillRect/>
          </a:stretch>
        </p:blipFill>
        <p:spPr>
          <a:xfrm>
            <a:off x="164277" y="601385"/>
            <a:ext cx="3125045" cy="3125045"/>
          </a:xfrm>
          <a:prstGeom prst="rect">
            <a:avLst/>
          </a:prstGeom>
        </p:spPr>
      </p:pic>
      <p:sp>
        <p:nvSpPr>
          <p:cNvPr id="31" name="Freeform: Shape 30">
            <a:extLst>
              <a:ext uri="{FF2B5EF4-FFF2-40B4-BE49-F238E27FC236}">
                <a16:creationId xmlns:a16="http://schemas.microsoft.com/office/drawing/2014/main" id="{F78382DC-4207-465E-B379-1E16448AA2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676335" y="803672"/>
            <a:ext cx="5467663" cy="3931723"/>
          </a:xfrm>
          <a:custGeom>
            <a:avLst/>
            <a:gdLst>
              <a:gd name="connsiteX0" fmla="*/ 0 w 7290218"/>
              <a:gd name="connsiteY0" fmla="*/ 0 h 5242298"/>
              <a:gd name="connsiteX1" fmla="*/ 7290218 w 7290218"/>
              <a:gd name="connsiteY1" fmla="*/ 0 h 5242298"/>
              <a:gd name="connsiteX2" fmla="*/ 7290218 w 7290218"/>
              <a:gd name="connsiteY2" fmla="*/ 5242298 h 5242298"/>
              <a:gd name="connsiteX3" fmla="*/ 0 w 7290218"/>
              <a:gd name="connsiteY3" fmla="*/ 5242298 h 5242298"/>
            </a:gdLst>
            <a:ahLst/>
            <a:cxnLst>
              <a:cxn ang="0">
                <a:pos x="connsiteX0" y="connsiteY0"/>
              </a:cxn>
              <a:cxn ang="0">
                <a:pos x="connsiteX1" y="connsiteY1"/>
              </a:cxn>
              <a:cxn ang="0">
                <a:pos x="connsiteX2" y="connsiteY2"/>
              </a:cxn>
              <a:cxn ang="0">
                <a:pos x="connsiteX3" y="connsiteY3"/>
              </a:cxn>
            </a:cxnLst>
            <a:rect l="l" t="t" r="r" b="b"/>
            <a:pathLst>
              <a:path w="7290218" h="5242298">
                <a:moveTo>
                  <a:pt x="0" y="0"/>
                </a:moveTo>
                <a:lnTo>
                  <a:pt x="7290218" y="0"/>
                </a:lnTo>
                <a:lnTo>
                  <a:pt x="7290218" y="5242298"/>
                </a:lnTo>
                <a:lnTo>
                  <a:pt x="0" y="5242298"/>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3" name="Group 2">
            <a:extLst>
              <a:ext uri="{FF2B5EF4-FFF2-40B4-BE49-F238E27FC236}">
                <a16:creationId xmlns:a16="http://schemas.microsoft.com/office/drawing/2014/main" id="{5B484193-0FD8-3540-61D8-11ACB085C8DF}"/>
              </a:ext>
            </a:extLst>
          </p:cNvPr>
          <p:cNvGrpSpPr/>
          <p:nvPr/>
        </p:nvGrpSpPr>
        <p:grpSpPr>
          <a:xfrm>
            <a:off x="4158933" y="1345829"/>
            <a:ext cx="4515547" cy="2856219"/>
            <a:chOff x="355600" y="1016000"/>
            <a:chExt cx="4216400" cy="2667000"/>
          </a:xfrm>
        </p:grpSpPr>
        <p:sp>
          <p:nvSpPr>
            <p:cNvPr id="4" name="AwardCard">
              <a:extLst>
                <a:ext uri="{FF2B5EF4-FFF2-40B4-BE49-F238E27FC236}">
                  <a16:creationId xmlns:a16="http://schemas.microsoft.com/office/drawing/2014/main" id="{B350787F-74FB-6466-A888-94C9E566E009}"/>
                </a:ext>
              </a:extLst>
            </p:cNvPr>
            <p:cNvSpPr/>
            <p:nvPr/>
          </p:nvSpPr>
          <p:spPr>
            <a:xfrm>
              <a:off x="355600" y="1016000"/>
              <a:ext cx="4216400" cy="2667000"/>
            </a:xfrm>
            <a:prstGeom prst="roundRect">
              <a:avLst/>
            </a:prstGeom>
            <a:solidFill>
              <a:srgbClr val="0A1628"/>
            </a:solidFill>
            <a:ln w="19050" cap="flat" cmpd="sng" algn="ctr">
              <a:solidFill>
                <a:srgbClr val="FFB84D"/>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5" name="AwardCardHdr">
              <a:extLst>
                <a:ext uri="{FF2B5EF4-FFF2-40B4-BE49-F238E27FC236}">
                  <a16:creationId xmlns:a16="http://schemas.microsoft.com/office/drawing/2014/main" id="{396D88A3-0A43-3548-80A4-29D4F073F9AA}"/>
                </a:ext>
              </a:extLst>
            </p:cNvPr>
            <p:cNvSpPr/>
            <p:nvPr/>
          </p:nvSpPr>
          <p:spPr>
            <a:xfrm>
              <a:off x="355600" y="1016000"/>
              <a:ext cx="4216400" cy="330200"/>
            </a:xfrm>
            <a:prstGeom prst="rect">
              <a:avLst/>
            </a:prstGeom>
            <a:solidFill>
              <a:srgbClr val="FFB84D"/>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6" name="AwardCardHdrText">
              <a:extLst>
                <a:ext uri="{FF2B5EF4-FFF2-40B4-BE49-F238E27FC236}">
                  <a16:creationId xmlns:a16="http://schemas.microsoft.com/office/drawing/2014/main" id="{A05C644C-BBB4-9E8F-75FD-CC8559EB892A}"/>
                </a:ext>
              </a:extLst>
            </p:cNvPr>
            <p:cNvSpPr txBox="1"/>
            <p:nvPr/>
          </p:nvSpPr>
          <p:spPr>
            <a:xfrm>
              <a:off x="355600" y="1041400"/>
              <a:ext cx="4216400" cy="279400"/>
            </a:xfrm>
            <a:prstGeom prst="rect">
              <a:avLst/>
            </a:prstGeom>
            <a:noFill/>
          </p:spPr>
          <p:txBody>
            <a:bodyPr vertOverflow="overflow" vert="horz" wrap="square" rtlCol="0" anchor="ctr" anchorCtr="0">
              <a:spAutoFit/>
            </a:bodyPr>
            <a:lstStyle/>
            <a:p>
              <a:pPr defTabSz="978408">
                <a:spcAft>
                  <a:spcPts val="600"/>
                </a:spcAft>
              </a:pPr>
              <a:r>
                <a:rPr lang="en-GB" sz="1070" b="1" kern="1200">
                  <a:solidFill>
                    <a:srgbClr val="FFFFFF"/>
                  </a:solidFill>
                  <a:latin typeface="Calibri"/>
                  <a:ea typeface="+mn-ea"/>
                  <a:cs typeface="Calibri"/>
                </a:rPr>
                <a:t>ICE EAST OF ENGLAND MERIT AWARDS  ·  2025</a:t>
              </a:r>
              <a:endParaRPr lang="en-GB" sz="1000" b="1">
                <a:solidFill>
                  <a:srgbClr val="0A1628"/>
                </a:solidFill>
                <a:latin typeface="Calibri"/>
                <a:ea typeface="Calibri"/>
                <a:cs typeface="Calibri"/>
              </a:endParaRPr>
            </a:p>
          </p:txBody>
        </p:sp>
        <p:sp>
          <p:nvSpPr>
            <p:cNvPr id="7" name="TextBox 6">
              <a:extLst>
                <a:ext uri="{FF2B5EF4-FFF2-40B4-BE49-F238E27FC236}">
                  <a16:creationId xmlns:a16="http://schemas.microsoft.com/office/drawing/2014/main" id="{89568EC0-2F2D-8BD2-CF9A-01BB00E234AD}"/>
                </a:ext>
              </a:extLst>
            </p:cNvPr>
            <p:cNvSpPr txBox="1"/>
            <p:nvPr/>
          </p:nvSpPr>
          <p:spPr>
            <a:xfrm>
              <a:off x="558800" y="1524000"/>
              <a:ext cx="1143000" cy="177800"/>
            </a:xfrm>
            <a:prstGeom prst="rect">
              <a:avLst/>
            </a:prstGeom>
            <a:noFill/>
          </p:spPr>
          <p:txBody>
            <a:bodyPr vertOverflow="overflow" vert="horz" wrap="square" rtlCol="0" anchor="t">
              <a:spAutoFit/>
            </a:bodyPr>
            <a:lstStyle/>
            <a:p>
              <a:pPr defTabSz="978408">
                <a:spcAft>
                  <a:spcPts val="600"/>
                </a:spcAft>
              </a:pPr>
              <a:r>
                <a:rPr lang="en-GB" sz="856" b="1" kern="1200">
                  <a:solidFill>
                    <a:srgbClr val="FFFFFF"/>
                  </a:solidFill>
                  <a:latin typeface="Calibri"/>
                  <a:ea typeface="+mn-ea"/>
                  <a:cs typeface="Calibri"/>
                </a:rPr>
                <a:t>CATEGORY</a:t>
              </a:r>
              <a:endParaRPr lang="en-GB" sz="800" b="1">
                <a:solidFill>
                  <a:srgbClr val="FFB84D"/>
                </a:solidFill>
                <a:latin typeface="Calibri"/>
                <a:ea typeface="Calibri"/>
                <a:cs typeface="Calibri"/>
              </a:endParaRPr>
            </a:p>
          </p:txBody>
        </p:sp>
        <p:sp>
          <p:nvSpPr>
            <p:cNvPr id="8" name="TextBox 7">
              <a:extLst>
                <a:ext uri="{FF2B5EF4-FFF2-40B4-BE49-F238E27FC236}">
                  <a16:creationId xmlns:a16="http://schemas.microsoft.com/office/drawing/2014/main" id="{440A88FD-5A7F-09C8-4EEE-D89D08AE1F0B}"/>
                </a:ext>
              </a:extLst>
            </p:cNvPr>
            <p:cNvSpPr txBox="1"/>
            <p:nvPr/>
          </p:nvSpPr>
          <p:spPr>
            <a:xfrm>
              <a:off x="1727200" y="1498600"/>
              <a:ext cx="2641600" cy="254000"/>
            </a:xfrm>
            <a:prstGeom prst="rect">
              <a:avLst/>
            </a:prstGeom>
            <a:noFill/>
          </p:spPr>
          <p:txBody>
            <a:bodyPr vertOverflow="overflow" vert="horz" wrap="square" rtlCol="0" anchor="t">
              <a:spAutoFit/>
            </a:bodyPr>
            <a:lstStyle/>
            <a:p>
              <a:pPr defTabSz="978408">
                <a:spcAft>
                  <a:spcPts val="600"/>
                </a:spcAft>
              </a:pPr>
              <a:r>
                <a:rPr lang="en-GB" sz="1070" b="1" kern="1200">
                  <a:solidFill>
                    <a:srgbClr val="FFFFFF"/>
                  </a:solidFill>
                  <a:latin typeface="Calibri"/>
                  <a:ea typeface="+mn-ea"/>
                  <a:cs typeface="Calibri"/>
                </a:rPr>
                <a:t>Best Project — Asset Resilience</a:t>
              </a:r>
              <a:endParaRPr lang="en-GB" sz="1000" b="1">
                <a:solidFill>
                  <a:srgbClr val="FFFFFF"/>
                </a:solidFill>
                <a:latin typeface="Calibri"/>
                <a:ea typeface="Calibri"/>
                <a:cs typeface="Calibri"/>
              </a:endParaRPr>
            </a:p>
          </p:txBody>
        </p:sp>
        <p:sp>
          <p:nvSpPr>
            <p:cNvPr id="9" name="TextBox 8">
              <a:extLst>
                <a:ext uri="{FF2B5EF4-FFF2-40B4-BE49-F238E27FC236}">
                  <a16:creationId xmlns:a16="http://schemas.microsoft.com/office/drawing/2014/main" id="{13CDB167-6059-898A-EBF2-F5277BF56B79}"/>
                </a:ext>
              </a:extLst>
            </p:cNvPr>
            <p:cNvSpPr txBox="1"/>
            <p:nvPr/>
          </p:nvSpPr>
          <p:spPr>
            <a:xfrm>
              <a:off x="558800" y="1854200"/>
              <a:ext cx="1143000" cy="177800"/>
            </a:xfrm>
            <a:prstGeom prst="rect">
              <a:avLst/>
            </a:prstGeom>
            <a:noFill/>
          </p:spPr>
          <p:txBody>
            <a:bodyPr vertOverflow="overflow" vert="horz" wrap="square" rtlCol="0" anchor="t">
              <a:spAutoFit/>
            </a:bodyPr>
            <a:lstStyle/>
            <a:p>
              <a:pPr defTabSz="978408">
                <a:spcAft>
                  <a:spcPts val="600"/>
                </a:spcAft>
              </a:pPr>
              <a:r>
                <a:rPr lang="en-GB" sz="856" b="1" kern="1200">
                  <a:solidFill>
                    <a:srgbClr val="FFFFFF"/>
                  </a:solidFill>
                  <a:latin typeface="Calibri"/>
                  <a:ea typeface="+mn-ea"/>
                  <a:cs typeface="Calibri"/>
                </a:rPr>
                <a:t>PROJECT</a:t>
              </a:r>
              <a:endParaRPr lang="en-GB" sz="800" b="1">
                <a:solidFill>
                  <a:srgbClr val="FFB84D"/>
                </a:solidFill>
                <a:latin typeface="Calibri"/>
                <a:ea typeface="Calibri"/>
                <a:cs typeface="Calibri"/>
              </a:endParaRPr>
            </a:p>
          </p:txBody>
        </p:sp>
        <p:sp>
          <p:nvSpPr>
            <p:cNvPr id="10" name="TextBox 9">
              <a:extLst>
                <a:ext uri="{FF2B5EF4-FFF2-40B4-BE49-F238E27FC236}">
                  <a16:creationId xmlns:a16="http://schemas.microsoft.com/office/drawing/2014/main" id="{CBA91B6C-44EA-889C-89AF-B7D0FEE46839}"/>
                </a:ext>
              </a:extLst>
            </p:cNvPr>
            <p:cNvSpPr txBox="1"/>
            <p:nvPr/>
          </p:nvSpPr>
          <p:spPr>
            <a:xfrm>
              <a:off x="1727200" y="1828800"/>
              <a:ext cx="2641600" cy="254000"/>
            </a:xfrm>
            <a:prstGeom prst="rect">
              <a:avLst/>
            </a:prstGeom>
            <a:noFill/>
          </p:spPr>
          <p:txBody>
            <a:bodyPr vertOverflow="overflow" vert="horz" wrap="square" rtlCol="0" anchor="t">
              <a:spAutoFit/>
            </a:bodyPr>
            <a:lstStyle/>
            <a:p>
              <a:pPr defTabSz="978408">
                <a:spcAft>
                  <a:spcPts val="600"/>
                </a:spcAft>
              </a:pPr>
              <a:r>
                <a:rPr lang="en-GB" sz="1070" b="1" kern="1200">
                  <a:solidFill>
                    <a:srgbClr val="FFFFFF"/>
                  </a:solidFill>
                  <a:latin typeface="Calibri"/>
                  <a:ea typeface="+mn-ea"/>
                  <a:cs typeface="Calibri"/>
                </a:rPr>
                <a:t>Station Condition + HCE Survey</a:t>
              </a:r>
              <a:endParaRPr lang="en-GB" sz="1000" b="1">
                <a:solidFill>
                  <a:srgbClr val="FFFFFF"/>
                </a:solidFill>
                <a:latin typeface="Calibri"/>
                <a:ea typeface="Calibri"/>
                <a:cs typeface="Calibri"/>
              </a:endParaRPr>
            </a:p>
          </p:txBody>
        </p:sp>
        <p:sp>
          <p:nvSpPr>
            <p:cNvPr id="11" name="TextBox 10">
              <a:extLst>
                <a:ext uri="{FF2B5EF4-FFF2-40B4-BE49-F238E27FC236}">
                  <a16:creationId xmlns:a16="http://schemas.microsoft.com/office/drawing/2014/main" id="{4474BE0C-07B4-8755-829B-F1F42A7FD3F4}"/>
                </a:ext>
              </a:extLst>
            </p:cNvPr>
            <p:cNvSpPr txBox="1"/>
            <p:nvPr/>
          </p:nvSpPr>
          <p:spPr>
            <a:xfrm>
              <a:off x="558800" y="2184400"/>
              <a:ext cx="1143000" cy="177800"/>
            </a:xfrm>
            <a:prstGeom prst="rect">
              <a:avLst/>
            </a:prstGeom>
            <a:noFill/>
          </p:spPr>
          <p:txBody>
            <a:bodyPr vertOverflow="overflow" vert="horz" wrap="square" rtlCol="0" anchor="t">
              <a:spAutoFit/>
            </a:bodyPr>
            <a:lstStyle/>
            <a:p>
              <a:pPr defTabSz="978408">
                <a:spcAft>
                  <a:spcPts val="600"/>
                </a:spcAft>
              </a:pPr>
              <a:r>
                <a:rPr lang="en-GB" sz="856" b="1" kern="1200">
                  <a:solidFill>
                    <a:srgbClr val="FFFFFF"/>
                  </a:solidFill>
                  <a:latin typeface="Calibri"/>
                  <a:ea typeface="+mn-ea"/>
                  <a:cs typeface="Calibri"/>
                </a:rPr>
                <a:t>CLIENT</a:t>
              </a:r>
              <a:endParaRPr lang="en-GB" sz="800" b="1">
                <a:solidFill>
                  <a:srgbClr val="FFB84D"/>
                </a:solidFill>
                <a:latin typeface="Calibri"/>
                <a:ea typeface="Calibri"/>
                <a:cs typeface="Calibri"/>
              </a:endParaRPr>
            </a:p>
          </p:txBody>
        </p:sp>
        <p:sp>
          <p:nvSpPr>
            <p:cNvPr id="12" name="TextBox 11">
              <a:extLst>
                <a:ext uri="{FF2B5EF4-FFF2-40B4-BE49-F238E27FC236}">
                  <a16:creationId xmlns:a16="http://schemas.microsoft.com/office/drawing/2014/main" id="{BFE8C122-809A-2F9E-05F5-CD4AAA79F1E4}"/>
                </a:ext>
              </a:extLst>
            </p:cNvPr>
            <p:cNvSpPr txBox="1"/>
            <p:nvPr/>
          </p:nvSpPr>
          <p:spPr>
            <a:xfrm>
              <a:off x="1727200" y="2159000"/>
              <a:ext cx="2641600" cy="254000"/>
            </a:xfrm>
            <a:prstGeom prst="rect">
              <a:avLst/>
            </a:prstGeom>
            <a:noFill/>
          </p:spPr>
          <p:txBody>
            <a:bodyPr vertOverflow="overflow" vert="horz" wrap="square" rtlCol="0" anchor="t">
              <a:spAutoFit/>
            </a:bodyPr>
            <a:lstStyle/>
            <a:p>
              <a:pPr defTabSz="978408">
                <a:spcAft>
                  <a:spcPts val="600"/>
                </a:spcAft>
              </a:pPr>
              <a:r>
                <a:rPr lang="en-GB" sz="1070" b="1" kern="1200">
                  <a:solidFill>
                    <a:srgbClr val="FFFFFF"/>
                  </a:solidFill>
                  <a:latin typeface="Calibri"/>
                  <a:ea typeface="+mn-ea"/>
                  <a:cs typeface="Calibri"/>
                </a:rPr>
                <a:t>Greater Anglia  ·  Network Rail</a:t>
              </a:r>
              <a:endParaRPr lang="en-GB" sz="1000" b="1">
                <a:solidFill>
                  <a:srgbClr val="FFFFFF"/>
                </a:solidFill>
                <a:latin typeface="Calibri"/>
                <a:ea typeface="Calibri"/>
                <a:cs typeface="Calibri"/>
              </a:endParaRPr>
            </a:p>
          </p:txBody>
        </p:sp>
        <p:sp>
          <p:nvSpPr>
            <p:cNvPr id="13" name="TextBox 12">
              <a:extLst>
                <a:ext uri="{FF2B5EF4-FFF2-40B4-BE49-F238E27FC236}">
                  <a16:creationId xmlns:a16="http://schemas.microsoft.com/office/drawing/2014/main" id="{D33BF981-028E-77B3-67C0-A3C0FB7249CB}"/>
                </a:ext>
              </a:extLst>
            </p:cNvPr>
            <p:cNvSpPr txBox="1"/>
            <p:nvPr/>
          </p:nvSpPr>
          <p:spPr>
            <a:xfrm>
              <a:off x="558800" y="2514600"/>
              <a:ext cx="1143000" cy="177800"/>
            </a:xfrm>
            <a:prstGeom prst="rect">
              <a:avLst/>
            </a:prstGeom>
            <a:noFill/>
          </p:spPr>
          <p:txBody>
            <a:bodyPr vertOverflow="overflow" vert="horz" wrap="square" rtlCol="0" anchor="t">
              <a:spAutoFit/>
            </a:bodyPr>
            <a:lstStyle/>
            <a:p>
              <a:pPr defTabSz="978408">
                <a:spcAft>
                  <a:spcPts val="600"/>
                </a:spcAft>
              </a:pPr>
              <a:r>
                <a:rPr lang="en-GB" sz="856" b="1" kern="1200">
                  <a:solidFill>
                    <a:srgbClr val="FFFFFF"/>
                  </a:solidFill>
                  <a:latin typeface="Calibri"/>
                  <a:ea typeface="+mn-ea"/>
                  <a:cs typeface="Calibri"/>
                </a:rPr>
                <a:t>SCOPE</a:t>
              </a:r>
              <a:endParaRPr lang="en-GB" sz="800" b="1">
                <a:solidFill>
                  <a:srgbClr val="FFB84D"/>
                </a:solidFill>
                <a:latin typeface="Calibri"/>
                <a:ea typeface="Calibri"/>
                <a:cs typeface="Calibri"/>
              </a:endParaRPr>
            </a:p>
          </p:txBody>
        </p:sp>
        <p:sp>
          <p:nvSpPr>
            <p:cNvPr id="14" name="TextBox 13">
              <a:extLst>
                <a:ext uri="{FF2B5EF4-FFF2-40B4-BE49-F238E27FC236}">
                  <a16:creationId xmlns:a16="http://schemas.microsoft.com/office/drawing/2014/main" id="{B58652C3-2C14-D008-7562-99C14B4EE169}"/>
                </a:ext>
              </a:extLst>
            </p:cNvPr>
            <p:cNvSpPr txBox="1"/>
            <p:nvPr/>
          </p:nvSpPr>
          <p:spPr>
            <a:xfrm>
              <a:off x="1727200" y="2489200"/>
              <a:ext cx="2641600" cy="254000"/>
            </a:xfrm>
            <a:prstGeom prst="rect">
              <a:avLst/>
            </a:prstGeom>
            <a:noFill/>
          </p:spPr>
          <p:txBody>
            <a:bodyPr vertOverflow="overflow" vert="horz" wrap="square" rtlCol="0" anchor="t">
              <a:spAutoFit/>
            </a:bodyPr>
            <a:lstStyle/>
            <a:p>
              <a:pPr defTabSz="978408">
                <a:spcAft>
                  <a:spcPts val="600"/>
                </a:spcAft>
              </a:pPr>
              <a:r>
                <a:rPr lang="en-GB" sz="1070" b="1" kern="1200">
                  <a:solidFill>
                    <a:srgbClr val="FFFFFF"/>
                  </a:solidFill>
                  <a:latin typeface="Calibri"/>
                  <a:ea typeface="+mn-ea"/>
                  <a:cs typeface="Calibri"/>
                </a:rPr>
                <a:t>47 stations  ·  East Anglia Area 1</a:t>
              </a:r>
              <a:endParaRPr lang="en-GB" sz="1000" b="1">
                <a:solidFill>
                  <a:srgbClr val="FFFFFF"/>
                </a:solidFill>
                <a:latin typeface="Calibri"/>
                <a:ea typeface="Calibri"/>
                <a:cs typeface="Calibri"/>
              </a:endParaRPr>
            </a:p>
          </p:txBody>
        </p:sp>
        <p:sp>
          <p:nvSpPr>
            <p:cNvPr id="15" name="TextBox 14">
              <a:extLst>
                <a:ext uri="{FF2B5EF4-FFF2-40B4-BE49-F238E27FC236}">
                  <a16:creationId xmlns:a16="http://schemas.microsoft.com/office/drawing/2014/main" id="{A5D54C3C-2DA5-76BD-2C01-429E47CF5B87}"/>
                </a:ext>
              </a:extLst>
            </p:cNvPr>
            <p:cNvSpPr txBox="1"/>
            <p:nvPr/>
          </p:nvSpPr>
          <p:spPr>
            <a:xfrm>
              <a:off x="558800" y="2844800"/>
              <a:ext cx="1143000" cy="177800"/>
            </a:xfrm>
            <a:prstGeom prst="rect">
              <a:avLst/>
            </a:prstGeom>
            <a:noFill/>
          </p:spPr>
          <p:txBody>
            <a:bodyPr vertOverflow="overflow" vert="horz" wrap="square" rtlCol="0" anchor="t">
              <a:spAutoFit/>
            </a:bodyPr>
            <a:lstStyle/>
            <a:p>
              <a:pPr defTabSz="978408">
                <a:spcAft>
                  <a:spcPts val="600"/>
                </a:spcAft>
              </a:pPr>
              <a:r>
                <a:rPr lang="en-GB" sz="856" b="1" kern="1200">
                  <a:solidFill>
                    <a:srgbClr val="FFFFFF"/>
                  </a:solidFill>
                  <a:latin typeface="Calibri"/>
                  <a:ea typeface="+mn-ea"/>
                  <a:cs typeface="Calibri"/>
                </a:rPr>
                <a:t>CEREMONY</a:t>
              </a:r>
              <a:endParaRPr lang="en-GB" sz="800" b="1">
                <a:solidFill>
                  <a:srgbClr val="FFB84D"/>
                </a:solidFill>
                <a:latin typeface="Calibri"/>
                <a:ea typeface="Calibri"/>
                <a:cs typeface="Calibri"/>
              </a:endParaRPr>
            </a:p>
          </p:txBody>
        </p:sp>
        <p:sp>
          <p:nvSpPr>
            <p:cNvPr id="16" name="TextBox 15">
              <a:extLst>
                <a:ext uri="{FF2B5EF4-FFF2-40B4-BE49-F238E27FC236}">
                  <a16:creationId xmlns:a16="http://schemas.microsoft.com/office/drawing/2014/main" id="{70333B0E-C351-4E06-FD00-6ACF23DE5057}"/>
                </a:ext>
              </a:extLst>
            </p:cNvPr>
            <p:cNvSpPr txBox="1"/>
            <p:nvPr/>
          </p:nvSpPr>
          <p:spPr>
            <a:xfrm>
              <a:off x="1727200" y="2819400"/>
              <a:ext cx="2641600" cy="254000"/>
            </a:xfrm>
            <a:prstGeom prst="rect">
              <a:avLst/>
            </a:prstGeom>
            <a:noFill/>
          </p:spPr>
          <p:txBody>
            <a:bodyPr vertOverflow="overflow" vert="horz" wrap="square" rtlCol="0" anchor="t">
              <a:spAutoFit/>
            </a:bodyPr>
            <a:lstStyle/>
            <a:p>
              <a:pPr defTabSz="978408">
                <a:spcAft>
                  <a:spcPts val="600"/>
                </a:spcAft>
              </a:pPr>
              <a:r>
                <a:rPr lang="en-GB" sz="1070" b="1" kern="1200">
                  <a:solidFill>
                    <a:srgbClr val="FFFFFF"/>
                  </a:solidFill>
                  <a:latin typeface="Calibri"/>
                  <a:ea typeface="+mn-ea"/>
                  <a:cs typeface="Calibri"/>
                </a:rPr>
                <a:t>11 Sep 2025  ·  Cambridge</a:t>
              </a:r>
              <a:endParaRPr lang="en-GB" sz="1000" b="1">
                <a:solidFill>
                  <a:srgbClr val="FFFFFF"/>
                </a:solidFill>
                <a:latin typeface="Calibri"/>
                <a:ea typeface="Calibri"/>
                <a:cs typeface="Calibri"/>
              </a:endParaRPr>
            </a:p>
          </p:txBody>
        </p:sp>
        <p:sp>
          <p:nvSpPr>
            <p:cNvPr id="17" name="TextBox 16">
              <a:extLst>
                <a:ext uri="{FF2B5EF4-FFF2-40B4-BE49-F238E27FC236}">
                  <a16:creationId xmlns:a16="http://schemas.microsoft.com/office/drawing/2014/main" id="{22486C67-33D7-C902-6EC3-698417B5813F}"/>
                </a:ext>
              </a:extLst>
            </p:cNvPr>
            <p:cNvSpPr txBox="1"/>
            <p:nvPr/>
          </p:nvSpPr>
          <p:spPr>
            <a:xfrm>
              <a:off x="558800" y="3175000"/>
              <a:ext cx="1143000" cy="177800"/>
            </a:xfrm>
            <a:prstGeom prst="rect">
              <a:avLst/>
            </a:prstGeom>
            <a:noFill/>
          </p:spPr>
          <p:txBody>
            <a:bodyPr vertOverflow="overflow" vert="horz" wrap="square" rtlCol="0" anchor="t">
              <a:spAutoFit/>
            </a:bodyPr>
            <a:lstStyle/>
            <a:p>
              <a:pPr defTabSz="978408">
                <a:spcAft>
                  <a:spcPts val="600"/>
                </a:spcAft>
              </a:pPr>
              <a:r>
                <a:rPr lang="en-GB" sz="856" b="1" kern="1200">
                  <a:solidFill>
                    <a:srgbClr val="FFFFFF"/>
                  </a:solidFill>
                  <a:latin typeface="Calibri"/>
                  <a:ea typeface="+mn-ea"/>
                  <a:cs typeface="Calibri"/>
                </a:rPr>
                <a:t>PRESENTED</a:t>
              </a:r>
              <a:endParaRPr lang="en-GB" sz="800" b="1">
                <a:solidFill>
                  <a:srgbClr val="FFB84D"/>
                </a:solidFill>
                <a:latin typeface="Calibri"/>
                <a:ea typeface="Calibri"/>
                <a:cs typeface="Calibri"/>
              </a:endParaRPr>
            </a:p>
          </p:txBody>
        </p:sp>
        <p:sp>
          <p:nvSpPr>
            <p:cNvPr id="18" name="TextBox 17">
              <a:extLst>
                <a:ext uri="{FF2B5EF4-FFF2-40B4-BE49-F238E27FC236}">
                  <a16:creationId xmlns:a16="http://schemas.microsoft.com/office/drawing/2014/main" id="{A7EB2471-0A17-21BE-BD29-5A62D0E51BB4}"/>
                </a:ext>
              </a:extLst>
            </p:cNvPr>
            <p:cNvSpPr txBox="1"/>
            <p:nvPr/>
          </p:nvSpPr>
          <p:spPr>
            <a:xfrm>
              <a:off x="1727200" y="3149600"/>
              <a:ext cx="2641600" cy="254000"/>
            </a:xfrm>
            <a:prstGeom prst="rect">
              <a:avLst/>
            </a:prstGeom>
            <a:noFill/>
          </p:spPr>
          <p:txBody>
            <a:bodyPr vertOverflow="overflow" vert="horz" wrap="square" rtlCol="0" anchor="t">
              <a:spAutoFit/>
            </a:bodyPr>
            <a:lstStyle/>
            <a:p>
              <a:pPr defTabSz="978408">
                <a:spcAft>
                  <a:spcPts val="600"/>
                </a:spcAft>
              </a:pPr>
              <a:r>
                <a:rPr lang="en-GB" sz="1070" b="1" kern="1200">
                  <a:solidFill>
                    <a:srgbClr val="FFFFFF"/>
                  </a:solidFill>
                  <a:latin typeface="Calibri"/>
                  <a:ea typeface="+mn-ea"/>
                  <a:cs typeface="Calibri"/>
                </a:rPr>
                <a:t>ICE President Prof Jim Hall</a:t>
              </a:r>
              <a:endParaRPr lang="en-GB" sz="1000" b="1">
                <a:solidFill>
                  <a:srgbClr val="FFFFFF"/>
                </a:solidFill>
                <a:latin typeface="Calibri"/>
                <a:ea typeface="Calibri"/>
                <a:cs typeface="Calibri"/>
              </a:endParaRPr>
            </a:p>
          </p:txBody>
        </p:sp>
      </p:grpSp>
      <p:sp>
        <p:nvSpPr>
          <p:cNvPr id="19" name="QuoteCard">
            <a:extLst>
              <a:ext uri="{FF2B5EF4-FFF2-40B4-BE49-F238E27FC236}">
                <a16:creationId xmlns:a16="http://schemas.microsoft.com/office/drawing/2014/main" id="{98A15B88-BB0D-74CE-CFF2-B7BCB0207E3A}"/>
              </a:ext>
            </a:extLst>
          </p:cNvPr>
          <p:cNvSpPr/>
          <p:nvPr/>
        </p:nvSpPr>
        <p:spPr>
          <a:xfrm>
            <a:off x="2285" y="4204664"/>
            <a:ext cx="3106041" cy="921880"/>
          </a:xfrm>
          <a:prstGeom prst="roundRect">
            <a:avLst/>
          </a:prstGeom>
          <a:solidFill>
            <a:srgbClr val="F5F5F5"/>
          </a:solidFill>
          <a:ln w="12700" cap="flat" cmpd="sng" algn="ctr">
            <a:solidFill>
              <a:srgbClr val="FFB84D"/>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20" name="QuoteLabel">
            <a:extLst>
              <a:ext uri="{FF2B5EF4-FFF2-40B4-BE49-F238E27FC236}">
                <a16:creationId xmlns:a16="http://schemas.microsoft.com/office/drawing/2014/main" id="{67285103-9052-1763-A55E-CC90B20CC911}"/>
              </a:ext>
            </a:extLst>
          </p:cNvPr>
          <p:cNvSpPr txBox="1"/>
          <p:nvPr/>
        </p:nvSpPr>
        <p:spPr>
          <a:xfrm>
            <a:off x="145733" y="4269370"/>
            <a:ext cx="2860657" cy="215444"/>
          </a:xfrm>
          <a:prstGeom prst="rect">
            <a:avLst/>
          </a:prstGeom>
          <a:noFill/>
        </p:spPr>
        <p:txBody>
          <a:bodyPr vertOverflow="overflow" vert="horz" wrap="square" rtlCol="0" anchor="t">
            <a:spAutoFit/>
          </a:bodyPr>
          <a:lstStyle/>
          <a:p>
            <a:pPr algn="l"/>
            <a:r>
              <a:rPr lang="en-GB" sz="800" b="1">
                <a:solidFill>
                  <a:srgbClr val="C97A2B"/>
                </a:solidFill>
                <a:latin typeface="Calibri"/>
                <a:ea typeface="Calibri"/>
                <a:cs typeface="Calibri"/>
              </a:rPr>
              <a:t>THE JUDGES' CALL</a:t>
            </a:r>
          </a:p>
        </p:txBody>
      </p:sp>
      <p:sp>
        <p:nvSpPr>
          <p:cNvPr id="21" name="QuoteText">
            <a:extLst>
              <a:ext uri="{FF2B5EF4-FFF2-40B4-BE49-F238E27FC236}">
                <a16:creationId xmlns:a16="http://schemas.microsoft.com/office/drawing/2014/main" id="{4368BF8C-38D9-2C94-C409-F82ACE67743E}"/>
              </a:ext>
            </a:extLst>
          </p:cNvPr>
          <p:cNvSpPr txBox="1"/>
          <p:nvPr/>
        </p:nvSpPr>
        <p:spPr>
          <a:xfrm>
            <a:off x="323533" y="4491852"/>
            <a:ext cx="2669947" cy="507831"/>
          </a:xfrm>
          <a:prstGeom prst="rect">
            <a:avLst/>
          </a:prstGeom>
          <a:noFill/>
        </p:spPr>
        <p:txBody>
          <a:bodyPr vertOverflow="overflow" vert="horz" wrap="square" rtlCol="0" anchor="t">
            <a:spAutoFit/>
          </a:bodyPr>
          <a:lstStyle/>
          <a:p>
            <a:pPr algn="l"/>
            <a:r>
              <a:rPr lang="en-GB" sz="900" i="1">
                <a:solidFill>
                  <a:srgbClr val="0A1628"/>
                </a:solidFill>
                <a:latin typeface="Calibri"/>
                <a:ea typeface="Calibri"/>
                <a:cs typeface="Calibri"/>
              </a:rPr>
              <a:t>"Cutting-edge digital technology identifying structural weaknesses before they become critical — enabling predictive, not reactive, maintenance."</a:t>
            </a:r>
          </a:p>
        </p:txBody>
      </p:sp>
      <p:sp>
        <p:nvSpPr>
          <p:cNvPr id="22" name="TransitionHook">
            <a:extLst>
              <a:ext uri="{FF2B5EF4-FFF2-40B4-BE49-F238E27FC236}">
                <a16:creationId xmlns:a16="http://schemas.microsoft.com/office/drawing/2014/main" id="{335C5068-0411-DED7-BCDE-302DAE09BACB}"/>
              </a:ext>
            </a:extLst>
          </p:cNvPr>
          <p:cNvSpPr txBox="1"/>
          <p:nvPr/>
        </p:nvSpPr>
        <p:spPr>
          <a:xfrm>
            <a:off x="5129232" y="4835075"/>
            <a:ext cx="8432800" cy="230832"/>
          </a:xfrm>
          <a:prstGeom prst="rect">
            <a:avLst/>
          </a:prstGeom>
          <a:noFill/>
        </p:spPr>
        <p:txBody>
          <a:bodyPr vertOverflow="overflow" vert="horz" wrap="square" rtlCol="0" anchor="t">
            <a:spAutoFit/>
          </a:bodyPr>
          <a:lstStyle/>
          <a:p>
            <a:pPr algn="l"/>
            <a:r>
              <a:rPr lang="en-GB" sz="900" i="1" dirty="0">
                <a:solidFill>
                  <a:srgbClr val="C97A2B"/>
                </a:solidFill>
                <a:latin typeface="Calibri"/>
                <a:ea typeface="Calibri"/>
                <a:cs typeface="Calibri"/>
              </a:rPr>
              <a:t>What Next?</a:t>
            </a:r>
          </a:p>
        </p:txBody>
      </p:sp>
    </p:spTree>
    <p:extLst>
      <p:ext uri="{BB962C8B-B14F-4D97-AF65-F5344CB8AC3E}">
        <p14:creationId xmlns:p14="http://schemas.microsoft.com/office/powerpoint/2010/main" val="40481097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2153B26-14CF-3097-AE55-9319B8B6EFD5}"/>
            </a:ext>
          </a:extLst>
        </p:cNvPr>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5F879AC3-D4CE-493C-ADC7-06205677F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w="0"/>
              <a:solidFill>
                <a:schemeClr val="accent1"/>
              </a:solidFill>
              <a:effectLst>
                <a:outerShdw blurRad="38100" dist="25400" dir="5400000" algn="ctr" rotWithShape="0">
                  <a:srgbClr val="6E747A">
                    <a:alpha val="43000"/>
                  </a:srgbClr>
                </a:outerShdw>
              </a:effectLst>
            </a:endParaRPr>
          </a:p>
        </p:txBody>
      </p:sp>
      <p:sp>
        <p:nvSpPr>
          <p:cNvPr id="13" name="Freeform: Shape 12">
            <a:extLst>
              <a:ext uri="{FF2B5EF4-FFF2-40B4-BE49-F238E27FC236}">
                <a16:creationId xmlns:a16="http://schemas.microsoft.com/office/drawing/2014/main" id="{736F0DFD-0954-464F-BF12-DD2E6F6E03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487628" cy="5143500"/>
          </a:xfrm>
          <a:custGeom>
            <a:avLst/>
            <a:gdLst>
              <a:gd name="connsiteX0" fmla="*/ 0 w 1983504"/>
              <a:gd name="connsiteY0" fmla="*/ 0 h 6858000"/>
              <a:gd name="connsiteX1" fmla="*/ 1376658 w 1983504"/>
              <a:gd name="connsiteY1" fmla="*/ 0 h 6858000"/>
              <a:gd name="connsiteX2" fmla="*/ 1690650 w 1983504"/>
              <a:gd name="connsiteY2" fmla="*/ 110269 h 6858000"/>
              <a:gd name="connsiteX3" fmla="*/ 1645361 w 1983504"/>
              <a:gd name="connsiteY3" fmla="*/ 135168 h 6858000"/>
              <a:gd name="connsiteX4" fmla="*/ 1373640 w 1983504"/>
              <a:gd name="connsiteY4" fmla="*/ 71141 h 6858000"/>
              <a:gd name="connsiteX5" fmla="*/ 1319295 w 1983504"/>
              <a:gd name="connsiteY5" fmla="*/ 88927 h 6858000"/>
              <a:gd name="connsiteX6" fmla="*/ 1346468 w 1983504"/>
              <a:gd name="connsiteY6" fmla="*/ 163625 h 6858000"/>
              <a:gd name="connsiteX7" fmla="*/ 1464213 w 1983504"/>
              <a:gd name="connsiteY7" fmla="*/ 192082 h 6858000"/>
              <a:gd name="connsiteX8" fmla="*/ 1648381 w 1983504"/>
              <a:gd name="connsiteY8" fmla="*/ 373491 h 6858000"/>
              <a:gd name="connsiteX9" fmla="*/ 1370620 w 1983504"/>
              <a:gd name="connsiteY9" fmla="*/ 352148 h 6858000"/>
              <a:gd name="connsiteX10" fmla="*/ 1322314 w 1983504"/>
              <a:gd name="connsiteY10" fmla="*/ 394834 h 6858000"/>
              <a:gd name="connsiteX11" fmla="*/ 1304199 w 1983504"/>
              <a:gd name="connsiteY11" fmla="*/ 451747 h 6858000"/>
              <a:gd name="connsiteX12" fmla="*/ 1222682 w 1983504"/>
              <a:gd name="connsiteY12" fmla="*/ 359262 h 6858000"/>
              <a:gd name="connsiteX13" fmla="*/ 1153242 w 1983504"/>
              <a:gd name="connsiteY13" fmla="*/ 334364 h 6858000"/>
              <a:gd name="connsiteX14" fmla="*/ 1132108 w 1983504"/>
              <a:gd name="connsiteY14" fmla="*/ 416176 h 6858000"/>
              <a:gd name="connsiteX15" fmla="*/ 1195509 w 1983504"/>
              <a:gd name="connsiteY15" fmla="*/ 505101 h 6858000"/>
              <a:gd name="connsiteX16" fmla="*/ 1364582 w 1983504"/>
              <a:gd name="connsiteY16" fmla="*/ 558458 h 6858000"/>
              <a:gd name="connsiteX17" fmla="*/ 1183434 w 1983504"/>
              <a:gd name="connsiteY17" fmla="*/ 558458 h 6858000"/>
              <a:gd name="connsiteX18" fmla="*/ 975114 w 1983504"/>
              <a:gd name="connsiteY18" fmla="*/ 522887 h 6858000"/>
              <a:gd name="connsiteX19" fmla="*/ 754716 w 1983504"/>
              <a:gd name="connsiteY19" fmla="*/ 533558 h 6858000"/>
              <a:gd name="connsiteX20" fmla="*/ 546395 w 1983504"/>
              <a:gd name="connsiteY20" fmla="*/ 462417 h 6858000"/>
              <a:gd name="connsiteX21" fmla="*/ 335056 w 1983504"/>
              <a:gd name="connsiteY21" fmla="*/ 465975 h 6858000"/>
              <a:gd name="connsiteX22" fmla="*/ 1270988 w 1983504"/>
              <a:gd name="connsiteY22" fmla="*/ 910606 h 6858000"/>
              <a:gd name="connsiteX23" fmla="*/ 1225701 w 1983504"/>
              <a:gd name="connsiteY23" fmla="*/ 921277 h 6858000"/>
              <a:gd name="connsiteX24" fmla="*/ 1165318 w 1983504"/>
              <a:gd name="connsiteY24" fmla="*/ 949734 h 6858000"/>
              <a:gd name="connsiteX25" fmla="*/ 1210606 w 1983504"/>
              <a:gd name="connsiteY25" fmla="*/ 1006647 h 6858000"/>
              <a:gd name="connsiteX26" fmla="*/ 1455156 w 1983504"/>
              <a:gd name="connsiteY26" fmla="*/ 1113358 h 6858000"/>
              <a:gd name="connsiteX27" fmla="*/ 1515538 w 1983504"/>
              <a:gd name="connsiteY27" fmla="*/ 1220069 h 6858000"/>
              <a:gd name="connsiteX28" fmla="*/ 1440060 w 1983504"/>
              <a:gd name="connsiteY28" fmla="*/ 1209399 h 6858000"/>
              <a:gd name="connsiteX29" fmla="*/ 1373640 w 1983504"/>
              <a:gd name="connsiteY29" fmla="*/ 1230741 h 6858000"/>
              <a:gd name="connsiteX30" fmla="*/ 1400810 w 1983504"/>
              <a:gd name="connsiteY30" fmla="*/ 1365909 h 6858000"/>
              <a:gd name="connsiteX31" fmla="*/ 1748012 w 1983504"/>
              <a:gd name="connsiteY31" fmla="*/ 1540204 h 6858000"/>
              <a:gd name="connsiteX32" fmla="*/ 1778203 w 1983504"/>
              <a:gd name="connsiteY32" fmla="*/ 1597117 h 6858000"/>
              <a:gd name="connsiteX33" fmla="*/ 1735936 w 1983504"/>
              <a:gd name="connsiteY33" fmla="*/ 1636245 h 6858000"/>
              <a:gd name="connsiteX34" fmla="*/ 1624228 w 1983504"/>
              <a:gd name="connsiteY34" fmla="*/ 1657587 h 6858000"/>
              <a:gd name="connsiteX35" fmla="*/ 1781223 w 1983504"/>
              <a:gd name="connsiteY35" fmla="*/ 1849668 h 6858000"/>
              <a:gd name="connsiteX36" fmla="*/ 1838587 w 1983504"/>
              <a:gd name="connsiteY36" fmla="*/ 1903025 h 6858000"/>
              <a:gd name="connsiteX37" fmla="*/ 1938218 w 1983504"/>
              <a:gd name="connsiteY37" fmla="*/ 1984836 h 6858000"/>
              <a:gd name="connsiteX38" fmla="*/ 1938218 w 1983504"/>
              <a:gd name="connsiteY38" fmla="*/ 2013292 h 6858000"/>
              <a:gd name="connsiteX39" fmla="*/ 1805376 w 1983504"/>
              <a:gd name="connsiteY39" fmla="*/ 2102219 h 6858000"/>
              <a:gd name="connsiteX40" fmla="*/ 1563844 w 1983504"/>
              <a:gd name="connsiteY40" fmla="*/ 2077320 h 6858000"/>
              <a:gd name="connsiteX41" fmla="*/ 1920104 w 1983504"/>
              <a:gd name="connsiteY41" fmla="*/ 2208931 h 6858000"/>
              <a:gd name="connsiteX42" fmla="*/ 766792 w 1983504"/>
              <a:gd name="connsiteY42" fmla="*/ 1892353 h 6858000"/>
              <a:gd name="connsiteX43" fmla="*/ 839252 w 1983504"/>
              <a:gd name="connsiteY43" fmla="*/ 1974165 h 6858000"/>
              <a:gd name="connsiteX44" fmla="*/ 1243816 w 1983504"/>
              <a:gd name="connsiteY44" fmla="*/ 2191146 h 6858000"/>
              <a:gd name="connsiteX45" fmla="*/ 1358543 w 1983504"/>
              <a:gd name="connsiteY45" fmla="*/ 2326314 h 6858000"/>
              <a:gd name="connsiteX46" fmla="*/ 1479310 w 1983504"/>
              <a:gd name="connsiteY46" fmla="*/ 2401012 h 6858000"/>
              <a:gd name="connsiteX47" fmla="*/ 1648381 w 1983504"/>
              <a:gd name="connsiteY47" fmla="*/ 2401012 h 6858000"/>
              <a:gd name="connsiteX48" fmla="*/ 1769146 w 1983504"/>
              <a:gd name="connsiteY48" fmla="*/ 2518395 h 6858000"/>
              <a:gd name="connsiteX49" fmla="*/ 1645361 w 1983504"/>
              <a:gd name="connsiteY49" fmla="*/ 2543294 h 6858000"/>
              <a:gd name="connsiteX50" fmla="*/ 1500444 w 1983504"/>
              <a:gd name="connsiteY50" fmla="*/ 2525509 h 6858000"/>
              <a:gd name="connsiteX51" fmla="*/ 1337410 w 1983504"/>
              <a:gd name="connsiteY51" fmla="*/ 2564636 h 6858000"/>
              <a:gd name="connsiteX52" fmla="*/ 1186452 w 1983504"/>
              <a:gd name="connsiteY52" fmla="*/ 2532623 h 6858000"/>
              <a:gd name="connsiteX53" fmla="*/ 1005304 w 1983504"/>
              <a:gd name="connsiteY53" fmla="*/ 2553965 h 6858000"/>
              <a:gd name="connsiteX54" fmla="*/ 947940 w 1983504"/>
              <a:gd name="connsiteY54" fmla="*/ 2692689 h 6858000"/>
              <a:gd name="connsiteX55" fmla="*/ 929826 w 1983504"/>
              <a:gd name="connsiteY55" fmla="*/ 2703362 h 6858000"/>
              <a:gd name="connsiteX56" fmla="*/ 594701 w 1983504"/>
              <a:gd name="connsiteY56" fmla="*/ 2923898 h 6858000"/>
              <a:gd name="connsiteX57" fmla="*/ 501108 w 1983504"/>
              <a:gd name="connsiteY57" fmla="*/ 2941684 h 6858000"/>
              <a:gd name="connsiteX58" fmla="*/ 1053610 w 1983504"/>
              <a:gd name="connsiteY58" fmla="*/ 3329402 h 6858000"/>
              <a:gd name="connsiteX59" fmla="*/ 682256 w 1983504"/>
              <a:gd name="connsiteY59" fmla="*/ 3229805 h 6858000"/>
              <a:gd name="connsiteX60" fmla="*/ 630932 w 1983504"/>
              <a:gd name="connsiteY60" fmla="*/ 3393429 h 6858000"/>
              <a:gd name="connsiteX61" fmla="*/ 806041 w 1983504"/>
              <a:gd name="connsiteY61" fmla="*/ 3539269 h 6858000"/>
              <a:gd name="connsiteX62" fmla="*/ 869444 w 1983504"/>
              <a:gd name="connsiteY62" fmla="*/ 3827390 h 6858000"/>
              <a:gd name="connsiteX63" fmla="*/ 839252 w 1983504"/>
              <a:gd name="connsiteY63" fmla="*/ 4090612 h 6858000"/>
              <a:gd name="connsiteX64" fmla="*/ 763774 w 1983504"/>
              <a:gd name="connsiteY64" fmla="*/ 4172424 h 6858000"/>
              <a:gd name="connsiteX65" fmla="*/ 655085 w 1983504"/>
              <a:gd name="connsiteY65" fmla="*/ 4321821 h 6858000"/>
              <a:gd name="connsiteX66" fmla="*/ 588662 w 1983504"/>
              <a:gd name="connsiteY66" fmla="*/ 4414305 h 6858000"/>
              <a:gd name="connsiteX67" fmla="*/ 356189 w 1983504"/>
              <a:gd name="connsiteY67" fmla="*/ 4378734 h 6858000"/>
              <a:gd name="connsiteX68" fmla="*/ 667160 w 1983504"/>
              <a:gd name="connsiteY68" fmla="*/ 4613499 h 6858000"/>
              <a:gd name="connsiteX69" fmla="*/ 416573 w 1983504"/>
              <a:gd name="connsiteY69" fmla="*/ 4585042 h 6858000"/>
              <a:gd name="connsiteX70" fmla="*/ 335056 w 1983504"/>
              <a:gd name="connsiteY70" fmla="*/ 4602828 h 6858000"/>
              <a:gd name="connsiteX71" fmla="*/ 380342 w 1983504"/>
              <a:gd name="connsiteY71" fmla="*/ 4677526 h 6858000"/>
              <a:gd name="connsiteX72" fmla="*/ 564510 w 1983504"/>
              <a:gd name="connsiteY72" fmla="*/ 4805580 h 6858000"/>
              <a:gd name="connsiteX73" fmla="*/ 944922 w 1983504"/>
              <a:gd name="connsiteY73" fmla="*/ 5154171 h 6858000"/>
              <a:gd name="connsiteX74" fmla="*/ 576586 w 1983504"/>
              <a:gd name="connsiteY74" fmla="*/ 4994104 h 6858000"/>
              <a:gd name="connsiteX75" fmla="*/ 963036 w 1983504"/>
              <a:gd name="connsiteY75" fmla="*/ 5353367 h 6858000"/>
              <a:gd name="connsiteX76" fmla="*/ 1047572 w 1983504"/>
              <a:gd name="connsiteY76" fmla="*/ 5474306 h 6858000"/>
              <a:gd name="connsiteX77" fmla="*/ 1222682 w 1983504"/>
              <a:gd name="connsiteY77" fmla="*/ 5769542 h 6858000"/>
              <a:gd name="connsiteX78" fmla="*/ 1213626 w 1983504"/>
              <a:gd name="connsiteY78" fmla="*/ 5801555 h 6858000"/>
              <a:gd name="connsiteX79" fmla="*/ 1014361 w 1983504"/>
              <a:gd name="connsiteY79" fmla="*/ 5755314 h 6858000"/>
              <a:gd name="connsiteX80" fmla="*/ 1274008 w 1983504"/>
              <a:gd name="connsiteY80" fmla="*/ 6004307 h 6858000"/>
              <a:gd name="connsiteX81" fmla="*/ 1542711 w 1983504"/>
              <a:gd name="connsiteY81" fmla="*/ 6196388 h 6858000"/>
              <a:gd name="connsiteX82" fmla="*/ 1352504 w 1983504"/>
              <a:gd name="connsiteY82" fmla="*/ 6167932 h 6858000"/>
              <a:gd name="connsiteX83" fmla="*/ 1089840 w 1983504"/>
              <a:gd name="connsiteY83" fmla="*/ 6057663 h 6858000"/>
              <a:gd name="connsiteX84" fmla="*/ 999266 w 1983504"/>
              <a:gd name="connsiteY84" fmla="*/ 6100347 h 6858000"/>
              <a:gd name="connsiteX85" fmla="*/ 1246836 w 1983504"/>
              <a:gd name="connsiteY85" fmla="*/ 6281757 h 6858000"/>
              <a:gd name="connsiteX86" fmla="*/ 1388735 w 1983504"/>
              <a:gd name="connsiteY86" fmla="*/ 6367127 h 6858000"/>
              <a:gd name="connsiteX87" fmla="*/ 1446099 w 1983504"/>
              <a:gd name="connsiteY87" fmla="*/ 6431153 h 6858000"/>
              <a:gd name="connsiteX88" fmla="*/ 1609132 w 1983504"/>
              <a:gd name="connsiteY88" fmla="*/ 6658805 h 6858000"/>
              <a:gd name="connsiteX89" fmla="*/ 1983504 w 1983504"/>
              <a:gd name="connsiteY89" fmla="*/ 6858000 h 6858000"/>
              <a:gd name="connsiteX90" fmla="*/ 0 w 1983504"/>
              <a:gd name="connsiteY90"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Lst>
            <a:rect l="l" t="t" r="r" b="b"/>
            <a:pathLst>
              <a:path w="1983504" h="6858000">
                <a:moveTo>
                  <a:pt x="0" y="0"/>
                </a:moveTo>
                <a:lnTo>
                  <a:pt x="1376658" y="0"/>
                </a:lnTo>
                <a:cubicBezTo>
                  <a:pt x="1482328" y="35571"/>
                  <a:pt x="1584980" y="78255"/>
                  <a:pt x="1690650" y="110269"/>
                </a:cubicBezTo>
                <a:cubicBezTo>
                  <a:pt x="1675553" y="145839"/>
                  <a:pt x="1660458" y="138725"/>
                  <a:pt x="1645361" y="135168"/>
                </a:cubicBezTo>
                <a:cubicBezTo>
                  <a:pt x="1554788" y="120941"/>
                  <a:pt x="1461194" y="110269"/>
                  <a:pt x="1373640" y="71141"/>
                </a:cubicBezTo>
                <a:cubicBezTo>
                  <a:pt x="1352504" y="64027"/>
                  <a:pt x="1328352" y="64027"/>
                  <a:pt x="1319295" y="88927"/>
                </a:cubicBezTo>
                <a:cubicBezTo>
                  <a:pt x="1304199" y="124497"/>
                  <a:pt x="1325332" y="145839"/>
                  <a:pt x="1346468" y="163625"/>
                </a:cubicBezTo>
                <a:cubicBezTo>
                  <a:pt x="1382696" y="195638"/>
                  <a:pt x="1424964" y="188525"/>
                  <a:pt x="1464213" y="192082"/>
                </a:cubicBezTo>
                <a:cubicBezTo>
                  <a:pt x="1572902" y="209867"/>
                  <a:pt x="1624228" y="259665"/>
                  <a:pt x="1648381" y="373491"/>
                </a:cubicBezTo>
                <a:cubicBezTo>
                  <a:pt x="1554788" y="327250"/>
                  <a:pt x="1461194" y="384162"/>
                  <a:pt x="1370620" y="352148"/>
                </a:cubicBezTo>
                <a:cubicBezTo>
                  <a:pt x="1346468" y="345034"/>
                  <a:pt x="1310237" y="355706"/>
                  <a:pt x="1322314" y="394834"/>
                </a:cubicBezTo>
                <a:cubicBezTo>
                  <a:pt x="1334390" y="430405"/>
                  <a:pt x="1373640" y="458860"/>
                  <a:pt x="1304199" y="451747"/>
                </a:cubicBezTo>
                <a:cubicBezTo>
                  <a:pt x="1252873" y="448189"/>
                  <a:pt x="1237778" y="405504"/>
                  <a:pt x="1222682" y="359262"/>
                </a:cubicBezTo>
                <a:cubicBezTo>
                  <a:pt x="1210606" y="334364"/>
                  <a:pt x="1177395" y="320135"/>
                  <a:pt x="1153242" y="334364"/>
                </a:cubicBezTo>
                <a:cubicBezTo>
                  <a:pt x="1123051" y="348592"/>
                  <a:pt x="1132108" y="387720"/>
                  <a:pt x="1132108" y="416176"/>
                </a:cubicBezTo>
                <a:cubicBezTo>
                  <a:pt x="1129088" y="469532"/>
                  <a:pt x="1153242" y="494431"/>
                  <a:pt x="1195509" y="505101"/>
                </a:cubicBezTo>
                <a:cubicBezTo>
                  <a:pt x="1246836" y="519330"/>
                  <a:pt x="1298160" y="537116"/>
                  <a:pt x="1364582" y="558458"/>
                </a:cubicBezTo>
                <a:cubicBezTo>
                  <a:pt x="1292122" y="594028"/>
                  <a:pt x="1237778" y="586915"/>
                  <a:pt x="1183434" y="558458"/>
                </a:cubicBezTo>
                <a:cubicBezTo>
                  <a:pt x="1117012" y="526444"/>
                  <a:pt x="1029458" y="483759"/>
                  <a:pt x="975114" y="522887"/>
                </a:cubicBezTo>
                <a:cubicBezTo>
                  <a:pt x="893597" y="579800"/>
                  <a:pt x="827176" y="544229"/>
                  <a:pt x="754716" y="533558"/>
                </a:cubicBezTo>
                <a:cubicBezTo>
                  <a:pt x="603758" y="512216"/>
                  <a:pt x="697352" y="480203"/>
                  <a:pt x="546395" y="462417"/>
                </a:cubicBezTo>
                <a:cubicBezTo>
                  <a:pt x="486012" y="455303"/>
                  <a:pt x="422610" y="426847"/>
                  <a:pt x="335056" y="465975"/>
                </a:cubicBezTo>
                <a:cubicBezTo>
                  <a:pt x="730563" y="672284"/>
                  <a:pt x="917750" y="658055"/>
                  <a:pt x="1270988" y="910606"/>
                </a:cubicBezTo>
                <a:cubicBezTo>
                  <a:pt x="1255893" y="935506"/>
                  <a:pt x="1240798" y="924835"/>
                  <a:pt x="1225701" y="921277"/>
                </a:cubicBezTo>
                <a:cubicBezTo>
                  <a:pt x="1201548" y="917720"/>
                  <a:pt x="1171356" y="903491"/>
                  <a:pt x="1165318" y="949734"/>
                </a:cubicBezTo>
                <a:cubicBezTo>
                  <a:pt x="1162298" y="985305"/>
                  <a:pt x="1180415" y="1003089"/>
                  <a:pt x="1210606" y="1006647"/>
                </a:cubicBezTo>
                <a:cubicBezTo>
                  <a:pt x="1298160" y="1020875"/>
                  <a:pt x="1376658" y="1070674"/>
                  <a:pt x="1455156" y="1113358"/>
                </a:cubicBezTo>
                <a:cubicBezTo>
                  <a:pt x="1491385" y="1131144"/>
                  <a:pt x="1530634" y="1156043"/>
                  <a:pt x="1515538" y="1220069"/>
                </a:cubicBezTo>
                <a:cubicBezTo>
                  <a:pt x="1485348" y="1237855"/>
                  <a:pt x="1464213" y="1212955"/>
                  <a:pt x="1440060" y="1209399"/>
                </a:cubicBezTo>
                <a:cubicBezTo>
                  <a:pt x="1415907" y="1205842"/>
                  <a:pt x="1358543" y="1220069"/>
                  <a:pt x="1373640" y="1230741"/>
                </a:cubicBezTo>
                <a:cubicBezTo>
                  <a:pt x="1443080" y="1269868"/>
                  <a:pt x="1316276" y="1365909"/>
                  <a:pt x="1400810" y="1365909"/>
                </a:cubicBezTo>
                <a:cubicBezTo>
                  <a:pt x="1539691" y="1365909"/>
                  <a:pt x="1615170" y="1536647"/>
                  <a:pt x="1748012" y="1540204"/>
                </a:cubicBezTo>
                <a:cubicBezTo>
                  <a:pt x="1769146" y="1540204"/>
                  <a:pt x="1778203" y="1572219"/>
                  <a:pt x="1778203" y="1597117"/>
                </a:cubicBezTo>
                <a:cubicBezTo>
                  <a:pt x="1778203" y="1629132"/>
                  <a:pt x="1757070" y="1632688"/>
                  <a:pt x="1735936" y="1636245"/>
                </a:cubicBezTo>
                <a:cubicBezTo>
                  <a:pt x="1702725" y="1639802"/>
                  <a:pt x="1666496" y="1597117"/>
                  <a:pt x="1624228" y="1657587"/>
                </a:cubicBezTo>
                <a:cubicBezTo>
                  <a:pt x="1702725" y="1693158"/>
                  <a:pt x="1784242" y="1728729"/>
                  <a:pt x="1781223" y="1849668"/>
                </a:cubicBezTo>
                <a:cubicBezTo>
                  <a:pt x="1781223" y="1881683"/>
                  <a:pt x="1814434" y="1895910"/>
                  <a:pt x="1838587" y="1903025"/>
                </a:cubicBezTo>
                <a:cubicBezTo>
                  <a:pt x="1880854" y="1917252"/>
                  <a:pt x="1914065" y="1938595"/>
                  <a:pt x="1938218" y="1984836"/>
                </a:cubicBezTo>
                <a:cubicBezTo>
                  <a:pt x="1938218" y="1995507"/>
                  <a:pt x="1938218" y="2002622"/>
                  <a:pt x="1938218" y="2013292"/>
                </a:cubicBezTo>
                <a:cubicBezTo>
                  <a:pt x="1932180" y="2123562"/>
                  <a:pt x="1871798" y="2120004"/>
                  <a:pt x="1805376" y="2102219"/>
                </a:cubicBezTo>
                <a:cubicBezTo>
                  <a:pt x="1726878" y="2080877"/>
                  <a:pt x="1648381" y="2038192"/>
                  <a:pt x="1563844" y="2077320"/>
                </a:cubicBezTo>
                <a:cubicBezTo>
                  <a:pt x="1681592" y="2130676"/>
                  <a:pt x="1811414" y="2134233"/>
                  <a:pt x="1920104" y="2208931"/>
                </a:cubicBezTo>
                <a:cubicBezTo>
                  <a:pt x="1515538" y="2223159"/>
                  <a:pt x="1159280" y="1984836"/>
                  <a:pt x="766792" y="1892353"/>
                </a:cubicBezTo>
                <a:cubicBezTo>
                  <a:pt x="778869" y="1952823"/>
                  <a:pt x="812080" y="1967051"/>
                  <a:pt x="839252" y="1974165"/>
                </a:cubicBezTo>
                <a:cubicBezTo>
                  <a:pt x="984170" y="2020407"/>
                  <a:pt x="1110974" y="2112891"/>
                  <a:pt x="1243816" y="2191146"/>
                </a:cubicBezTo>
                <a:cubicBezTo>
                  <a:pt x="1298160" y="2223159"/>
                  <a:pt x="1337410" y="2258731"/>
                  <a:pt x="1358543" y="2326314"/>
                </a:cubicBezTo>
                <a:cubicBezTo>
                  <a:pt x="1376658" y="2390340"/>
                  <a:pt x="1412888" y="2418796"/>
                  <a:pt x="1479310" y="2401012"/>
                </a:cubicBezTo>
                <a:cubicBezTo>
                  <a:pt x="1533654" y="2386784"/>
                  <a:pt x="1591018" y="2393898"/>
                  <a:pt x="1648381" y="2401012"/>
                </a:cubicBezTo>
                <a:cubicBezTo>
                  <a:pt x="1711782" y="2408126"/>
                  <a:pt x="1784242" y="2479267"/>
                  <a:pt x="1769146" y="2518395"/>
                </a:cubicBezTo>
                <a:cubicBezTo>
                  <a:pt x="1738956" y="2582422"/>
                  <a:pt x="1687630" y="2550408"/>
                  <a:pt x="1645361" y="2543294"/>
                </a:cubicBezTo>
                <a:cubicBezTo>
                  <a:pt x="1594036" y="2536181"/>
                  <a:pt x="1500444" y="2518395"/>
                  <a:pt x="1500444" y="2525509"/>
                </a:cubicBezTo>
                <a:cubicBezTo>
                  <a:pt x="1467232" y="2685576"/>
                  <a:pt x="1391754" y="2564636"/>
                  <a:pt x="1337410" y="2564636"/>
                </a:cubicBezTo>
                <a:cubicBezTo>
                  <a:pt x="1286084" y="2564636"/>
                  <a:pt x="1234759" y="2546851"/>
                  <a:pt x="1186452" y="2532623"/>
                </a:cubicBezTo>
                <a:cubicBezTo>
                  <a:pt x="1123051" y="2514837"/>
                  <a:pt x="1065688" y="2546851"/>
                  <a:pt x="1005304" y="2553965"/>
                </a:cubicBezTo>
                <a:cubicBezTo>
                  <a:pt x="950960" y="2561080"/>
                  <a:pt x="981150" y="2653563"/>
                  <a:pt x="947940" y="2692689"/>
                </a:cubicBezTo>
                <a:cubicBezTo>
                  <a:pt x="941903" y="2703362"/>
                  <a:pt x="935864" y="2703362"/>
                  <a:pt x="929826" y="2703362"/>
                </a:cubicBezTo>
                <a:cubicBezTo>
                  <a:pt x="911711" y="2980812"/>
                  <a:pt x="594701" y="2913227"/>
                  <a:pt x="594701" y="2923898"/>
                </a:cubicBezTo>
                <a:cubicBezTo>
                  <a:pt x="567529" y="2941684"/>
                  <a:pt x="534318" y="2899000"/>
                  <a:pt x="501108" y="2941684"/>
                </a:cubicBezTo>
                <a:cubicBezTo>
                  <a:pt x="643007" y="3137322"/>
                  <a:pt x="860386" y="3183563"/>
                  <a:pt x="1053610" y="3329402"/>
                </a:cubicBezTo>
                <a:cubicBezTo>
                  <a:pt x="893597" y="3379202"/>
                  <a:pt x="800002" y="3208463"/>
                  <a:pt x="682256" y="3229805"/>
                </a:cubicBezTo>
                <a:cubicBezTo>
                  <a:pt x="624893" y="3283162"/>
                  <a:pt x="796984" y="3368530"/>
                  <a:pt x="630932" y="3393429"/>
                </a:cubicBezTo>
                <a:cubicBezTo>
                  <a:pt x="703390" y="3439672"/>
                  <a:pt x="754716" y="3485914"/>
                  <a:pt x="806041" y="3539269"/>
                </a:cubicBezTo>
                <a:cubicBezTo>
                  <a:pt x="893597" y="3635309"/>
                  <a:pt x="911711" y="3699337"/>
                  <a:pt x="869444" y="3827390"/>
                </a:cubicBezTo>
                <a:cubicBezTo>
                  <a:pt x="842270" y="3912759"/>
                  <a:pt x="803022" y="3991015"/>
                  <a:pt x="839252" y="4090612"/>
                </a:cubicBezTo>
                <a:cubicBezTo>
                  <a:pt x="863405" y="4158196"/>
                  <a:pt x="854347" y="4204438"/>
                  <a:pt x="763774" y="4172424"/>
                </a:cubicBezTo>
                <a:cubicBezTo>
                  <a:pt x="667160" y="4140411"/>
                  <a:pt x="630932" y="4200882"/>
                  <a:pt x="655085" y="4321821"/>
                </a:cubicBezTo>
                <a:cubicBezTo>
                  <a:pt x="670179" y="4400076"/>
                  <a:pt x="655085" y="4424975"/>
                  <a:pt x="588662" y="4414305"/>
                </a:cubicBezTo>
                <a:cubicBezTo>
                  <a:pt x="516204" y="4403633"/>
                  <a:pt x="446764" y="4353835"/>
                  <a:pt x="356189" y="4378734"/>
                </a:cubicBezTo>
                <a:cubicBezTo>
                  <a:pt x="428648" y="4521016"/>
                  <a:pt x="582626" y="4478331"/>
                  <a:pt x="667160" y="4613499"/>
                </a:cubicBezTo>
                <a:cubicBezTo>
                  <a:pt x="567529" y="4613499"/>
                  <a:pt x="489031" y="4613499"/>
                  <a:pt x="416573" y="4585042"/>
                </a:cubicBezTo>
                <a:cubicBezTo>
                  <a:pt x="386381" y="4574373"/>
                  <a:pt x="353170" y="4560144"/>
                  <a:pt x="335056" y="4602828"/>
                </a:cubicBezTo>
                <a:cubicBezTo>
                  <a:pt x="313920" y="4652628"/>
                  <a:pt x="356189" y="4670412"/>
                  <a:pt x="380342" y="4677526"/>
                </a:cubicBezTo>
                <a:cubicBezTo>
                  <a:pt x="449784" y="4702425"/>
                  <a:pt x="504126" y="4759339"/>
                  <a:pt x="564510" y="4805580"/>
                </a:cubicBezTo>
                <a:cubicBezTo>
                  <a:pt x="694332" y="4905177"/>
                  <a:pt x="836233" y="4990547"/>
                  <a:pt x="944922" y="5154171"/>
                </a:cubicBezTo>
                <a:cubicBezTo>
                  <a:pt x="809060" y="5111487"/>
                  <a:pt x="706410" y="5011889"/>
                  <a:pt x="576586" y="4994104"/>
                </a:cubicBezTo>
                <a:cubicBezTo>
                  <a:pt x="688296" y="5143500"/>
                  <a:pt x="830194" y="5243097"/>
                  <a:pt x="963036" y="5353367"/>
                </a:cubicBezTo>
                <a:cubicBezTo>
                  <a:pt x="1002286" y="5385379"/>
                  <a:pt x="1041534" y="5406721"/>
                  <a:pt x="1047572" y="5474306"/>
                </a:cubicBezTo>
                <a:cubicBezTo>
                  <a:pt x="1065688" y="5605917"/>
                  <a:pt x="1113992" y="5712629"/>
                  <a:pt x="1222682" y="5769542"/>
                </a:cubicBezTo>
                <a:cubicBezTo>
                  <a:pt x="1222682" y="5769542"/>
                  <a:pt x="1216644" y="5790884"/>
                  <a:pt x="1213626" y="5801555"/>
                </a:cubicBezTo>
                <a:cubicBezTo>
                  <a:pt x="1147203" y="5805112"/>
                  <a:pt x="1095878" y="5726858"/>
                  <a:pt x="1014361" y="5755314"/>
                </a:cubicBezTo>
                <a:cubicBezTo>
                  <a:pt x="1095878" y="5862025"/>
                  <a:pt x="1162298" y="5954508"/>
                  <a:pt x="1274008" y="6004307"/>
                </a:cubicBezTo>
                <a:cubicBezTo>
                  <a:pt x="1364582" y="6043434"/>
                  <a:pt x="1476290" y="6068335"/>
                  <a:pt x="1542711" y="6196388"/>
                </a:cubicBezTo>
                <a:cubicBezTo>
                  <a:pt x="1467232" y="6221287"/>
                  <a:pt x="1409868" y="6189274"/>
                  <a:pt x="1352504" y="6167932"/>
                </a:cubicBezTo>
                <a:cubicBezTo>
                  <a:pt x="1264950" y="6132361"/>
                  <a:pt x="1177395" y="6093234"/>
                  <a:pt x="1089840" y="6057663"/>
                </a:cubicBezTo>
                <a:cubicBezTo>
                  <a:pt x="1056628" y="6043434"/>
                  <a:pt x="1020400" y="6036320"/>
                  <a:pt x="999266" y="6100347"/>
                </a:cubicBezTo>
                <a:cubicBezTo>
                  <a:pt x="1110974" y="6114575"/>
                  <a:pt x="1177395" y="6199945"/>
                  <a:pt x="1246836" y="6281757"/>
                </a:cubicBezTo>
                <a:cubicBezTo>
                  <a:pt x="1286084" y="6327999"/>
                  <a:pt x="1319295" y="6388469"/>
                  <a:pt x="1388735" y="6367127"/>
                </a:cubicBezTo>
                <a:cubicBezTo>
                  <a:pt x="1424964" y="6356456"/>
                  <a:pt x="1449118" y="6388469"/>
                  <a:pt x="1446099" y="6431153"/>
                </a:cubicBezTo>
                <a:cubicBezTo>
                  <a:pt x="1431002" y="6580550"/>
                  <a:pt x="1518558" y="6630349"/>
                  <a:pt x="1609132" y="6658805"/>
                </a:cubicBezTo>
                <a:cubicBezTo>
                  <a:pt x="1741974" y="6701489"/>
                  <a:pt x="1859720" y="6786859"/>
                  <a:pt x="1983504" y="6858000"/>
                </a:cubicBezTo>
                <a:lnTo>
                  <a:pt x="0" y="6858000"/>
                </a:lnTo>
                <a:close/>
              </a:path>
            </a:pathLst>
          </a:custGeom>
          <a:solidFill>
            <a:schemeClr val="bg2">
              <a:alpha val="50000"/>
            </a:schemeClr>
          </a:solidFill>
          <a:ln w="32707" cap="flat">
            <a:noFill/>
            <a:prstDash val="solid"/>
            <a:miter/>
          </a:ln>
        </p:spPr>
        <p:txBody>
          <a:bodyPr wrap="square" rtlCol="0" anchor="ctr">
            <a:noAutofit/>
          </a:bodyPr>
          <a:lstStyle/>
          <a:p>
            <a:pPr algn="ctr"/>
            <a:endParaRPr lang="en-US"/>
          </a:p>
        </p:txBody>
      </p:sp>
      <p:pic>
        <p:nvPicPr>
          <p:cNvPr id="6" name="Picture 5">
            <a:extLst>
              <a:ext uri="{FF2B5EF4-FFF2-40B4-BE49-F238E27FC236}">
                <a16:creationId xmlns:a16="http://schemas.microsoft.com/office/drawing/2014/main" id="{97E15EBC-02D7-75CC-FC52-F689312F97E5}"/>
              </a:ext>
            </a:extLst>
          </p:cNvPr>
          <p:cNvPicPr>
            <a:picLocks noChangeAspect="1"/>
          </p:cNvPicPr>
          <p:nvPr/>
        </p:nvPicPr>
        <p:blipFill>
          <a:blip r:embed="rId3"/>
          <a:stretch>
            <a:fillRect/>
          </a:stretch>
        </p:blipFill>
        <p:spPr>
          <a:xfrm>
            <a:off x="2926636" y="49749"/>
            <a:ext cx="5102770" cy="5090013"/>
          </a:xfrm>
          <a:prstGeom prst="rect">
            <a:avLst/>
          </a:prstGeom>
        </p:spPr>
      </p:pic>
    </p:spTree>
    <p:extLst>
      <p:ext uri="{BB962C8B-B14F-4D97-AF65-F5344CB8AC3E}">
        <p14:creationId xmlns:p14="http://schemas.microsoft.com/office/powerpoint/2010/main" val="35774161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54153A3-1B1B-3092-698D-E2917695CAF3}"/>
            </a:ext>
          </a:extLst>
        </p:cNvPr>
        <p:cNvGrpSpPr/>
        <p:nvPr/>
      </p:nvGrpSpPr>
      <p:grpSpPr>
        <a:xfrm>
          <a:off x="0" y="0"/>
          <a:ext cx="0" cy="0"/>
          <a:chOff x="0" y="0"/>
          <a:chExt cx="0" cy="0"/>
        </a:xfrm>
      </p:grpSpPr>
      <p:sp>
        <p:nvSpPr>
          <p:cNvPr id="8207" name="Rectangle 8206">
            <a:extLst>
              <a:ext uri="{FF2B5EF4-FFF2-40B4-BE49-F238E27FC236}">
                <a16:creationId xmlns:a16="http://schemas.microsoft.com/office/drawing/2014/main" id="{16B067B1-F4E5-4FDF-813D-C9E872E800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gradFill flip="none" rotWithShape="1">
            <a:gsLst>
              <a:gs pos="0">
                <a:schemeClr val="accent1"/>
              </a:gs>
              <a:gs pos="10000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194" name="Picture 2" descr="No alternative text description for this image">
            <a:extLst>
              <a:ext uri="{FF2B5EF4-FFF2-40B4-BE49-F238E27FC236}">
                <a16:creationId xmlns:a16="http://schemas.microsoft.com/office/drawing/2014/main" id="{22AF0ECC-1902-F087-152F-78CDE526CEEE}"/>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409" b="-1"/>
          <a:stretch>
            <a:fillRect/>
          </a:stretch>
        </p:blipFill>
        <p:spPr bwMode="auto">
          <a:xfrm>
            <a:off x="230831" y="196077"/>
            <a:ext cx="8682337" cy="475134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615976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B672CB1-AD2C-F523-C2DD-8C39600ED470}"/>
            </a:ext>
          </a:extLst>
        </p:cNvPr>
        <p:cNvGrpSpPr/>
        <p:nvPr/>
      </p:nvGrpSpPr>
      <p:grpSpPr>
        <a:xfrm>
          <a:off x="0" y="0"/>
          <a:ext cx="0" cy="0"/>
          <a:chOff x="0" y="0"/>
          <a:chExt cx="0" cy="0"/>
        </a:xfrm>
      </p:grpSpPr>
      <p:sp useBgFill="1">
        <p:nvSpPr>
          <p:cNvPr id="3088" name="Rectangle 3087">
            <a:extLst>
              <a:ext uri="{FF2B5EF4-FFF2-40B4-BE49-F238E27FC236}">
                <a16:creationId xmlns:a16="http://schemas.microsoft.com/office/drawing/2014/main" id="{6C2997EE-0889-44C3-AC0D-18F26AC9AA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078" name="Picture 6" descr="No alternative text description for this image">
            <a:extLst>
              <a:ext uri="{FF2B5EF4-FFF2-40B4-BE49-F238E27FC236}">
                <a16:creationId xmlns:a16="http://schemas.microsoft.com/office/drawing/2014/main" id="{D48AE6F9-D56E-E0DF-DFE1-D1162A9359D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t="24205" r="-3" b="6383"/>
          <a:stretch>
            <a:fillRect/>
          </a:stretch>
        </p:blipFill>
        <p:spPr bwMode="auto">
          <a:xfrm>
            <a:off x="4216674" y="10"/>
            <a:ext cx="4927327" cy="2813040"/>
          </a:xfrm>
          <a:custGeom>
            <a:avLst/>
            <a:gdLst/>
            <a:ahLst/>
            <a:cxnLst/>
            <a:rect l="l" t="t" r="r" b="b"/>
            <a:pathLst>
              <a:path w="6569769" h="3750734">
                <a:moveTo>
                  <a:pt x="1738471" y="0"/>
                </a:moveTo>
                <a:lnTo>
                  <a:pt x="6569769" y="0"/>
                </a:lnTo>
                <a:lnTo>
                  <a:pt x="6569769" y="3750734"/>
                </a:lnTo>
                <a:lnTo>
                  <a:pt x="0" y="3750734"/>
                </a:lnTo>
                <a:close/>
              </a:path>
            </a:pathLst>
          </a:custGeom>
          <a:noFill/>
          <a:extLst>
            <a:ext uri="{909E8E84-426E-40DD-AFC4-6F175D3DCCD1}">
              <a14:hiddenFill xmlns:a14="http://schemas.microsoft.com/office/drawing/2010/main">
                <a:solidFill>
                  <a:srgbClr val="FFFFFF"/>
                </a:solidFill>
              </a14:hiddenFill>
            </a:ext>
          </a:extLst>
        </p:spPr>
      </p:pic>
      <p:pic>
        <p:nvPicPr>
          <p:cNvPr id="3074" name="Picture 2" descr="No alternative text description for this image">
            <a:extLst>
              <a:ext uri="{FF2B5EF4-FFF2-40B4-BE49-F238E27FC236}">
                <a16:creationId xmlns:a16="http://schemas.microsoft.com/office/drawing/2014/main" id="{76351AC0-B8FF-5961-BBD3-8CDAE8018E4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t="20835" r="2" b="13246"/>
          <a:stretch>
            <a:fillRect/>
          </a:stretch>
        </p:blipFill>
        <p:spPr bwMode="auto">
          <a:xfrm>
            <a:off x="3136508" y="2915920"/>
            <a:ext cx="6007493" cy="2227580"/>
          </a:xfrm>
          <a:custGeom>
            <a:avLst/>
            <a:gdLst/>
            <a:ahLst/>
            <a:cxnLst/>
            <a:rect l="l" t="t" r="r" b="b"/>
            <a:pathLst>
              <a:path w="8009991" h="2970106">
                <a:moveTo>
                  <a:pt x="1376648" y="0"/>
                </a:moveTo>
                <a:lnTo>
                  <a:pt x="8009991" y="0"/>
                </a:lnTo>
                <a:lnTo>
                  <a:pt x="8009991" y="2970106"/>
                </a:lnTo>
                <a:lnTo>
                  <a:pt x="0" y="2970106"/>
                </a:lnTo>
                <a:close/>
              </a:path>
            </a:pathLst>
          </a:custGeom>
          <a:noFill/>
          <a:extLst>
            <a:ext uri="{909E8E84-426E-40DD-AFC4-6F175D3DCCD1}">
              <a14:hiddenFill xmlns:a14="http://schemas.microsoft.com/office/drawing/2010/main">
                <a:solidFill>
                  <a:srgbClr val="FFFFFF"/>
                </a:solidFill>
              </a14:hiddenFill>
            </a:ext>
          </a:extLst>
        </p:spPr>
      </p:pic>
      <p:pic>
        <p:nvPicPr>
          <p:cNvPr id="4" name="Picture 2" descr="No alternative text description for this image">
            <a:extLst>
              <a:ext uri="{FF2B5EF4-FFF2-40B4-BE49-F238E27FC236}">
                <a16:creationId xmlns:a16="http://schemas.microsoft.com/office/drawing/2014/main" id="{3DC43F8B-FC12-2881-9E1C-A243B483358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t="8369" r="-2" b="-2"/>
          <a:stretch>
            <a:fillRect/>
          </a:stretch>
        </p:blipFill>
        <p:spPr bwMode="auto">
          <a:xfrm>
            <a:off x="20" y="10"/>
            <a:ext cx="5627313" cy="5143490"/>
          </a:xfrm>
          <a:custGeom>
            <a:avLst/>
            <a:gdLst/>
            <a:ahLst/>
            <a:cxnLst/>
            <a:rect l="l" t="t" r="r" b="b"/>
            <a:pathLst>
              <a:path w="7503111" h="6858000">
                <a:moveTo>
                  <a:pt x="0" y="0"/>
                </a:moveTo>
                <a:lnTo>
                  <a:pt x="677334" y="0"/>
                </a:lnTo>
                <a:lnTo>
                  <a:pt x="1168036" y="0"/>
                </a:lnTo>
                <a:lnTo>
                  <a:pt x="1205499" y="0"/>
                </a:lnTo>
                <a:lnTo>
                  <a:pt x="1647632" y="0"/>
                </a:lnTo>
                <a:lnTo>
                  <a:pt x="7215401" y="0"/>
                </a:lnTo>
                <a:lnTo>
                  <a:pt x="4041567" y="6852993"/>
                </a:lnTo>
                <a:lnTo>
                  <a:pt x="7503111" y="6852993"/>
                </a:lnTo>
                <a:lnTo>
                  <a:pt x="7503111" y="6852994"/>
                </a:lnTo>
                <a:lnTo>
                  <a:pt x="1647632" y="6852994"/>
                </a:lnTo>
                <a:lnTo>
                  <a:pt x="1647632" y="6858000"/>
                </a:lnTo>
                <a:lnTo>
                  <a:pt x="0" y="6858000"/>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587675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2F4F147-3AD5-8178-1919-BA5E364550E0}"/>
            </a:ext>
          </a:extLst>
        </p:cNvPr>
        <p:cNvGrpSpPr/>
        <p:nvPr/>
      </p:nvGrpSpPr>
      <p:grpSpPr>
        <a:xfrm>
          <a:off x="0" y="0"/>
          <a:ext cx="0" cy="0"/>
          <a:chOff x="0" y="0"/>
          <a:chExt cx="0" cy="0"/>
        </a:xfrm>
      </p:grpSpPr>
      <p:pic>
        <p:nvPicPr>
          <p:cNvPr id="5" name="Picture 10" descr="No alternative text description for this image">
            <a:extLst>
              <a:ext uri="{FF2B5EF4-FFF2-40B4-BE49-F238E27FC236}">
                <a16:creationId xmlns:a16="http://schemas.microsoft.com/office/drawing/2014/main" id="{B544F5BF-5552-5529-C11B-DD14F350A60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r="1" b="42038"/>
          <a:stretch>
            <a:fillRect/>
          </a:stretch>
        </p:blipFill>
        <p:spPr bwMode="auto">
          <a:xfrm>
            <a:off x="3370077" y="182"/>
            <a:ext cx="5773923" cy="2510029"/>
          </a:xfrm>
          <a:custGeom>
            <a:avLst/>
            <a:gdLst/>
            <a:ahLst/>
            <a:cxnLst/>
            <a:rect l="l" t="t" r="r" b="b"/>
            <a:pathLst>
              <a:path w="7698564" h="3346705">
                <a:moveTo>
                  <a:pt x="1549963" y="0"/>
                </a:moveTo>
                <a:lnTo>
                  <a:pt x="1555540" y="0"/>
                </a:lnTo>
                <a:lnTo>
                  <a:pt x="2621768" y="0"/>
                </a:lnTo>
                <a:lnTo>
                  <a:pt x="6451640" y="0"/>
                </a:lnTo>
                <a:lnTo>
                  <a:pt x="6451640" y="479"/>
                </a:lnTo>
                <a:lnTo>
                  <a:pt x="7698564" y="479"/>
                </a:lnTo>
                <a:lnTo>
                  <a:pt x="7698564" y="3346705"/>
                </a:lnTo>
                <a:lnTo>
                  <a:pt x="0" y="3346705"/>
                </a:lnTo>
                <a:close/>
              </a:path>
            </a:pathLst>
          </a:custGeom>
          <a:noFill/>
          <a:extLst>
            <a:ext uri="{909E8E84-426E-40DD-AFC4-6F175D3DCCD1}">
              <a14:hiddenFill xmlns:a14="http://schemas.microsoft.com/office/drawing/2010/main">
                <a:solidFill>
                  <a:srgbClr val="FFFFFF"/>
                </a:solidFill>
              </a14:hiddenFill>
            </a:ext>
          </a:extLst>
        </p:spPr>
      </p:pic>
      <p:pic>
        <p:nvPicPr>
          <p:cNvPr id="4098" name="Picture 2" descr="No alternative text description for this image">
            <a:extLst>
              <a:ext uri="{FF2B5EF4-FFF2-40B4-BE49-F238E27FC236}">
                <a16:creationId xmlns:a16="http://schemas.microsoft.com/office/drawing/2014/main" id="{73A70005-C297-7B26-5667-FD4CF90F99C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t="19914" r="-1" b="22972"/>
          <a:stretch>
            <a:fillRect/>
          </a:stretch>
        </p:blipFill>
        <p:spPr bwMode="auto">
          <a:xfrm>
            <a:off x="20" y="10"/>
            <a:ext cx="4394827" cy="2510018"/>
          </a:xfrm>
          <a:custGeom>
            <a:avLst/>
            <a:gdLst/>
            <a:ahLst/>
            <a:cxnLst/>
            <a:rect l="l" t="t" r="r" b="b"/>
            <a:pathLst>
              <a:path w="5859797" h="3346705">
                <a:moveTo>
                  <a:pt x="0" y="0"/>
                </a:moveTo>
                <a:lnTo>
                  <a:pt x="5859797" y="0"/>
                </a:lnTo>
                <a:lnTo>
                  <a:pt x="4309834" y="3346705"/>
                </a:lnTo>
                <a:lnTo>
                  <a:pt x="4304257" y="3346705"/>
                </a:lnTo>
                <a:lnTo>
                  <a:pt x="3238029" y="3346705"/>
                </a:lnTo>
                <a:lnTo>
                  <a:pt x="0" y="3346705"/>
                </a:lnTo>
                <a:close/>
              </a:path>
            </a:pathLst>
          </a:custGeom>
          <a:noFill/>
          <a:extLst>
            <a:ext uri="{909E8E84-426E-40DD-AFC4-6F175D3DCCD1}">
              <a14:hiddenFill xmlns:a14="http://schemas.microsoft.com/office/drawing/2010/main">
                <a:solidFill>
                  <a:srgbClr val="FFFFFF"/>
                </a:solidFill>
              </a14:hiddenFill>
            </a:ext>
          </a:extLst>
        </p:spPr>
      </p:pic>
      <p:pic>
        <p:nvPicPr>
          <p:cNvPr id="6" name="Picture 6" descr="No alternative text description for this image">
            <a:extLst>
              <a:ext uri="{FF2B5EF4-FFF2-40B4-BE49-F238E27FC236}">
                <a16:creationId xmlns:a16="http://schemas.microsoft.com/office/drawing/2014/main" id="{9FF88E2F-F27E-00B0-02B1-F21F37F1ECB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t="2855" r="4" b="15015"/>
          <a:stretch>
            <a:fillRect/>
          </a:stretch>
        </p:blipFill>
        <p:spPr bwMode="auto">
          <a:xfrm>
            <a:off x="4762566" y="2633471"/>
            <a:ext cx="4381434" cy="2510029"/>
          </a:xfrm>
          <a:custGeom>
            <a:avLst/>
            <a:gdLst/>
            <a:ahLst/>
            <a:cxnLst/>
            <a:rect l="l" t="t" r="r" b="b"/>
            <a:pathLst>
              <a:path w="5841911" h="3346705">
                <a:moveTo>
                  <a:pt x="1549963" y="0"/>
                </a:moveTo>
                <a:lnTo>
                  <a:pt x="1555540" y="0"/>
                </a:lnTo>
                <a:lnTo>
                  <a:pt x="2621768" y="0"/>
                </a:lnTo>
                <a:lnTo>
                  <a:pt x="5841911" y="0"/>
                </a:lnTo>
                <a:lnTo>
                  <a:pt x="5841911" y="3346705"/>
                </a:lnTo>
                <a:lnTo>
                  <a:pt x="0" y="3346705"/>
                </a:lnTo>
                <a:close/>
              </a:path>
            </a:pathLst>
          </a:custGeom>
          <a:noFill/>
          <a:extLst>
            <a:ext uri="{909E8E84-426E-40DD-AFC4-6F175D3DCCD1}">
              <a14:hiddenFill xmlns:a14="http://schemas.microsoft.com/office/drawing/2010/main">
                <a:solidFill>
                  <a:srgbClr val="FFFFFF"/>
                </a:solidFill>
              </a14:hiddenFill>
            </a:ext>
          </a:extLst>
        </p:spPr>
      </p:pic>
      <p:pic>
        <p:nvPicPr>
          <p:cNvPr id="4100" name="Picture 4" descr="No alternative text description for this image">
            <a:extLst>
              <a:ext uri="{FF2B5EF4-FFF2-40B4-BE49-F238E27FC236}">
                <a16:creationId xmlns:a16="http://schemas.microsoft.com/office/drawing/2014/main" id="{6E922008-AE28-CBC6-9C55-971AC3F42315}"/>
              </a:ext>
            </a:extLst>
          </p:cNvPr>
          <p:cNvPicPr>
            <a:picLocks noChangeAspect="1" noChangeArrowheads="1"/>
          </p:cNvPicPr>
          <p:nvPr/>
        </p:nvPicPr>
        <p:blipFill>
          <a:blip r:embed="rId6">
            <a:extLst>
              <a:ext uri="{28A0092B-C50C-407E-A947-70E740481C1C}">
                <a14:useLocalDpi xmlns:a14="http://schemas.microsoft.com/office/drawing/2010/main" val="0"/>
              </a:ext>
            </a:extLst>
          </a:blip>
          <a:srcRect t="32698" r="2" b="165"/>
          <a:stretch>
            <a:fillRect/>
          </a:stretch>
        </p:blipFill>
        <p:spPr bwMode="auto">
          <a:xfrm>
            <a:off x="20" y="2633471"/>
            <a:ext cx="5773903" cy="2510029"/>
          </a:xfrm>
          <a:custGeom>
            <a:avLst/>
            <a:gdLst/>
            <a:ahLst/>
            <a:cxnLst/>
            <a:rect l="l" t="t" r="r" b="b"/>
            <a:pathLst>
              <a:path w="7698564" h="3346705">
                <a:moveTo>
                  <a:pt x="0" y="0"/>
                </a:moveTo>
                <a:lnTo>
                  <a:pt x="7698564" y="0"/>
                </a:lnTo>
                <a:lnTo>
                  <a:pt x="6148601" y="3346705"/>
                </a:lnTo>
                <a:lnTo>
                  <a:pt x="6143024" y="3346705"/>
                </a:lnTo>
                <a:lnTo>
                  <a:pt x="5076796" y="3346705"/>
                </a:lnTo>
                <a:lnTo>
                  <a:pt x="1246924" y="3346705"/>
                </a:lnTo>
                <a:lnTo>
                  <a:pt x="1246924" y="3346226"/>
                </a:lnTo>
                <a:lnTo>
                  <a:pt x="0" y="3346226"/>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531954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FFBF927-49CD-3952-6802-4C8814CB9AAA}"/>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C96C8BAF-68F3-4B78-B238-35DF5D8656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 name="Group 11">
            <a:extLst>
              <a:ext uri="{FF2B5EF4-FFF2-40B4-BE49-F238E27FC236}">
                <a16:creationId xmlns:a16="http://schemas.microsoft.com/office/drawing/2014/main" id="{4F4CD6D0-5A87-4BA2-A13A-0E40511C3CF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01080" y="524673"/>
            <a:ext cx="2664849" cy="3867150"/>
            <a:chOff x="7807230" y="2012810"/>
            <a:chExt cx="3251252" cy="3459865"/>
          </a:xfrm>
        </p:grpSpPr>
        <p:sp>
          <p:nvSpPr>
            <p:cNvPr id="16" name="Rectangle 15">
              <a:extLst>
                <a:ext uri="{FF2B5EF4-FFF2-40B4-BE49-F238E27FC236}">
                  <a16:creationId xmlns:a16="http://schemas.microsoft.com/office/drawing/2014/main" id="{5877EAC0-2063-444D-8EE9-72FED2E03B2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807230" y="2012810"/>
              <a:ext cx="3251252" cy="3459865"/>
            </a:xfrm>
            <a:prstGeom prst="rect">
              <a:avLst/>
            </a:prstGeom>
            <a:gradFill>
              <a:gsLst>
                <a:gs pos="0">
                  <a:srgbClr val="000001"/>
                </a:gs>
                <a:gs pos="100000">
                  <a:srgbClr val="191919"/>
                </a:gs>
              </a:gsLst>
            </a:gradFill>
            <a:ln w="76200" cmpd="sng">
              <a:noFill/>
              <a:miter lim="800000"/>
            </a:ln>
            <a:effectLst>
              <a:outerShdw blurRad="127000" dist="1905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2C155BF8-661A-4F4A-B4EC-923105C6922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807231" y="2026142"/>
              <a:ext cx="3251250" cy="3440203"/>
            </a:xfrm>
            <a:prstGeom prst="rect">
              <a:avLst/>
            </a:prstGeom>
            <a:gradFill>
              <a:gsLst>
                <a:gs pos="0">
                  <a:srgbClr val="DADADA"/>
                </a:gs>
                <a:gs pos="100000">
                  <a:srgbClr val="FFFFFE"/>
                </a:gs>
              </a:gsLst>
              <a:lin ang="16200000" scaled="0"/>
            </a:gradFill>
            <a:ln w="762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w="38100" h="38100" prst="relaxedInset"/>
            </a:sp3d>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pic>
        <p:nvPicPr>
          <p:cNvPr id="8" name="Picture 7">
            <a:extLst>
              <a:ext uri="{FF2B5EF4-FFF2-40B4-BE49-F238E27FC236}">
                <a16:creationId xmlns:a16="http://schemas.microsoft.com/office/drawing/2014/main" id="{372625BC-2096-AA08-B127-B103D8B59446}"/>
              </a:ext>
            </a:extLst>
          </p:cNvPr>
          <p:cNvPicPr>
            <a:picLocks noChangeAspect="1"/>
          </p:cNvPicPr>
          <p:nvPr/>
        </p:nvPicPr>
        <p:blipFill>
          <a:blip r:embed="rId3"/>
          <a:stretch>
            <a:fillRect/>
          </a:stretch>
        </p:blipFill>
        <p:spPr>
          <a:xfrm>
            <a:off x="529926" y="694762"/>
            <a:ext cx="2407158" cy="3526971"/>
          </a:xfrm>
          <a:prstGeom prst="rect">
            <a:avLst/>
          </a:prstGeom>
        </p:spPr>
      </p:pic>
      <p:grpSp>
        <p:nvGrpSpPr>
          <p:cNvPr id="19" name="Group 18">
            <a:extLst>
              <a:ext uri="{FF2B5EF4-FFF2-40B4-BE49-F238E27FC236}">
                <a16:creationId xmlns:a16="http://schemas.microsoft.com/office/drawing/2014/main" id="{E9537076-EF48-4F72-9164-FD8260D550A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239575" y="524673"/>
            <a:ext cx="2664849" cy="3867150"/>
            <a:chOff x="7807230" y="2012810"/>
            <a:chExt cx="3251252" cy="3459865"/>
          </a:xfrm>
        </p:grpSpPr>
        <p:sp>
          <p:nvSpPr>
            <p:cNvPr id="20" name="Rectangle 19">
              <a:extLst>
                <a:ext uri="{FF2B5EF4-FFF2-40B4-BE49-F238E27FC236}">
                  <a16:creationId xmlns:a16="http://schemas.microsoft.com/office/drawing/2014/main" id="{689673CB-C48B-4D05-B6E4-B88CD5BAA00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807230" y="2012810"/>
              <a:ext cx="3251252" cy="3459865"/>
            </a:xfrm>
            <a:prstGeom prst="rect">
              <a:avLst/>
            </a:prstGeom>
            <a:gradFill>
              <a:gsLst>
                <a:gs pos="0">
                  <a:srgbClr val="000001"/>
                </a:gs>
                <a:gs pos="100000">
                  <a:srgbClr val="191919"/>
                </a:gs>
              </a:gsLst>
            </a:gradFill>
            <a:ln w="76200" cmpd="sng">
              <a:noFill/>
              <a:miter lim="800000"/>
            </a:ln>
            <a:effectLst>
              <a:outerShdw blurRad="127000" dist="1905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96C31A20-B341-476E-8C04-A26C87E149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807231" y="2026142"/>
              <a:ext cx="3251250" cy="3440203"/>
            </a:xfrm>
            <a:prstGeom prst="rect">
              <a:avLst/>
            </a:prstGeom>
            <a:gradFill>
              <a:gsLst>
                <a:gs pos="0">
                  <a:srgbClr val="DADADA"/>
                </a:gs>
                <a:gs pos="100000">
                  <a:srgbClr val="FFFFFE"/>
                </a:gs>
              </a:gsLst>
              <a:lin ang="16200000" scaled="0"/>
            </a:gradFill>
            <a:ln w="762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w="38100" h="38100" prst="relaxedInset"/>
            </a:sp3d>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pic>
        <p:nvPicPr>
          <p:cNvPr id="6" name="Picture 5">
            <a:extLst>
              <a:ext uri="{FF2B5EF4-FFF2-40B4-BE49-F238E27FC236}">
                <a16:creationId xmlns:a16="http://schemas.microsoft.com/office/drawing/2014/main" id="{0AE78B30-9FE0-8C64-68CC-E813D27DE9CC}"/>
              </a:ext>
            </a:extLst>
          </p:cNvPr>
          <p:cNvPicPr>
            <a:picLocks noChangeAspect="1"/>
          </p:cNvPicPr>
          <p:nvPr/>
        </p:nvPicPr>
        <p:blipFill>
          <a:blip r:embed="rId4"/>
          <a:stretch>
            <a:fillRect/>
          </a:stretch>
        </p:blipFill>
        <p:spPr>
          <a:xfrm>
            <a:off x="3365499" y="707588"/>
            <a:ext cx="2407158" cy="3501320"/>
          </a:xfrm>
          <a:prstGeom prst="rect">
            <a:avLst/>
          </a:prstGeom>
        </p:spPr>
      </p:pic>
      <p:grpSp>
        <p:nvGrpSpPr>
          <p:cNvPr id="23" name="Group 22">
            <a:extLst>
              <a:ext uri="{FF2B5EF4-FFF2-40B4-BE49-F238E27FC236}">
                <a16:creationId xmlns:a16="http://schemas.microsoft.com/office/drawing/2014/main" id="{6EFC3492-86BD-4D75-B5B4-C2DBFE0BD10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078069" y="524673"/>
            <a:ext cx="2664849" cy="3867150"/>
            <a:chOff x="7807230" y="2012810"/>
            <a:chExt cx="3251252" cy="3459865"/>
          </a:xfrm>
        </p:grpSpPr>
        <p:sp>
          <p:nvSpPr>
            <p:cNvPr id="24" name="Rectangle 23">
              <a:extLst>
                <a:ext uri="{FF2B5EF4-FFF2-40B4-BE49-F238E27FC236}">
                  <a16:creationId xmlns:a16="http://schemas.microsoft.com/office/drawing/2014/main" id="{F72E5074-2516-4705-BFF1-F508394A0AC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807230" y="2012810"/>
              <a:ext cx="3251252" cy="3459865"/>
            </a:xfrm>
            <a:prstGeom prst="rect">
              <a:avLst/>
            </a:prstGeom>
            <a:gradFill>
              <a:gsLst>
                <a:gs pos="0">
                  <a:srgbClr val="000001"/>
                </a:gs>
                <a:gs pos="100000">
                  <a:srgbClr val="191919"/>
                </a:gs>
              </a:gsLst>
            </a:gradFill>
            <a:ln w="76200" cmpd="sng">
              <a:noFill/>
              <a:miter lim="800000"/>
            </a:ln>
            <a:effectLst>
              <a:outerShdw blurRad="127000" dist="1905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02259E4C-F24C-4180-AEC3-76255D535E2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807231" y="2026142"/>
              <a:ext cx="3251250" cy="3440203"/>
            </a:xfrm>
            <a:prstGeom prst="rect">
              <a:avLst/>
            </a:prstGeom>
            <a:gradFill>
              <a:gsLst>
                <a:gs pos="0">
                  <a:srgbClr val="DADADA"/>
                </a:gs>
                <a:gs pos="100000">
                  <a:srgbClr val="FFFFFE"/>
                </a:gs>
              </a:gsLst>
              <a:lin ang="16200000" scaled="0"/>
            </a:gradFill>
            <a:ln w="762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w="38100" h="38100" prst="relaxedInset"/>
            </a:sp3d>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pic>
        <p:nvPicPr>
          <p:cNvPr id="4" name="Picture 3">
            <a:extLst>
              <a:ext uri="{FF2B5EF4-FFF2-40B4-BE49-F238E27FC236}">
                <a16:creationId xmlns:a16="http://schemas.microsoft.com/office/drawing/2014/main" id="{02039638-02D1-301A-C662-038DB7538378}"/>
              </a:ext>
            </a:extLst>
          </p:cNvPr>
          <p:cNvPicPr>
            <a:picLocks noChangeAspect="1"/>
          </p:cNvPicPr>
          <p:nvPr/>
        </p:nvPicPr>
        <p:blipFill>
          <a:blip r:embed="rId5"/>
          <a:stretch>
            <a:fillRect/>
          </a:stretch>
        </p:blipFill>
        <p:spPr>
          <a:xfrm>
            <a:off x="6206915" y="1341929"/>
            <a:ext cx="2407158" cy="2232638"/>
          </a:xfrm>
          <a:prstGeom prst="rect">
            <a:avLst/>
          </a:prstGeom>
        </p:spPr>
      </p:pic>
      <p:sp>
        <p:nvSpPr>
          <p:cNvPr id="18" name="TextBox 17">
            <a:extLst>
              <a:ext uri="{FF2B5EF4-FFF2-40B4-BE49-F238E27FC236}">
                <a16:creationId xmlns:a16="http://schemas.microsoft.com/office/drawing/2014/main" id="{27AD7FBE-9C52-5530-0DAE-9404F23AAD1A}"/>
              </a:ext>
            </a:extLst>
          </p:cNvPr>
          <p:cNvSpPr txBox="1"/>
          <p:nvPr/>
        </p:nvSpPr>
        <p:spPr>
          <a:xfrm>
            <a:off x="401080" y="4489136"/>
            <a:ext cx="2550639" cy="615553"/>
          </a:xfrm>
          <a:prstGeom prst="rect">
            <a:avLst/>
          </a:prstGeom>
          <a:noFill/>
        </p:spPr>
        <p:txBody>
          <a:bodyPr wrap="square">
            <a:spAutoFit/>
          </a:bodyPr>
          <a:lstStyle/>
          <a:p>
            <a:pPr algn="l">
              <a:buNone/>
            </a:pPr>
            <a:r>
              <a:rPr lang="en-US" sz="1100" b="1" dirty="0">
                <a:solidFill>
                  <a:srgbClr val="0A1628"/>
                </a:solidFill>
                <a:latin typeface="Calibri"/>
              </a:rPr>
              <a:t>DFT Transport AI Action Plan – Nov 2025</a:t>
            </a:r>
          </a:p>
          <a:p>
            <a:pPr algn="l">
              <a:buNone/>
            </a:pPr>
            <a:r>
              <a:rPr lang="en-US" sz="800" dirty="0">
                <a:solidFill>
                  <a:srgbClr val="6B7280"/>
                </a:solidFill>
                <a:latin typeface="Calibri"/>
              </a:rPr>
              <a:t>Department for Transport</a:t>
            </a:r>
          </a:p>
          <a:p>
            <a:pPr algn="l">
              <a:buNone/>
            </a:pPr>
            <a:endParaRPr lang="en-US" sz="600" dirty="0"/>
          </a:p>
          <a:p>
            <a:pPr algn="l">
              <a:buNone/>
            </a:pPr>
            <a:r>
              <a:rPr lang="en-US" sz="900" u="sng" dirty="0">
                <a:solidFill>
                  <a:srgbClr val="FFB84D"/>
                </a:solidFill>
                <a:latin typeface="Calibri"/>
                <a:hlinkClick r:id="rId6"/>
              </a:rPr>
              <a:t>Read the plan →</a:t>
            </a:r>
          </a:p>
        </p:txBody>
      </p:sp>
      <p:sp>
        <p:nvSpPr>
          <p:cNvPr id="22" name="TextBox 21">
            <a:extLst>
              <a:ext uri="{FF2B5EF4-FFF2-40B4-BE49-F238E27FC236}">
                <a16:creationId xmlns:a16="http://schemas.microsoft.com/office/drawing/2014/main" id="{F390D2C2-1195-7085-6F74-9855FECD3B13}"/>
              </a:ext>
            </a:extLst>
          </p:cNvPr>
          <p:cNvSpPr txBox="1"/>
          <p:nvPr/>
        </p:nvSpPr>
        <p:spPr>
          <a:xfrm>
            <a:off x="3296681" y="4489136"/>
            <a:ext cx="2489200" cy="615553"/>
          </a:xfrm>
          <a:prstGeom prst="rect">
            <a:avLst/>
          </a:prstGeom>
          <a:noFill/>
        </p:spPr>
        <p:txBody>
          <a:bodyPr wrap="square">
            <a:spAutoFit/>
          </a:bodyPr>
          <a:lstStyle/>
          <a:p>
            <a:pPr algn="l">
              <a:buNone/>
            </a:pPr>
            <a:r>
              <a:rPr lang="en-GB" sz="1100" b="1" dirty="0">
                <a:solidFill>
                  <a:srgbClr val="0A1628"/>
                </a:solidFill>
                <a:latin typeface="Calibri"/>
              </a:rPr>
              <a:t>Transport Data Action Plan – Mar 2026</a:t>
            </a:r>
          </a:p>
          <a:p>
            <a:pPr algn="l">
              <a:buNone/>
            </a:pPr>
            <a:r>
              <a:rPr lang="en-GB" sz="800" dirty="0">
                <a:solidFill>
                  <a:srgbClr val="6B7280"/>
                </a:solidFill>
                <a:latin typeface="Calibri"/>
              </a:rPr>
              <a:t>Department for Transport</a:t>
            </a:r>
          </a:p>
          <a:p>
            <a:pPr algn="l">
              <a:buNone/>
            </a:pPr>
            <a:endParaRPr lang="en-GB" sz="600" dirty="0"/>
          </a:p>
          <a:p>
            <a:pPr algn="l">
              <a:buNone/>
            </a:pPr>
            <a:r>
              <a:rPr lang="en-GB" sz="900" u="sng" dirty="0">
                <a:solidFill>
                  <a:srgbClr val="FFB84D"/>
                </a:solidFill>
                <a:latin typeface="Calibri"/>
                <a:hlinkClick r:id="rId7"/>
              </a:rPr>
              <a:t>Read the plan →</a:t>
            </a:r>
          </a:p>
        </p:txBody>
      </p:sp>
      <p:sp>
        <p:nvSpPr>
          <p:cNvPr id="26" name="TextBox 25">
            <a:extLst>
              <a:ext uri="{FF2B5EF4-FFF2-40B4-BE49-F238E27FC236}">
                <a16:creationId xmlns:a16="http://schemas.microsoft.com/office/drawing/2014/main" id="{5EB2FE28-55E2-5D38-357C-6C61298167B6}"/>
              </a:ext>
            </a:extLst>
          </p:cNvPr>
          <p:cNvSpPr txBox="1"/>
          <p:nvPr/>
        </p:nvSpPr>
        <p:spPr>
          <a:xfrm>
            <a:off x="6078070" y="4489136"/>
            <a:ext cx="3124860" cy="615553"/>
          </a:xfrm>
          <a:prstGeom prst="rect">
            <a:avLst/>
          </a:prstGeom>
          <a:noFill/>
        </p:spPr>
        <p:txBody>
          <a:bodyPr wrap="square">
            <a:spAutoFit/>
          </a:bodyPr>
          <a:lstStyle/>
          <a:p>
            <a:pPr algn="l">
              <a:buNone/>
            </a:pPr>
            <a:r>
              <a:rPr lang="en-GB" sz="1100" b="1" dirty="0">
                <a:solidFill>
                  <a:srgbClr val="0A1628"/>
                </a:solidFill>
                <a:latin typeface="Calibri"/>
              </a:rPr>
              <a:t>GB Sovereign AI — £500m investment – Apr 2026</a:t>
            </a:r>
          </a:p>
          <a:p>
            <a:pPr algn="l">
              <a:buNone/>
            </a:pPr>
            <a:r>
              <a:rPr lang="en-GB" sz="800" dirty="0">
                <a:solidFill>
                  <a:srgbClr val="6B7280"/>
                </a:solidFill>
                <a:latin typeface="Calibri"/>
              </a:rPr>
              <a:t>UK Government  ·  April 2026</a:t>
            </a:r>
          </a:p>
          <a:p>
            <a:pPr algn="l">
              <a:buNone/>
            </a:pPr>
            <a:endParaRPr lang="en-GB" sz="600" dirty="0"/>
          </a:p>
          <a:p>
            <a:pPr algn="l">
              <a:buNone/>
            </a:pPr>
            <a:r>
              <a:rPr lang="en-GB" sz="900" u="sng" dirty="0">
                <a:solidFill>
                  <a:srgbClr val="FFB84D"/>
                </a:solidFill>
                <a:latin typeface="Calibri"/>
                <a:hlinkClick r:id="rId8"/>
              </a:rPr>
              <a:t>Read the announcement →</a:t>
            </a:r>
          </a:p>
        </p:txBody>
      </p:sp>
    </p:spTree>
    <p:extLst>
      <p:ext uri="{BB962C8B-B14F-4D97-AF65-F5344CB8AC3E}">
        <p14:creationId xmlns:p14="http://schemas.microsoft.com/office/powerpoint/2010/main" val="364173553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11BE3FA7-0D70-4431-814F-D8C40576EA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143" y="0"/>
            <a:ext cx="9141714"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7" name="Picture 6">
            <a:extLst>
              <a:ext uri="{FF2B5EF4-FFF2-40B4-BE49-F238E27FC236}">
                <a16:creationId xmlns:a16="http://schemas.microsoft.com/office/drawing/2014/main" id="{D91F55C3-7D33-B16D-6A37-BBEB82A898D3}"/>
              </a:ext>
            </a:extLst>
          </p:cNvPr>
          <p:cNvPicPr>
            <a:picLocks noChangeAspect="1"/>
          </p:cNvPicPr>
          <p:nvPr/>
        </p:nvPicPr>
        <p:blipFill>
          <a:blip r:embed="rId3"/>
          <a:srcRect l="4759" r="1" b="1"/>
          <a:stretch>
            <a:fillRect/>
          </a:stretch>
        </p:blipFill>
        <p:spPr>
          <a:xfrm>
            <a:off x="241298" y="417891"/>
            <a:ext cx="4251513" cy="4307714"/>
          </a:xfrm>
          <a:prstGeom prst="rect">
            <a:avLst/>
          </a:prstGeom>
        </p:spPr>
      </p:pic>
      <p:pic>
        <p:nvPicPr>
          <p:cNvPr id="9" name="Picture 8">
            <a:extLst>
              <a:ext uri="{FF2B5EF4-FFF2-40B4-BE49-F238E27FC236}">
                <a16:creationId xmlns:a16="http://schemas.microsoft.com/office/drawing/2014/main" id="{7A820F12-F9BA-C97E-F49F-1CC02C124B8A}"/>
              </a:ext>
            </a:extLst>
          </p:cNvPr>
          <p:cNvPicPr>
            <a:picLocks noChangeAspect="1"/>
          </p:cNvPicPr>
          <p:nvPr/>
        </p:nvPicPr>
        <p:blipFill>
          <a:blip r:embed="rId4"/>
          <a:srcRect l="4440" r="3180"/>
          <a:stretch>
            <a:fillRect/>
          </a:stretch>
        </p:blipFill>
        <p:spPr>
          <a:xfrm>
            <a:off x="4646531" y="417891"/>
            <a:ext cx="4256170" cy="4307714"/>
          </a:xfrm>
          <a:prstGeom prst="rect">
            <a:avLst/>
          </a:prstGeom>
        </p:spPr>
      </p:pic>
      <p:sp>
        <p:nvSpPr>
          <p:cNvPr id="2" name="TextBox 1">
            <a:extLst>
              <a:ext uri="{FF2B5EF4-FFF2-40B4-BE49-F238E27FC236}">
                <a16:creationId xmlns:a16="http://schemas.microsoft.com/office/drawing/2014/main" id="{5404E6E3-1AC1-1218-E1E3-F73423DECB4C}"/>
              </a:ext>
            </a:extLst>
          </p:cNvPr>
          <p:cNvSpPr txBox="1"/>
          <p:nvPr/>
        </p:nvSpPr>
        <p:spPr>
          <a:xfrm>
            <a:off x="6720238" y="4882242"/>
            <a:ext cx="2182464" cy="261610"/>
          </a:xfrm>
          <a:prstGeom prst="rect">
            <a:avLst/>
          </a:prstGeom>
          <a:noFill/>
        </p:spPr>
        <p:txBody>
          <a:bodyPr wrap="square">
            <a:spAutoFit/>
          </a:bodyPr>
          <a:lstStyle/>
          <a:p>
            <a:pPr algn="l">
              <a:buNone/>
            </a:pPr>
            <a:r>
              <a:rPr lang="en-US" sz="1100" b="1" dirty="0">
                <a:solidFill>
                  <a:srgbClr val="0A1628"/>
                </a:solidFill>
                <a:latin typeface="Calibri"/>
              </a:rPr>
              <a:t>Credit: C-Tech Club</a:t>
            </a:r>
            <a:endParaRPr lang="en-US" sz="900" u="sng" dirty="0">
              <a:solidFill>
                <a:srgbClr val="FFB84D"/>
              </a:solidFill>
              <a:latin typeface="Calibri"/>
              <a:hlinkClick r:id="rId5"/>
            </a:endParaRPr>
          </a:p>
        </p:txBody>
      </p:sp>
    </p:spTree>
    <p:extLst>
      <p:ext uri="{BB962C8B-B14F-4D97-AF65-F5344CB8AC3E}">
        <p14:creationId xmlns:p14="http://schemas.microsoft.com/office/powerpoint/2010/main" val="404794923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319" name="Rectangle 13318">
            <a:extLst>
              <a:ext uri="{FF2B5EF4-FFF2-40B4-BE49-F238E27FC236}">
                <a16:creationId xmlns:a16="http://schemas.microsoft.com/office/drawing/2014/main" id="{F3060C83-F051-4F0E-ABAD-AA0DFC48B2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321" name="Freeform: Shape 13320">
            <a:extLst>
              <a:ext uri="{FF2B5EF4-FFF2-40B4-BE49-F238E27FC236}">
                <a16:creationId xmlns:a16="http://schemas.microsoft.com/office/drawing/2014/main" id="{83C98ABE-055B-441F-B07E-44F97F083C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282117" y="-190252"/>
            <a:ext cx="1370728" cy="1032741"/>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323" name="Rectangle 13322">
            <a:extLst>
              <a:ext uri="{FF2B5EF4-FFF2-40B4-BE49-F238E27FC236}">
                <a16:creationId xmlns:a16="http://schemas.microsoft.com/office/drawing/2014/main" id="{29FDB030-9B49-4CED-8CCD-4D99382388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668730" y="316609"/>
            <a:ext cx="484026" cy="484026"/>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325" name="Rectangle 13324">
            <a:extLst>
              <a:ext uri="{FF2B5EF4-FFF2-40B4-BE49-F238E27FC236}">
                <a16:creationId xmlns:a16="http://schemas.microsoft.com/office/drawing/2014/main" id="{3783CA14-24A1-485C-8B30-D6A5D87987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7532611" y="491355"/>
            <a:ext cx="515604" cy="515604"/>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327" name="Freeform: Shape 13326">
            <a:extLst>
              <a:ext uri="{FF2B5EF4-FFF2-40B4-BE49-F238E27FC236}">
                <a16:creationId xmlns:a16="http://schemas.microsoft.com/office/drawing/2014/main" id="{9A97C86A-04D6-40F7-AE84-31AB43E6A8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7017482" y="0"/>
            <a:ext cx="2126518" cy="111062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3329" name="Isosceles Triangle 13328">
            <a:extLst>
              <a:ext uri="{FF2B5EF4-FFF2-40B4-BE49-F238E27FC236}">
                <a16:creationId xmlns:a16="http://schemas.microsoft.com/office/drawing/2014/main" id="{FF9F2414-84E8-453E-B1F3-389FDE8192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982258" y="4586625"/>
            <a:ext cx="1120884" cy="556875"/>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314" name="Picture 2" descr="No alternative text description for this image">
            <a:extLst>
              <a:ext uri="{FF2B5EF4-FFF2-40B4-BE49-F238E27FC236}">
                <a16:creationId xmlns:a16="http://schemas.microsoft.com/office/drawing/2014/main" id="{0B6DC807-0F60-9C8F-059E-020ABB94FAED}"/>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1629648" y="0"/>
            <a:ext cx="3850158" cy="5133544"/>
          </a:xfrm>
          <a:prstGeom prst="rect">
            <a:avLst/>
          </a:prstGeom>
          <a:noFill/>
          <a:ln>
            <a:noFill/>
          </a:ln>
          <a:extLst>
            <a:ext uri="{909E8E84-426E-40DD-AFC4-6F175D3DCCD1}">
              <a14:hiddenFill xmlns:a14="http://schemas.microsoft.com/office/drawing/2010/main">
                <a:solidFill>
                  <a:srgbClr val="FFFFFF"/>
                </a:solidFill>
              </a14:hiddenFill>
            </a:ext>
          </a:extLst>
        </p:spPr>
      </p:pic>
      <p:sp>
        <p:nvSpPr>
          <p:cNvPr id="13331" name="Isosceles Triangle 13330">
            <a:extLst>
              <a:ext uri="{FF2B5EF4-FFF2-40B4-BE49-F238E27FC236}">
                <a16:creationId xmlns:a16="http://schemas.microsoft.com/office/drawing/2014/main" id="{3ECA69A1-7536-43AC-85EF-C7106179F5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703060" y="4839857"/>
            <a:ext cx="611177" cy="303643"/>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08498488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0">
    <p:bg>
      <p:bgPr>
        <a:solidFill>
          <a:srgbClr val="0A0A0A"/>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F6535"/>
          </a:solidFill>
          <a:ln/>
        </p:spPr>
        <p:txBody>
          <a:bodyPr/>
          <a:lstStyle/>
          <a:p>
            <a:endParaRPr lang="en-GB"/>
          </a:p>
        </p:txBody>
      </p:sp>
      <p:sp>
        <p:nvSpPr>
          <p:cNvPr id="3" name="Shape 1"/>
          <p:cNvSpPr/>
          <p:nvPr/>
        </p:nvSpPr>
        <p:spPr>
          <a:xfrm>
            <a:off x="731520" y="731520"/>
            <a:ext cx="2011680" cy="2377440"/>
          </a:xfrm>
          <a:prstGeom prst="rect">
            <a:avLst/>
          </a:prstGeom>
          <a:solidFill>
            <a:srgbClr val="1A1A1A"/>
          </a:solidFill>
          <a:ln w="12700">
            <a:solidFill>
              <a:srgbClr val="333333"/>
            </a:solidFill>
            <a:prstDash val="solid"/>
          </a:ln>
        </p:spPr>
        <p:txBody>
          <a:bodyPr/>
          <a:lstStyle/>
          <a:p>
            <a:endParaRPr lang="en-GB"/>
          </a:p>
        </p:txBody>
      </p:sp>
      <p:sp>
        <p:nvSpPr>
          <p:cNvPr id="4" name="Text 2"/>
          <p:cNvSpPr/>
          <p:nvPr/>
        </p:nvSpPr>
        <p:spPr>
          <a:xfrm>
            <a:off x="731520" y="1554480"/>
            <a:ext cx="2011680" cy="731520"/>
          </a:xfrm>
          <a:prstGeom prst="rect">
            <a:avLst/>
          </a:prstGeom>
          <a:noFill/>
          <a:ln/>
        </p:spPr>
        <p:txBody>
          <a:bodyPr wrap="square" lIns="0" tIns="0" rIns="0" bIns="0" rtlCol="0" anchor="ctr"/>
          <a:lstStyle/>
          <a:p>
            <a:pPr marL="0" indent="0" algn="ctr">
              <a:buNone/>
            </a:pPr>
            <a:r>
              <a:rPr lang="en-US" sz="1400" dirty="0">
                <a:solidFill>
                  <a:srgbClr val="666666"/>
                </a:solidFill>
                <a:latin typeface="Calibri" pitchFamily="34" charset="0"/>
                <a:ea typeface="Calibri" pitchFamily="34" charset="-122"/>
                <a:cs typeface="Calibri" pitchFamily="34" charset="-120"/>
              </a:rPr>
              <a:t>[Your</a:t>
            </a:r>
            <a:endParaRPr lang="en-US" sz="1400" dirty="0"/>
          </a:p>
          <a:p>
            <a:pPr marL="0" indent="0" algn="ctr">
              <a:buNone/>
            </a:pPr>
            <a:r>
              <a:rPr lang="en-US" sz="1400" dirty="0">
                <a:solidFill>
                  <a:srgbClr val="666666"/>
                </a:solidFill>
                <a:latin typeface="Calibri" pitchFamily="34" charset="0"/>
                <a:ea typeface="Calibri" pitchFamily="34" charset="-122"/>
                <a:cs typeface="Calibri" pitchFamily="34" charset="-120"/>
              </a:rPr>
              <a:t>Photo]</a:t>
            </a:r>
            <a:endParaRPr lang="en-US" sz="1400" dirty="0"/>
          </a:p>
        </p:txBody>
      </p:sp>
      <p:sp>
        <p:nvSpPr>
          <p:cNvPr id="5" name="Text 3"/>
          <p:cNvSpPr/>
          <p:nvPr/>
        </p:nvSpPr>
        <p:spPr>
          <a:xfrm>
            <a:off x="3200400" y="731520"/>
            <a:ext cx="5486400" cy="640080"/>
          </a:xfrm>
          <a:prstGeom prst="rect">
            <a:avLst/>
          </a:prstGeom>
          <a:noFill/>
          <a:ln/>
        </p:spPr>
        <p:txBody>
          <a:bodyPr wrap="square" lIns="0" tIns="0" rIns="0" bIns="0" rtlCol="0" anchor="ctr"/>
          <a:lstStyle/>
          <a:p>
            <a:pPr marL="0" indent="0" algn="l">
              <a:buNone/>
            </a:pPr>
            <a:r>
              <a:rPr lang="en-US" sz="3600" b="1" dirty="0">
                <a:solidFill>
                  <a:srgbClr val="FFFFFF"/>
                </a:solidFill>
                <a:latin typeface="Trebuchet MS" pitchFamily="34" charset="0"/>
                <a:ea typeface="Trebuchet MS" pitchFamily="34" charset="-122"/>
                <a:cs typeface="Trebuchet MS" pitchFamily="34" charset="-120"/>
              </a:rPr>
              <a:t>BILL GUO</a:t>
            </a:r>
            <a:endParaRPr lang="en-US" sz="3600" dirty="0"/>
          </a:p>
        </p:txBody>
      </p:sp>
      <p:sp>
        <p:nvSpPr>
          <p:cNvPr id="6" name="Text 4"/>
          <p:cNvSpPr/>
          <p:nvPr/>
        </p:nvSpPr>
        <p:spPr>
          <a:xfrm>
            <a:off x="3200400" y="1280160"/>
            <a:ext cx="5486400" cy="365760"/>
          </a:xfrm>
          <a:prstGeom prst="rect">
            <a:avLst/>
          </a:prstGeom>
          <a:noFill/>
          <a:ln/>
        </p:spPr>
        <p:txBody>
          <a:bodyPr wrap="square" lIns="0" tIns="0" rIns="0" bIns="0" rtlCol="0" anchor="ctr"/>
          <a:lstStyle/>
          <a:p>
            <a:pPr marL="0" indent="0" algn="l">
              <a:buNone/>
            </a:pPr>
            <a:r>
              <a:rPr lang="en-US" sz="1800" dirty="0">
                <a:solidFill>
                  <a:srgbClr val="FF6535"/>
                </a:solidFill>
                <a:latin typeface="Calibri" pitchFamily="34" charset="0"/>
                <a:ea typeface="Calibri" pitchFamily="34" charset="-122"/>
                <a:cs typeface="Calibri" pitchFamily="34" charset="-120"/>
              </a:rPr>
              <a:t>FICE CEng MEng</a:t>
            </a:r>
            <a:endParaRPr lang="en-US" sz="1800" dirty="0"/>
          </a:p>
        </p:txBody>
      </p:sp>
      <p:sp>
        <p:nvSpPr>
          <p:cNvPr id="7" name="Text 5"/>
          <p:cNvSpPr/>
          <p:nvPr/>
        </p:nvSpPr>
        <p:spPr>
          <a:xfrm>
            <a:off x="3200400" y="1828800"/>
            <a:ext cx="5486400" cy="365760"/>
          </a:xfrm>
          <a:prstGeom prst="rect">
            <a:avLst/>
          </a:prstGeom>
          <a:noFill/>
          <a:ln/>
        </p:spPr>
        <p:txBody>
          <a:bodyPr wrap="square" lIns="0" tIns="0" rIns="0" bIns="0" rtlCol="0" anchor="ctr"/>
          <a:lstStyle/>
          <a:p>
            <a:pPr marL="0" indent="0" algn="l">
              <a:buNone/>
            </a:pPr>
            <a:r>
              <a:rPr lang="en-US" sz="1600" dirty="0">
                <a:solidFill>
                  <a:srgbClr val="AAAAAA"/>
                </a:solidFill>
                <a:latin typeface="Calibri" pitchFamily="34" charset="0"/>
                <a:ea typeface="Calibri" pitchFamily="34" charset="-122"/>
                <a:cs typeface="Calibri" pitchFamily="34" charset="-120"/>
              </a:rPr>
              <a:t>Founder, AutomateX Advisory</a:t>
            </a:r>
            <a:endParaRPr lang="en-US" sz="1600" dirty="0"/>
          </a:p>
        </p:txBody>
      </p:sp>
      <p:sp>
        <p:nvSpPr>
          <p:cNvPr id="8" name="Text 6"/>
          <p:cNvSpPr/>
          <p:nvPr/>
        </p:nvSpPr>
        <p:spPr>
          <a:xfrm>
            <a:off x="3200400" y="2286000"/>
            <a:ext cx="5486400" cy="731520"/>
          </a:xfrm>
          <a:prstGeom prst="rect">
            <a:avLst/>
          </a:prstGeom>
          <a:noFill/>
          <a:ln/>
        </p:spPr>
        <p:txBody>
          <a:bodyPr wrap="square" lIns="0" tIns="0" rIns="0" bIns="0" rtlCol="0" anchor="ctr"/>
          <a:lstStyle/>
          <a:p>
            <a:pPr marL="0" indent="0" algn="l">
              <a:buNone/>
            </a:pPr>
            <a:r>
              <a:rPr lang="en-US" sz="1600" i="1" dirty="0">
                <a:solidFill>
                  <a:srgbClr val="666666"/>
                </a:solidFill>
                <a:latin typeface="Calibri" pitchFamily="34" charset="0"/>
                <a:ea typeface="Calibri" pitchFamily="34" charset="-122"/>
                <a:cs typeface="Calibri" pitchFamily="34" charset="-120"/>
              </a:rPr>
              <a:t>AI-enabled engineering.</a:t>
            </a:r>
            <a:endParaRPr lang="en-US" sz="1600" dirty="0"/>
          </a:p>
          <a:p>
            <a:pPr marL="0" indent="0" algn="l">
              <a:buNone/>
            </a:pPr>
            <a:r>
              <a:rPr lang="en-US" sz="1600" i="1" dirty="0">
                <a:solidFill>
                  <a:srgbClr val="666666"/>
                </a:solidFill>
                <a:latin typeface="Calibri" pitchFamily="34" charset="0"/>
                <a:ea typeface="Calibri" pitchFamily="34" charset="-122"/>
                <a:cs typeface="Calibri" pitchFamily="34" charset="-120"/>
              </a:rPr>
              <a:t>Smarter data. Better decisions.</a:t>
            </a:r>
            <a:endParaRPr lang="en-US" sz="1600" dirty="0"/>
          </a:p>
        </p:txBody>
      </p:sp>
      <p:pic>
        <p:nvPicPr>
          <p:cNvPr id="9" name="Image 0" descr="preencoded.png"/>
          <p:cNvPicPr>
            <a:picLocks noChangeAspect="1"/>
          </p:cNvPicPr>
          <p:nvPr/>
        </p:nvPicPr>
        <p:blipFill>
          <a:blip r:embed="rId3"/>
          <a:stretch>
            <a:fillRect/>
          </a:stretch>
        </p:blipFill>
        <p:spPr>
          <a:xfrm>
            <a:off x="3200400" y="3383280"/>
            <a:ext cx="320040" cy="320040"/>
          </a:xfrm>
          <a:prstGeom prst="rect">
            <a:avLst/>
          </a:prstGeom>
        </p:spPr>
      </p:pic>
      <p:sp>
        <p:nvSpPr>
          <p:cNvPr id="10" name="Text 7"/>
          <p:cNvSpPr/>
          <p:nvPr/>
        </p:nvSpPr>
        <p:spPr>
          <a:xfrm>
            <a:off x="3657600" y="3383280"/>
            <a:ext cx="3657600" cy="320040"/>
          </a:xfrm>
          <a:prstGeom prst="rect">
            <a:avLst/>
          </a:prstGeom>
          <a:noFill/>
          <a:ln/>
        </p:spPr>
        <p:txBody>
          <a:bodyPr wrap="square" lIns="0" tIns="0" rIns="0" bIns="0" rtlCol="0" anchor="ctr"/>
          <a:lstStyle/>
          <a:p>
            <a:pPr marL="0" indent="0" algn="l">
              <a:buNone/>
            </a:pPr>
            <a:r>
              <a:rPr lang="en-US" sz="1400" dirty="0">
                <a:solidFill>
                  <a:srgbClr val="AAAAAA"/>
                </a:solidFill>
                <a:latin typeface="Calibri" pitchFamily="34" charset="0"/>
                <a:ea typeface="Calibri" pitchFamily="34" charset="-122"/>
                <a:cs typeface="Calibri" pitchFamily="34" charset="-120"/>
              </a:rPr>
              <a:t>linkedin.com/in/bill-guo</a:t>
            </a:r>
            <a:endParaRPr lang="en-US" sz="1400" dirty="0"/>
          </a:p>
        </p:txBody>
      </p:sp>
      <p:pic>
        <p:nvPicPr>
          <p:cNvPr id="11" name="Image 1" descr="preencoded.png"/>
          <p:cNvPicPr>
            <a:picLocks noChangeAspect="1"/>
          </p:cNvPicPr>
          <p:nvPr/>
        </p:nvPicPr>
        <p:blipFill>
          <a:blip r:embed="rId4"/>
          <a:stretch>
            <a:fillRect/>
          </a:stretch>
        </p:blipFill>
        <p:spPr>
          <a:xfrm>
            <a:off x="3200400" y="3840480"/>
            <a:ext cx="320040" cy="320040"/>
          </a:xfrm>
          <a:prstGeom prst="rect">
            <a:avLst/>
          </a:prstGeom>
        </p:spPr>
      </p:pic>
      <p:sp>
        <p:nvSpPr>
          <p:cNvPr id="12" name="Text 8"/>
          <p:cNvSpPr/>
          <p:nvPr/>
        </p:nvSpPr>
        <p:spPr>
          <a:xfrm>
            <a:off x="3657600" y="3840480"/>
            <a:ext cx="3657600" cy="320040"/>
          </a:xfrm>
          <a:prstGeom prst="rect">
            <a:avLst/>
          </a:prstGeom>
          <a:noFill/>
          <a:ln/>
        </p:spPr>
        <p:txBody>
          <a:bodyPr wrap="square" lIns="0" tIns="0" rIns="0" bIns="0" rtlCol="0" anchor="ctr"/>
          <a:lstStyle/>
          <a:p>
            <a:pPr marL="0" indent="0" algn="l">
              <a:buNone/>
            </a:pPr>
            <a:r>
              <a:rPr lang="en-US" sz="1400" dirty="0">
                <a:solidFill>
                  <a:srgbClr val="AAAAAA"/>
                </a:solidFill>
                <a:latin typeface="Calibri" pitchFamily="34" charset="0"/>
                <a:ea typeface="Calibri" pitchFamily="34" charset="-122"/>
                <a:cs typeface="Calibri" pitchFamily="34" charset="-120"/>
              </a:rPr>
              <a:t>automatex.uk</a:t>
            </a:r>
            <a:endParaRPr lang="en-US" sz="1400" dirty="0"/>
          </a:p>
        </p:txBody>
      </p:sp>
      <p:sp>
        <p:nvSpPr>
          <p:cNvPr id="13" name="Shape 9"/>
          <p:cNvSpPr/>
          <p:nvPr/>
        </p:nvSpPr>
        <p:spPr>
          <a:xfrm>
            <a:off x="0" y="4389120"/>
            <a:ext cx="9144000" cy="754380"/>
          </a:xfrm>
          <a:prstGeom prst="rect">
            <a:avLst/>
          </a:prstGeom>
          <a:solidFill>
            <a:srgbClr val="FF6535"/>
          </a:solidFill>
          <a:ln/>
        </p:spPr>
        <p:txBody>
          <a:bodyPr/>
          <a:lstStyle/>
          <a:p>
            <a:endParaRPr lang="en-GB"/>
          </a:p>
        </p:txBody>
      </p:sp>
      <p:sp>
        <p:nvSpPr>
          <p:cNvPr id="14" name="Text 10"/>
          <p:cNvSpPr/>
          <p:nvPr/>
        </p:nvSpPr>
        <p:spPr>
          <a:xfrm>
            <a:off x="731520" y="4480560"/>
            <a:ext cx="7680960" cy="54864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Let's connect — I'm happy to chat after the session.</a:t>
            </a:r>
            <a:endParaRPr lang="en-US" sz="1800" dirty="0"/>
          </a:p>
        </p:txBody>
      </p:sp>
      <p:pic>
        <p:nvPicPr>
          <p:cNvPr id="14338" name="Picture 2" descr="Bill Guo">
            <a:extLst>
              <a:ext uri="{FF2B5EF4-FFF2-40B4-BE49-F238E27FC236}">
                <a16:creationId xmlns:a16="http://schemas.microsoft.com/office/drawing/2014/main" id="{742CD244-2F07-6461-A666-A9348218F16B}"/>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8374" r="12426"/>
          <a:stretch>
            <a:fillRect/>
          </a:stretch>
        </p:blipFill>
        <p:spPr bwMode="auto">
          <a:xfrm>
            <a:off x="731520" y="740664"/>
            <a:ext cx="2011680" cy="25400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5037335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438" row="2">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B6A23353-7298-46A3-B346-1F2AD17D0842}">
  <we:reference id="wa200010001" version="1.0.0.1" store="en-GB" storeType="OMEX"/>
  <we:alternateReferences>
    <we:reference id="WA200010001" version="1.0.0.1" store="WA200010001" storeType="OMEX"/>
  </we:alternateReferences>
  <we:properties>
    <we:property name="claude.fileId" value="&quot;8d2ec02a-69cd-4956-8443-f8d8d30fbdc6&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2649</TotalTime>
  <Words>3358</Words>
  <Application>Microsoft Office PowerPoint</Application>
  <PresentationFormat>On-screen Show (16:9)</PresentationFormat>
  <Paragraphs>348</Paragraphs>
  <Slides>13</Slides>
  <Notes>13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Calibri</vt:lpstr>
      <vt:lpstr>Trebuchet MS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From Data to Decisions</dc:title>
  <dc:subject>PptxGenJS Presentation</dc:subject>
  <dc:creator>Bill Guo</dc:creator>
  <cp:lastModifiedBy>Bill Guo</cp:lastModifiedBy>
  <cp:revision>2</cp:revision>
  <dcterms:created xsi:type="dcterms:W3CDTF">2026-04-14T10:55:45Z</dcterms:created>
  <dcterms:modified xsi:type="dcterms:W3CDTF">2026-04-22T12:37:42Z</dcterms:modified>
</cp:coreProperties>
</file>